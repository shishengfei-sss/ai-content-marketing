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4" Type="http://schemas.openxmlformats.org/officeDocument/2006/relationships/viewProps" Target="viewProps.xml" /><Relationship Id="rId10" Type="http://schemas.openxmlformats.org/officeDocument/2006/relationships/slide" Target="slides/slide10.xml" /><Relationship Id="rId11" Type="http://schemas.openxmlformats.org/officeDocument/2006/relationships/notesMaster" Target="notesMasters/notesMaster1.xml" /><Relationship Id="rId13" Type="http://schemas.openxmlformats.org/officeDocument/2006/relationships/tableStyles" Target="tableStyles.xml" /><Relationship Id="rId12" Type="http://schemas.openxmlformats.org/officeDocument/2006/relationships/presProps" Target="pres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svg" /><Relationship Id="rId3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svg" /><Relationship Id="rId3" Type="http://schemas.openxmlformats.org/officeDocument/2006/relationships/image" Target="media/image9.svg" /><Relationship Id="rId4" Type="http://schemas.openxmlformats.org/officeDocument/2006/relationships/image" Target="media/image10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padding: 0, background: '#0F172A' }}&gt;&#10;  &lt;Box style={{ height: '100%', padding: '90px 90px', justifyContent: 'center' }}&gt;&#10;    &lt;Text style={{ fontSize: 20, color: '#93C5FD', letterSpacing: 3 }}&gt;抖音知识付费 · 2026 实操指南&lt;/Text&gt;&#10;    &lt;Text style={{ fontSize: 66, fontWeight: 'bold', color: '#FFFFFF', marginTop: 22 }}&gt;在抖音卖课&lt;/Text&gt;&#10;    &lt;Text style={{ fontSize: 66, fontWeight: 'bold', color: '#FFFFFF', marginTop: 4 }}&gt;&#10;      企业 &lt;span style={{ color: '#FB923C' }}&gt;vs&lt;/span&gt; 个人&#10;    &lt;/Text&gt;&#10;    &lt;Text style={{ fontSize: 26, color: '#CBD5E1', marginTop: 30, lineHeight: 1.7 }}&gt;&#10;      方式 · 资质 · 红线 —— 一份帮你选对通道的决策地图&#10;    &lt;/Text&gt;&#10;    &lt;Box style={{ marginTop: 36, flexDirection: 'row', gap: 14 }}&gt;&#10;      &lt;Box style={{ padding: '8px 18px', borderRadius: 20, background: 'rgba(47,111,237,0.18)' }}&gt;&#10;        &lt;Text style={{ fontSize: 16, color: '#93C5FD' }}&gt;企业主体&lt;/Text&gt;&#10;      &lt;/Box&gt;&#10;      &lt;Box style={{ padding: '8px 18px', borderRadius: 20, background: 'rgba(234,88,12,0.18)' }}&gt;&#10;        &lt;Text style={{ fontSize: 16, color: '#FDBA74' }}&gt;个人主体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857250" y="1685925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93C5FD"/>
                </a:solidFill>
                <a:latin typeface="Microsoft YaHei"/>
                <a:ea typeface="Microsoft YaHei"/>
              </a:rPr>
              <a:t>抖音知识付费</a:t>
            </a:r>
            <a:r>
              <a:rPr lang="en-US" sz="1500" spc="225">
                <a:solidFill>
                  <a:srgbClr val="93C5FD"/>
                </a:solidFill>
                <a:latin typeface="Microsoft YaHei"/>
                <a:ea typeface="Microsoft YaHei"/>
              </a:rPr>
              <a:t> · 2026 </a:t>
            </a:r>
            <a:r>
              <a:rPr lang="zh-CN" sz="1500" spc="225">
                <a:solidFill>
                  <a:srgbClr val="93C5FD"/>
                </a:solidFill>
                <a:latin typeface="Microsoft YaHei"/>
                <a:ea typeface="Microsoft YaHei"/>
              </a:rPr>
              <a:t>实操指南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57250" y="2124075"/>
            <a:ext cx="104775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FFFFFF"/>
                </a:solidFill>
                <a:latin typeface="Microsoft YaHei"/>
                <a:ea typeface="Microsoft YaHei"/>
              </a:rPr>
              <a:t>在抖音卖课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04775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FFFFFF"/>
                </a:solidFill>
                <a:latin typeface="Microsoft YaHei"/>
                <a:ea typeface="Microsoft YaHei"/>
              </a:rPr>
              <a:t>企业</a:t>
            </a:r>
            <a:r>
              <a:rPr lang="en-US" sz="49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en-US" sz="4950" b="1">
                <a:solidFill>
                  <a:srgbClr val="FB923C"/>
                </a:solidFill>
                <a:latin typeface="Microsoft YaHei"/>
                <a:ea typeface="Microsoft YaHei"/>
              </a:rPr>
              <a:t>vs</a:t>
            </a:r>
            <a:r>
              <a:rPr lang="en-US" sz="49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4950" b="1">
                <a:solidFill>
                  <a:srgbClr val="FFFFFF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3971925"/>
            <a:ext cx="104775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Microsoft YaHei"/>
                <a:ea typeface="Microsoft YaHei"/>
              </a:rPr>
              <a:t>方式</a:t>
            </a:r>
            <a:r>
              <a:rPr lang="en-US" sz="195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CBD5E1"/>
                </a:solidFill>
                <a:latin typeface="Microsoft YaHei"/>
                <a:ea typeface="Microsoft YaHei"/>
              </a:rPr>
              <a:t>资质</a:t>
            </a:r>
            <a:r>
              <a:rPr lang="en-US" sz="195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CBD5E1"/>
                </a:solidFill>
                <a:latin typeface="Microsoft YaHei"/>
                <a:ea typeface="Microsoft YaHei"/>
              </a:rPr>
              <a:t>红线</a:t>
            </a:r>
            <a:r>
              <a:rPr lang="en-US" sz="1950">
                <a:solidFill>
                  <a:srgbClr val="CBD5E1"/>
                </a:solidFill>
                <a:latin typeface="Microsoft YaHei"/>
                <a:ea typeface="Microsoft YaHei"/>
              </a:rPr>
              <a:t> —— </a:t>
            </a:r>
            <a:r>
              <a:rPr lang="zh-CN" sz="1950">
                <a:solidFill>
                  <a:srgbClr val="CBD5E1"/>
                </a:solidFill>
                <a:latin typeface="Microsoft YaHei"/>
                <a:ea typeface="Microsoft YaHei"/>
              </a:rPr>
              <a:t>一份帮你选对通道的决策地图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57250" y="4829175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2F6FED">
              <a:alpha val="18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28700" y="49053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3C5FD"/>
                </a:solidFill>
                <a:latin typeface="Microsoft YaHei"/>
                <a:ea typeface="Microsoft YaHei"/>
              </a:rPr>
              <a:t>企业主体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943100" y="4829175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EA580C">
              <a:alpha val="18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114550" y="49053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DBA74"/>
                </a:solidFill>
                <a:latin typeface="Microsoft YaHei"/>
                <a:ea typeface="Microsoft YaHei"/>
              </a:rPr>
              <a:t>个人主体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本册看什么&lt;/Text&gt;&#10;      &lt;/Box&gt;&#10;      &lt;Text style={{ fontSize: 14, color: '#94A3B8' }}&gt;目录 · 01&lt;/Text&gt;&#10;    &lt;/Box&gt;&#10;    &lt;Box style={{ flex: 1, padding: '16px 60px 0', flexDirection: 'row', gap: 44 }}&gt;&#10;      &lt;Box style={{ width: 340, justifyContent: 'center' }}&gt;&#10;        &lt;Text style={{ fontSize: 25, fontWeight: 'bold', color: '#1F2937', lineHeight: 1.5 }}&gt;&#10;          一份帮你选对通道的&lt;Text style={{ color: '#2F6FED' }}&gt;决策地图&lt;/Text&gt;&#10;        &lt;/Text&gt;&#10;        &lt;Text style={{ fontSize: 18, color: '#64748B', marginTop: 20, lineHeight: 1.8 }}&gt;&#10;          不堆术语，只回答三个问题：&lt;br/&gt;怎么卖？要什么资质？&lt;br/&gt;哪些不能碰？&#10;        &lt;/Text&gt;&#10;        &lt;Box style={{ marginTop: 28, padding: '14px 18px', borderRadius: 12, background: '#F1F5F9' }}&gt;&#10;          &lt;Text style={{ fontSize: 15, color: '#475569', lineHeight: 1.6 }}&gt;&#10;            全册 10 页 · 蓝=企业 / 橙=个人 / 红=红线&#10;          &lt;/Text&gt;&#10;        &lt;/Box&gt;&#10;      &lt;/Box&gt;&#10;      &lt;Box style={{ flex: 1, justifyContent: 'center', gap: 24 }}&gt;&#10;        &lt;Box style={{ flexDirection: 'row', gap: 16, alignItems: 'flex-start' }}&gt;&#10;          &lt;Box style={{ width: 54, height: 54, borderRadius: 14, background: '#EFF6FF', justifyContent: 'center', alignItems: 'center' }}&gt;&#10;            &lt;FAIcon name='shopping-cart' style={{ fill: '#2F6FED', width: 26, height: 26 }} /&gt;&#10;          &lt;/Box&gt;&#10;          &lt;Box style={{ flex: 1 }}&gt;&#10;            &lt;Text style={{ fontSize: 21, fontWeight: 'bold', color: '#1F2937' }}&gt;卖课方式&lt;/Text&gt;&#10;            &lt;Text style={{ fontSize: 16, color: '#64748B', marginTop: 4, lineHeight: 1.5 }}&gt;六大通道怎么选：抖店、抖音课堂、学浪、来客团购、小程序 SaaS、蓝 V 橱窗。&lt;/Text&gt;&#10;          &lt;/Box&gt;&#10;        &lt;/Box&gt;&#10;        &lt;Box style={{ flexDirection: 'row', gap: 16, alignItems: 'flex-start' }}&gt;&#10;          &lt;Box style={{ width: 54, height: 54, borderRadius: 14, background: '#FFF1E6', justifyContent: 'center', alignItems: 'center' }}&gt;&#10;            &lt;FAIcon name='clipboard-check' style={{ fill: '#EA580C', width: 26, height: 26 }} /&gt;&#10;          &lt;/Box&gt;&#10;          &lt;Box style={{ flex: 1 }}&gt;&#10;            &lt;Text style={{ fontSize: 21, fontWeight: 'bold', color: '#1F2937' }}&gt;资质要求&lt;/Text&gt;&#10;            &lt;Text style={{ fontSize: 16, color: '#64748B', marginTop: 4, lineHeight: 1.5 }}&gt;核心结论：方式不同、资质不同，逐条拆解营业执照 / ICP / 办学 / 保证金 / 报白。&lt;/Text&gt;&#10;          &lt;/Box&gt;&#10;        &lt;/Box&gt;&#10;        &lt;Box style={{ flexDirection: 'row', gap: 16, alignItems: 'flex-start' }}&gt;&#10;          &lt;Box style={{ width: 54, height: 54, borderRadius: 14, background: '#FEE2E2', justifyContent: 'center', alignItems: 'center' }}&gt;&#10;            &lt;FAIcon name='exclamation-triangle' style={{ fill: '#DC2626', width: 26, height: 26 }} /&gt;&#10;          &lt;/Box&gt;&#10;          &lt;Box style={{ flex: 1 }}&gt;&#10;            &lt;Text style={{ fontSize: 21, fontWeight: 'bold', color: '#1F2937' }}&gt;红线 · 合规&lt;/Text&gt;&#10;            &lt;Text style={{ fontSize: 16, color: '#64748B', marginTop: 4, lineHeight: 1.5 }}&gt;K12 学科类禁售、虚假宣传、资金税务与版权等不可触碰的底线。&lt;/Text&gt;&#10;          &lt;/Box&gt;&#10;        &lt;/Box&gt;&#10;      &lt;/Box&gt;&#10;    &lt;/Box&gt;&#10;    &lt;Box style={{ height: 50, padding: '0 60px', flexDirection: 'row', justifyContent: 'space-between', alignItems: 'center' }}&gt;&#10;      &lt;Text style={{ fontSize: 14, color: '#94A3B8' }}&gt;在抖音卖课 · 企业 vs 个人&lt;/Text&gt;&#10;      &lt;Text style={{ fontSize: 14, color: '#94A3B8' }}&gt;02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81050" y="457200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本册看什么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077575" y="571500"/>
            <a:ext cx="542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目录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01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2524125"/>
            <a:ext cx="3238500" cy="4286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75" b="1">
                <a:solidFill>
                  <a:srgbClr val="1F2937"/>
                </a:solidFill>
                <a:latin typeface="Microsoft YaHei"/>
                <a:ea typeface="Microsoft YaHei"/>
              </a:rPr>
              <a:t>一份帮你选对通道的</a:t>
            </a:r>
            <a:r>
              <a:rPr lang="zh-CN" sz="1875" b="1">
                <a:solidFill>
                  <a:srgbClr val="1F2937"/>
                </a:solidFill>
                <a:latin typeface="Microsoft YaHei"/>
                <a:ea typeface="Microsoft YaHei"/>
              </a:rPr>
              <a:t>决策地图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3143250"/>
            <a:ext cx="323850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不堆术语，只回答三个问题：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怎么卖？要什么资质？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哪些不能碰？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1500" y="4524375"/>
            <a:ext cx="3238500" cy="542925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42950" y="4657725"/>
            <a:ext cx="2895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全册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页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蓝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=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企业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橙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=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个人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红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=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红线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229100" y="27241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FF6FF"/>
          </a:solidFill>
          <a:ln/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62450" y="2857500"/>
            <a:ext cx="247650" cy="24765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895850" y="272415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卖课方式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895850" y="3009900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六大通道怎么选：抖店、抖音课堂、学浪、来客团购、小程序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SaaS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、蓝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V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橱窗。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229100" y="351472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FF1E6"/>
          </a:solidFill>
          <a:ln/>
        </p:spPr>
        <p:txBody>
          <a:bodyPr/>
          <a:p/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62450" y="3648075"/>
            <a:ext cx="247650" cy="247650"/>
          </a:xfrm>
          <a:prstGeom prst="rect">
            <a:avLst/>
          </a:prstGeom>
          <a:ln/>
        </p:spPr>
      </p:pic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895850" y="3514725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资质要求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895850" y="3800475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核心结论：方式不同、资质不同，逐条拆解营业执照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/ ICP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办学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保证金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报白。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229100" y="43053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EE2E2"/>
          </a:solidFill>
          <a:ln/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62450" y="4438650"/>
            <a:ext cx="247650" cy="24765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895850" y="43053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红线</a:t>
            </a:r>
            <a:r>
              <a:rPr lang="en-US" sz="1575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895850" y="4591050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K12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学科类禁售、虚假宣传、资金税务与版权等不可触碰的底线。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vs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8" name="" descr="&lt;Slide style={{ padding: 0, background: '#0F172A' }}&gt;&#10;  &lt;Box style={{ height: '100%', justifyContent: 'center', alignItems: 'center', padding: '0 90px' }}&gt;&#10;    &lt;Box style={{ padding: '8px 20px', borderRadius: 20, background: 'rgba(147,197,253,0.16)' }}&gt;&#10;      &lt;Text style={{ fontSize: 20, color: '#93C5FD', letterSpacing: 4 }}&gt;核心判断&lt;/Text&gt;&#10;    &lt;/Box&gt;&#10;    &lt;Text style={{ fontSize: 80, fontWeight: 'bold', color: '#FFFFFF', marginTop: 26, textAlign: 'center' }}&gt;&#10;      方式不同&lt;Text style={{ color: '#FB923C' }}&gt; · &lt;/Text&gt;资质不同&#10;    &lt;/Text&gt;&#10;    &lt;Text style={{ fontSize: 25, color: '#CBD5E1', marginTop: 34, textAlign: 'center', lineHeight: 1.8 }}&gt;&#10;      没有&quot;一套资质走天下&quot;——你走的通道，决定了要备的执照、保证金与报白。&#10;    &lt;/Text&gt;&#10;    &lt;Text style={{ fontSize: 25, color: '#CBD5E1', textAlign: 'center', lineHeight: 1.8 }}&gt;&#10;      企业能办证、个人走平台免办；下面逐条拆开看。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5448300" y="1981200"/>
            <a:ext cx="1295400" cy="381000"/>
          </a:xfrm>
          <a:prstGeom prst="roundRect">
            <a:avLst>
              <a:gd name="adj" fmla="val 50000"/>
            </a:avLst>
          </a:prstGeom>
          <a:solidFill>
            <a:srgbClr val="93C5FD">
              <a:alpha val="16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638800" y="205740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93C5FD"/>
                </a:solidFill>
                <a:latin typeface="Microsoft YaHei"/>
                <a:ea typeface="Microsoft YaHei"/>
              </a:rPr>
              <a:t>核心判断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657475" y="2609850"/>
            <a:ext cx="6886575" cy="914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000" b="1">
                <a:solidFill>
                  <a:srgbClr val="FFFFFF"/>
                </a:solidFill>
                <a:latin typeface="Microsoft YaHei"/>
                <a:ea typeface="Microsoft YaHei"/>
              </a:rPr>
              <a:t>方式不同</a:t>
            </a:r>
            <a:r>
              <a:rPr lang="en-US" sz="60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6000" b="1">
                <a:solidFill>
                  <a:srgbClr val="FFFFFF"/>
                </a:solidFill>
                <a:latin typeface="Microsoft YaHei"/>
                <a:ea typeface="Microsoft YaHei"/>
              </a:rPr>
              <a:t>资质不同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047875" y="3848100"/>
            <a:ext cx="8105775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875">
                <a:solidFill>
                  <a:srgbClr val="CBD5E1"/>
                </a:solidFill>
                <a:latin typeface="Microsoft YaHei"/>
                <a:ea typeface="Microsoft YaHei"/>
              </a:rPr>
              <a:t>没有</a:t>
            </a:r>
            <a:r>
              <a:rPr lang="en-US" sz="187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875">
                <a:solidFill>
                  <a:srgbClr val="CBD5E1"/>
                </a:solidFill>
                <a:latin typeface="Microsoft YaHei"/>
                <a:ea typeface="Microsoft YaHei"/>
              </a:rPr>
              <a:t>一套资质走天下</a:t>
            </a:r>
            <a:r>
              <a:rPr lang="en-US" sz="1875">
                <a:solidFill>
                  <a:srgbClr val="CBD5E1"/>
                </a:solidFill>
                <a:latin typeface="Microsoft YaHei"/>
                <a:ea typeface="Microsoft YaHei"/>
              </a:rPr>
              <a:t>"——</a:t>
            </a:r>
            <a:r>
              <a:rPr lang="zh-CN" sz="1875">
                <a:solidFill>
                  <a:srgbClr val="CBD5E1"/>
                </a:solidFill>
                <a:latin typeface="Microsoft YaHei"/>
                <a:ea typeface="Microsoft YaHei"/>
              </a:rPr>
              <a:t>你走的通道，决定了要备的执照、保证金与报白。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476625" y="4362450"/>
            <a:ext cx="523875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875">
                <a:solidFill>
                  <a:srgbClr val="CBD5E1"/>
                </a:solidFill>
                <a:latin typeface="Microsoft YaHei"/>
                <a:ea typeface="Microsoft YaHei"/>
              </a:rPr>
              <a:t>企业能办证、个人走平台免办；下面逐条拆开看。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六大卖课方式&lt;/Text&gt;&#10;      &lt;/Box&gt;&#10;      &lt;Text style={{ fontSize: 14, color: '#94A3B8' }}&gt;方式 · 02&lt;/Text&gt;&#10;    &lt;/Box&gt;&#10;    &lt;Box style={{ flex: 1, padding: '14px 60px 0', flexDirection: 'row', gap: 44 }}&gt;&#10;      &lt;Box style={{ width: 320, justifyContent: 'center' }}&gt;&#10;        &lt;Text style={{ fontSize: 24, fontWeight: 'bold', color: '#1F2937', lineHeight: 1.5 }}&gt;先看清通道，再备资质&lt;/Text&gt;&#10;        &lt;Text style={{ fontSize: 17, color: '#64748B', marginTop: 18, lineHeight: 1.8 }}&gt;&#10;          抖音卖课不是单一入口，而是&lt;br/&gt;内容触达 + 交易承载 + 教学交付&lt;br/&gt;的组合。下面六条主通道，&lt;br/&gt;各有不同的资质门槛。&#10;        &lt;/Text&gt;&#10;        &lt;Box style={{ marginTop: 26, padding: '14px 18px', borderRadius: 12, background: '#F1F5F9' }}&gt;&#10;          &lt;Text style={{ fontSize: 15, color: '#475569', lineHeight: 1.6 }}&gt;提示：教育类目 2026 多为定向邀约，新商家难自主入驻。&lt;/Text&gt;&#10;        &lt;/Box&gt;&#10;      &lt;/Box&gt;&#10;      &lt;Box style={{ flex: 1, justifyContent: 'center', gap: 14 }}&gt;&#10;        {[&#10;          ['抖店 / 抖音小店', '课程作虚拟商品，电商支付+履约逻辑'],&#10;          ['抖音课堂', '字节官方 LMS，录播+直播+作业+证书'],&#10;          ['学浪计划', '官方扶持、流量加权，个人可免材料入驻'],&#10;          ['抖音来客 · 团购', '本地到店核销，须绑定线下门店 POI'],&#10;          ['小程序 / 第三方 SaaS', '小鹅通、千聊挂载，门槛最低'],&#10;          ['企业号蓝 V + 橱窗', '600 元/年认证，0 粉即可挂车'],&#10;        ].map((m, i) =&gt; (&#10;          &lt;Box key={i} style={{ flexDirection: 'row', alignItems: 'center', gap: 14, padding: '12px 16px', borderRadius: 10, background: '#F8FAFC', borderLeft: '4px solid #2F6FED' }}&gt;&#10;            &lt;Text style={{ fontSize: 19, fontWeight: 'bold', color: '#1F2937', width: 220 }}&gt;{m[0]}&lt;/Text&gt;&#10;            &lt;Text style={{ fontSize: 16, color: '#64748B', flex: 1 }}&gt;{m[1]}&lt;/Text&gt;&#10;          &lt;/Box&gt;&#10;        ))}&#10;      &lt;/Box&gt;&#10;    &lt;/Box&gt;&#10;    &lt;Box style={{ height: 50, padding: '0 60px', flexDirection: 'row', justifyContent: 'space-between', alignItems: 'center' }}&gt;&#10;      &lt;Text style={{ fontSize: 14, color: '#94A3B8' }}&gt;在抖音卖课 · 企业 vs 个人&lt;/Text&gt;&#10;      &lt;Text style={{ fontSize: 14, color: '#94A3B8' }}&gt;04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81050" y="4572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六大卖课方式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077575" y="571500"/>
            <a:ext cx="542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方式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02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2257425"/>
            <a:ext cx="30480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1F2937"/>
                </a:solidFill>
                <a:latin typeface="Microsoft YaHei"/>
                <a:ea typeface="Microsoft YaHei"/>
              </a:rPr>
              <a:t>先看清通道，再备资质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2847975"/>
            <a:ext cx="3048000" cy="14001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抖音卖课不是单一入口，而是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内容触达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交易承载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教学交付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的组合。下面六条主通道，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各有不同的资质门槛。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4495800"/>
            <a:ext cx="3048000" cy="819150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42950" y="4629150"/>
            <a:ext cx="2705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提示：教育类目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2026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多为定向邀约，新商家难自主入驻。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076700" y="2105025"/>
            <a:ext cx="75819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4076700" y="2105025"/>
            <a:ext cx="7581900" cy="447675"/>
          </a:xfrm>
          <a:custGeom>
            <a:pathLst>
              <a:path w="796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229100" y="2219325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抖店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抖音小店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457950" y="22383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课程作虚拟商品，电商支付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履约逻辑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076700" y="2686050"/>
            <a:ext cx="75819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4076700" y="2686050"/>
            <a:ext cx="7581900" cy="447675"/>
          </a:xfrm>
          <a:custGeom>
            <a:pathLst>
              <a:path w="796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229100" y="280035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抖音课堂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457950" y="281940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字节官方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LMS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，录播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直播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作业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证书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076700" y="3267075"/>
            <a:ext cx="75819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4076700" y="3267075"/>
            <a:ext cx="7581900" cy="447675"/>
          </a:xfrm>
          <a:custGeom>
            <a:pathLst>
              <a:path w="796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229100" y="3381375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学浪计划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457950" y="34004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官方扶持、流量加权，个人可免材料入驻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076700" y="3848100"/>
            <a:ext cx="75819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4076700" y="3848100"/>
            <a:ext cx="7581900" cy="447675"/>
          </a:xfrm>
          <a:custGeom>
            <a:pathLst>
              <a:path w="796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229100" y="396240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抖音来客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团购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457950" y="398145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本地到店核销，须绑定线下门店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POI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4076700" y="4429125"/>
            <a:ext cx="75819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4076700" y="4429125"/>
            <a:ext cx="7581900" cy="447675"/>
          </a:xfrm>
          <a:custGeom>
            <a:pathLst>
              <a:path w="796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229100" y="4543425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小程序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第三方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SaaS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457950" y="45624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小鹅通、千聊挂载，门槛最低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076700" y="5010150"/>
            <a:ext cx="75819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076700" y="5010150"/>
            <a:ext cx="7581900" cy="447675"/>
          </a:xfrm>
          <a:custGeom>
            <a:pathLst>
              <a:path w="796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229100" y="512445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企业号蓝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V +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橱窗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457950" y="514350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600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元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年认证，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粉即可挂车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vs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0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方式详解（上）&lt;/Text&gt;&#10;      &lt;/Box&gt;&#10;      &lt;Text style={{ fontSize: 14, color: '#94A3B8' }}&gt;方式 · 03&lt;/Text&gt;&#10;    &lt;/Box&gt;&#10;    &lt;Box style={{ flex: 1, padding: '14px 60px 0', flexDirection: 'column', gap: 14, justifyContent: 'center' }}&gt;&#10;      &lt;Box style={{ flex: 1, flexDirection: 'row', gap: 16 }}&gt;&#10;        &lt;Box style={{ flex: 1, padding: '18px 22px', borderRadius: 14, background: '#F8FAFC', borderTop: '4px solid #2F6FED' }}&gt;&#10;          &lt;Text style={{ fontSize: 22, fontWeight: 'bold', color: '#1F2937' }}&gt;抖店 / 抖音小店&lt;/Text&gt;&#10;          &lt;Box style={{ marginTop: 12, gap: 8 }}&gt;&#10;            &lt;Text style={{ fontSize: 16, color: '#475569', lineHeight: 1.5 }}&gt;· 课程作为虚拟商品上架，走电商支付+履约&lt;/Text&gt;&#10;            &lt;Text style={{ fontSize: 16, color: '#475569', lineHeight: 1.5 }}&gt;· 需营业执照 + ICP 备案，教育类目多为定向邀约&lt;/Text&gt;&#10;            &lt;Text style={{ fontSize: 16, color: '#475569', lineHeight: 1.5 }}&gt;· 支持精选联盟，达人可帮带课赚佣金&lt;/Text&gt;&#10;          &lt;/Box&gt;&#10;        &lt;/Box&gt;&#10;        &lt;Box style={{ flex: 1, padding: '18px 22px', borderRadius: 14, background: '#F8FAFC', borderTop: '4px solid #2F6FED' }}&gt;&#10;          &lt;Text style={{ fontSize: 22, fontWeight: 'bold', color: '#1F2937' }}&gt;抖音课堂&lt;/Text&gt;&#10;          &lt;Box style={{ marginTop: 12, gap: 8 }}&gt;&#10;            &lt;Text style={{ fontSize: 16, color: '#475569', lineHeight: 1.5 }}&gt;· 字节官方 LMS，录播+直播+作业+结业证书&lt;/Text&gt;&#10;            &lt;Text style={{ fontSize: 16, color: '#475569', lineHeight: 1.5 }}&gt;· 自动完成 ICP 关联，452 天售后周期&lt;/Text&gt;&#10;            &lt;Text style={{ fontSize: 16, color: '#475569', lineHeight: 1.5 }}&gt;· 标准化轻课首选，降低早期合规断点&lt;/Text&gt;&#10;          &lt;/Box&gt;&#10;        &lt;/Box&gt;&#10;        &lt;Box style={{ flex: 1, padding: '18px 22px', borderRadius: 14, background: '#FFF7ED', borderTop: '4px solid #EA580C' }}&gt;&#10;          &lt;Text style={{ fontSize: 22, fontWeight: 'bold', color: '#1F2937' }}&gt;学浪计划&lt;/Text&gt;&#10;          &lt;Box style={{ marginTop: 12, gap: 8 }}&gt;&#10;            &lt;Text style={{ fontSize: 16, color: '#475569', lineHeight: 1.5 }}&gt;· ICP 前置核验 + 课程质检 + 流量加权&lt;/Text&gt;&#10;            &lt;Text style={{ fontSize: 16, color: '#475569', lineHeight: 1.5 }}&gt;· 机构保证金约 5000 元，需教师/技能证&lt;/Text&gt;&#10;            &lt;Text style={{ fontSize: 16, color: '#475569', lineHeight: 1.5 }}&gt;· 个人小店：身份证+行业资质，免额外材料&lt;/Text&gt;&#10;          &lt;/Box&gt;&#10;        &lt;/Box&gt;&#10;      &lt;/Box&gt;&#10;      &lt;Box style={{ flexDirection: 'row', gap: 14, alignItems: 'center', padding: '12px 18px', borderRadius: 12, background: '#F1F5F9' }}&gt;&#10;        &lt;FAIcon name='info-circle' style={{ fill: '#2F6FED', width: 22, height: 22 }} /&gt;&#10;        &lt;Text style={{ fontSize: 16, color: '#475569', lineHeight: 1.5 }}&gt;这三条是&quot;官方系&quot;主通道：抖店偏电商、课堂偏交付、学浪偏流量扶持；学浪对个人最友好。&lt;/Text&gt;&#10;      &lt;/Box&gt;&#10;    &lt;/Box&gt;&#10;    &lt;Box style={{ height: 50, padding: '0 60px', flexDirection: 'row', justifyContent: 'space-between', alignItems: 'center' }}&gt;&#10;      &lt;Text style={{ fontSize: 14, color: '#94A3B8' }}&gt;在抖音卖课 · 企业 vs 个人&lt;/Text&gt;&#10;      &lt;Text style={{ fontSize: 14, color: '#94A3B8' }}&gt;05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81050" y="4572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方式详解（上）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077575" y="571500"/>
            <a:ext cx="542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方式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03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71500" y="1219200"/>
            <a:ext cx="3581400" cy="4562475"/>
          </a:xfrm>
          <a:prstGeom prst="roundRect">
            <a:avLst>
              <a:gd name="adj" fmla="val 372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571500" y="1219200"/>
            <a:ext cx="3581400" cy="4562475"/>
          </a:xfrm>
          <a:custGeom>
            <a:pathLst>
              <a:path w="376" h="479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81050" y="1390650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抖店</a:t>
            </a:r>
            <a:r>
              <a:rPr lang="en-US" sz="1650" b="1">
                <a:solidFill>
                  <a:srgbClr val="1F2937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抖音小店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1050" y="176212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课程作为虚拟商品上架，走电商支付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履约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81050" y="211455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需营业执照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+ ICP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备案，教育类目多为定向邀约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81050" y="2743200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支持精选联盟，达人可帮带课赚佣金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305300" y="1219200"/>
            <a:ext cx="3581400" cy="4562475"/>
          </a:xfrm>
          <a:prstGeom prst="roundRect">
            <a:avLst>
              <a:gd name="adj" fmla="val 372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4305300" y="1219200"/>
            <a:ext cx="3581400" cy="4562475"/>
          </a:xfrm>
          <a:custGeom>
            <a:pathLst>
              <a:path w="376" h="479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514850" y="1390650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抖音课堂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514850" y="176212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字节官方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LMS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，录播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直播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作业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结业证书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14850" y="2114550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自动完成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ICP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关联，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452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天售后周期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514850" y="246697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标准化轻课首选，降低早期合规断点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039100" y="1219200"/>
            <a:ext cx="3581400" cy="4562475"/>
          </a:xfrm>
          <a:prstGeom prst="roundRect">
            <a:avLst>
              <a:gd name="adj" fmla="val 3723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8039100" y="1219200"/>
            <a:ext cx="3581400" cy="4562475"/>
          </a:xfrm>
          <a:custGeom>
            <a:pathLst>
              <a:path w="376" h="479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248650" y="1390650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学浪计划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248650" y="176212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ICP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前置核验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课程质检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流量加权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248650" y="2114550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机构保证金约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5000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元，需教师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技能证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248650" y="246697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个人小店：身份证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+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行业资质，免额外材料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5876925"/>
            <a:ext cx="11049000" cy="504825"/>
          </a:xfrm>
          <a:prstGeom prst="roundRect">
            <a:avLst>
              <a:gd name="adj" fmla="val 22642"/>
            </a:avLst>
          </a:prstGeom>
          <a:solidFill>
            <a:srgbClr val="F1F5F9"/>
          </a:solidFill>
          <a:ln/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6029325"/>
            <a:ext cx="209550" cy="20955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85850" y="5991225"/>
            <a:ext cx="6229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这三条是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官方系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主通道：抖店偏电商、课堂偏交付、学浪偏流量扶持；学浪对个人最友好。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vs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8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方式详解（下）&lt;/Text&gt;&#10;      &lt;/Box&gt;&#10;      &lt;Text style={{ fontSize: 14, color: '#94A3B8' }}&gt;方式 · 04&lt;/Text&gt;&#10;    &lt;/Box&gt;&#10;    &lt;Box style={{ flex: 1, padding: '14px 60px 0', flexDirection: 'row', gap: 36 }}&gt;&#10;      &lt;Box style={{ width: '58%', justifyContent: 'center', gap: 16 }}&gt;&#10;        &lt;Box style={{ padding: '16px 20px', borderRadius: 14, background: '#F8FAFC', borderLeft: '4px solid #2F6FED' }}&gt;&#10;          &lt;Text style={{ fontSize: 21, fontWeight: 'bold', color: '#1F2937' }}&gt;抖音来客 · 团购（本地生活）&lt;/Text&gt;&#10;          &lt;Text style={{ fontSize: 16, color: '#475569', marginTop: 8, lineHeight: 1.6 }}&gt;绑定线下门店 POI，短视频/直播挂到店核销。适合艺培、素养、职业技能等线下到店课；需门店实景 + 类目报白。&lt;/Text&gt;&#10;        &lt;/Box&gt;&#10;        &lt;Box style={{ padding: '16px 20px', borderRadius: 14, background: '#FFF7ED', borderLeft: '4px solid #EA580C' }}&gt;&#10;          &lt;Text style={{ fontSize: 21, fontWeight: 'bold', color: '#1F2937' }}&gt;小程序 / 第三方 SaaS&lt;/Text&gt;&#10;          &lt;Text style={{ fontSize: 16, color: '#475569', marginTop: 8, lineHeight: 1.6 }}&gt;小鹅通、千聊等挂载小程序；平台承担 ICP 与底层资质，个人可入驻，门槛最低，但需额外付费。&lt;/Text&gt;&#10;        &lt;/Box&gt;&#10;        &lt;Box style={{ padding: '16px 20px', borderRadius: 14, background: '#F8FAFC', borderLeft: '4px solid #2F6FED' }}&gt;&#10;          &lt;Text style={{ fontSize: 21, fontWeight: 'bold', color: '#1F2937' }}&gt;企业号蓝 V + 商品橱窗&lt;/Text&gt;&#10;          &lt;Text style={{ fontSize: 16, color: '#475569', marginTop: 8, lineHeight: 1.6 }}&gt;蓝 V 认证 600 元/年，0 粉开橱窗；本身不自成交易，需挂抖店/课堂商品才能卖课。&lt;/Text&gt;&#10;        &lt;/Box&gt;&#10;      &lt;/Box&gt;&#10;      &lt;Box style={{ flex: 1, borderRadius: 16, background: 'linear-gradient(135deg, #2F6FED 0%, #1E40AF 100%)', padding: '26px 24px', justifyContent: 'center' }}&gt;&#10;        &lt;FAIcon name='rocket' style={{ fill: '#FFFFFF', width: 40, height: 40 }} /&gt;&#10;        &lt;Text style={{ fontSize: 24, fontWeight: 'bold', color: '#FFFFFF', marginTop: 16 }}&gt;新手怎么选？&lt;/Text&gt;&#10;        &lt;Text style={{ fontSize: 17, color: '#DBEAFE', marginTop: 14, lineHeight: 1.8 }}&gt;低门槛起号：先走 SaaS / 学浪个人小店，免资质快速验证模型。&lt;/Text&gt;&#10;        &lt;Text style={{ fontSize: 17, color: '#DBEAFE', marginTop: 12, lineHeight: 1.8 }}&gt;重交付控品牌：抖店 + 自研小程序 + ICP 备案。&lt;/Text&gt;&#10;        &lt;Text style={{ fontSize: 17, color: '#DBEAFE', marginTop: 12, lineHeight: 1.8 }}&gt;本地到店课：抖音来客团购是必选项。&lt;/Text&gt;&#10;      &lt;/Box&gt;&#10;    &lt;/Box&gt;&#10;    &lt;Box style={{ height: 50, padding: '0 60px', flexDirection: 'row', justifyContent: 'space-between', alignItems: 'center' }}&gt;&#10;      &lt;Text style={{ fontSize: 14, color: '#94A3B8' }}&gt;在抖音卖课 · 企业 vs 个人&lt;/Text&gt;&#10;      &lt;Text style={{ fontSize: 14, color: '#94A3B8' }}&gt;06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1050" y="4572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方式详解（下）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077575" y="571500"/>
            <a:ext cx="542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方式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04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1952625"/>
            <a:ext cx="6410325" cy="1219200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09600" y="1952625"/>
            <a:ext cx="6410325" cy="1219200"/>
          </a:xfrm>
          <a:custGeom>
            <a:pathLst>
              <a:path w="673" h="128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18"/>
                </a:lnTo>
                <a:cubicBezTo>
                  <a:pt x="4" y="122"/>
                  <a:pt x="7" y="126"/>
                  <a:pt x="11" y="128"/>
                </a:cubicBezTo>
                <a:cubicBezTo>
                  <a:pt x="5" y="126"/>
                  <a:pt x="0" y="121"/>
                  <a:pt x="0" y="1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00100" y="2105025"/>
            <a:ext cx="5991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抖音来客</a:t>
            </a:r>
            <a:r>
              <a:rPr lang="en-US" sz="1575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团购（本地生活）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0100" y="2428875"/>
            <a:ext cx="5991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绑定线下门店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POI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，短视频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直播挂到店核销。适合艺培、素养、职业技能等线下到店课；需门店实景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类目报白。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09600" y="3324225"/>
            <a:ext cx="6410325" cy="1219200"/>
          </a:xfrm>
          <a:prstGeom prst="roundRect">
            <a:avLst>
              <a:gd name="adj" fmla="val 10938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09600" y="3324225"/>
            <a:ext cx="6410325" cy="1219200"/>
          </a:xfrm>
          <a:custGeom>
            <a:pathLst>
              <a:path w="673" h="128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18"/>
                </a:lnTo>
                <a:cubicBezTo>
                  <a:pt x="4" y="122"/>
                  <a:pt x="7" y="126"/>
                  <a:pt x="11" y="128"/>
                </a:cubicBezTo>
                <a:cubicBezTo>
                  <a:pt x="5" y="126"/>
                  <a:pt x="0" y="121"/>
                  <a:pt x="0" y="1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" y="3476625"/>
            <a:ext cx="5991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小程序</a:t>
            </a:r>
            <a:r>
              <a:rPr lang="en-US" sz="1575" b="1">
                <a:solidFill>
                  <a:srgbClr val="1F2937"/>
                </a:solidFill>
                <a:latin typeface="Microsoft YaHei"/>
                <a:ea typeface="Microsoft YaHei"/>
              </a:rPr>
              <a:t> / </a:t>
            </a: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第三方</a:t>
            </a:r>
            <a:r>
              <a:rPr lang="en-US" sz="1575" b="1">
                <a:solidFill>
                  <a:srgbClr val="1F2937"/>
                </a:solidFill>
                <a:latin typeface="Microsoft YaHei"/>
                <a:ea typeface="Microsoft YaHei"/>
              </a:rPr>
              <a:t> SaaS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5991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小鹅通、千聊等挂载小程序；平台承担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ICP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与底层资质，个人可入驻，门槛最低，但需额外付费。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4695825"/>
            <a:ext cx="6410325" cy="923925"/>
          </a:xfrm>
          <a:prstGeom prst="roundRect">
            <a:avLst>
              <a:gd name="adj" fmla="val 1443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09600" y="4695825"/>
            <a:ext cx="6410325" cy="923925"/>
          </a:xfrm>
          <a:custGeom>
            <a:pathLst>
              <a:path w="673" h="97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87"/>
                </a:lnTo>
                <a:cubicBezTo>
                  <a:pt x="4" y="91"/>
                  <a:pt x="7" y="95"/>
                  <a:pt x="11" y="97"/>
                </a:cubicBezTo>
                <a:cubicBezTo>
                  <a:pt x="5" y="95"/>
                  <a:pt x="0" y="90"/>
                  <a:pt x="0" y="8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0100" y="4848225"/>
            <a:ext cx="5991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企业号蓝</a:t>
            </a:r>
            <a:r>
              <a:rPr lang="en-US" sz="1575" b="1">
                <a:solidFill>
                  <a:srgbClr val="1F2937"/>
                </a:solidFill>
                <a:latin typeface="Microsoft YaHei"/>
                <a:ea typeface="Microsoft YaHei"/>
              </a:rPr>
              <a:t> V + </a:t>
            </a:r>
            <a:r>
              <a:rPr lang="zh-CN" sz="1575" b="1">
                <a:solidFill>
                  <a:srgbClr val="1F2937"/>
                </a:solidFill>
                <a:latin typeface="Microsoft YaHei"/>
                <a:ea typeface="Microsoft YaHei"/>
              </a:rPr>
              <a:t>商品橱窗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00100" y="5172075"/>
            <a:ext cx="5991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蓝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V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认证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600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元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年，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0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粉开橱窗；本身不自成交易，需挂抖店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课堂商品才能卖课。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324725" y="1181100"/>
            <a:ext cx="4295775" cy="5200650"/>
          </a:xfrm>
          <a:prstGeom prst="roundRect">
            <a:avLst>
              <a:gd name="adj" fmla="val 3548"/>
            </a:avLst>
          </a:prstGeom>
          <a:gradFill>
            <a:gsLst>
              <a:gs pos="0">
                <a:srgbClr val="2F6FED"/>
              </a:gs>
              <a:gs pos="100000">
                <a:srgbClr val="1E40AF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53325" y="2495550"/>
            <a:ext cx="381000" cy="38100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553325" y="3028950"/>
            <a:ext cx="3838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新手怎么选？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553325" y="3438525"/>
            <a:ext cx="38385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低门槛起号：先走</a:t>
            </a:r>
            <a:r>
              <a:rPr lang="en-US" sz="1275">
                <a:solidFill>
                  <a:srgbClr val="DBEAFE"/>
                </a:solidFill>
                <a:latin typeface="Microsoft YaHei"/>
                <a:ea typeface="Microsoft YaHei"/>
              </a:rPr>
              <a:t> SaaS / </a:t>
            </a: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学浪个人小店，免资质快速验证模型。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553325" y="4257675"/>
            <a:ext cx="3838575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重交付控品牌：抖店</a:t>
            </a:r>
            <a:r>
              <a:rPr lang="en-US" sz="1275">
                <a:solidFill>
                  <a:srgbClr val="DBEAFE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自研小程序</a:t>
            </a:r>
            <a:r>
              <a:rPr lang="en-US" sz="1275">
                <a:solidFill>
                  <a:srgbClr val="DBEAFE"/>
                </a:solidFill>
                <a:latin typeface="Microsoft YaHei"/>
                <a:ea typeface="Microsoft YaHei"/>
              </a:rPr>
              <a:t> + ICP </a:t>
            </a: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备案。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553325" y="4724400"/>
            <a:ext cx="3838575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本地到店课：抖音来客团购是必选项。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vs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a16="http://schemas.microsoft.com/office/drawing/2014/main" xmlns:mc="http://schemas.openxmlformats.org/markup-compatibility/2006" mc:Ignorable="asvg a16">
  <p:cSld>
    <p:spTree>
      <p:nvGrpSpPr>
        <p:cNvPr id="143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EA580C', borderRadius: 3 }} /&gt;&#10;        &lt;Text style={{ fontSize: 34, fontWeight: 'bold', color: '#1F2937' }}&gt;不同方式 · 资质对比&lt;/Text&gt;&#10;      &lt;/Box&gt;&#10;      &lt;Text style={{ fontSize: 14, color: '#94A3B8' }}&gt;资质 · 05 ★ 核心&lt;/Text&gt;&#10;    &lt;/Box&gt;&#10;    &lt;Box style={{ flex: 1, padding: '10px 60px 0', flexDirection: 'column', justifyContent: 'center', gap: 14 }}&gt;&#10;      &lt;Box style={{ borderRadius: 12, overflow: 'hidden', border: '1px solid #E2E8F0' }}&gt;&#10;        &lt;Table&#10;          style={{ width: '100%', height: 380 }}&#10;          defaultTextStyle={{ fontSize: 14, textAlign: 'center', color: '#334155' }}&#10;          defaultCellStyle={{ border: { left: { width: 1, color: '#E2E8F0' }, right: { width: 1, color: '#E2E8F0' }, top: { width: 1, color: '#E2E8F0' }, bottom: { width: 1, color: '#E2E8F0' } }, background: { color: '#FFFFFF' } }}&#10;          cells={[&#10;            [&#10;              { text: '卖课方式', textStyle: { bold: true, color: '#FFFFFF', fontSize: 14 }, cellStyle: { background: { color: '#2F6FED' } } },&#10;              { text: '营业执照', textStyle: { bold: true, color: '#FFFFFF', fontSize: 14 }, cellStyle: { background: { color: '#2F6FED' } } },&#10;              { text: 'ICP 备案', textStyle: { bold: true, color: '#FFFFFF', fontSize: 14 }, cellStyle: { background: { color: '#2F6FED' } } },&#10;              { text: '办学 / 备案', textStyle: { bold: true, color: '#FFFFFF', fontSize: 14 }, cellStyle: { background: { color: '#2F6FED' } } },&#10;              { text: '保证金', textStyle: { bold: true, color: '#FFFFFF', fontSize: 14 }, cellStyle: { background: { color: '#2F6FED' } } },&#10;              { text: '类目报白', textStyle: { bold: true, color: '#FFFFFF', fontSize: 14 }, cellStyle: { background: { color: '#2F6FED' } } },&#10;              { text: '讲师证', textStyle: { bold: true, color: '#FFFFFF', fontSize: 14 }, cellStyle: { background: { color: '#2F6FED' } } },&#10;            ],&#10;            [&#10;              { text: '抖店 / 抖音小店', textStyle: { bold: true, color: '#1F2937', textAlign: 'left' } },&#10;              '需(企业/个体户)', '需 / 平台代', '按类目', '约 5000', '需(定向邀约)', '需',&#10;            ],&#10;            [&#10;              { text: '抖音课堂', textStyle: { bold: true, color: '#1F2937', textAlign: 'left' } },&#10;              '主体需', '平台关联', '按类目', '—', '课程质检', '需',&#10;            ],&#10;            [&#10;              { text: '学浪计划', textStyle: { bold: true, color: '#1F2937', textAlign: 'left' } },&#10;              '个人免 / 机构需', 'ICP 前置核验', '按类目', '约 5000', '流量加权准入', '教师/技能证',&#10;            ],&#10;            [&#10;              { text: '抖音来客 · 团购', textStyle: { bold: true, color: '#1F2937', textAlign: 'left' } },&#10;              '需 + 门店', '需', '线下需备案', '5000', '需 + 门店 POI', '需',&#10;            ],&#10;            [&#10;              { text: '小程序 / 第三方 SaaS', textStyle: { bold: true, color: '#1F2937', textAlign: 'left' } },&#10;              '个人可免', '平台承担', '平台承担', '较低', '平台承担', '平台审',&#10;            ],&#10;            [&#10;              { text: '企业号蓝 V + 橱窗', textStyle: { bold: true, color: '#1F2937', textAlign: 'left' } },&#10;              '认证需', '—', '—', '600 元/年', '橱窗需抖店', '—',&#10;            ],&#10;          ]}&#10;        /&gt;&#10;      &lt;/Box&gt;&#10;      &lt;Box style={{ flexDirection: 'row', gap: 14, alignItems: 'center', padding: '14px 18px', borderRadius: 12, background: '#FFF7ED', borderLeft: '4px solid #EA580C' }}&gt;&#10;        &lt;FAIcon name='lightbulb' style={{ fill: '#EA580C', width: 24, height: 24 }} /&gt;&#10;        &lt;Text style={{ fontSize: 16, color: '#9A3412', lineHeight: 1.6 }}&gt;&#10;          结论：入驻成熟平台（抖店 / 学浪 / SaaS）可由平台承担 ICP，企业免自办；&lt;Text style={{ fontWeight: 'bold' }}&gt;自建站必办 ICP 许可证（注册资本≥100万）&lt;/Text&gt;。团购额外要门店与 POI，蓝 V 仅挂车不自成交易。&#10;        &lt;/Text&gt;&#10;      &lt;/Box&gt;&#10;    &lt;/Box&gt;&#10;    &lt;Box style={{ height: 50, padding: '0 60px', flexDirection: 'row', justifyContent: 'space-between', alignItems: 'center' }}&gt;&#10;      &lt;Text style={{ fontSize: 14, color: '#94A3B8' }}&gt;在抖音卖课 · 企业 vs 个人&lt;/Text&gt;&#10;      &lt;Text style={{ fontSize: 14, color: '#94A3B8' }}&gt;07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81050" y="457200"/>
            <a:ext cx="2933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不同方式</a:t>
            </a:r>
            <a:r>
              <a:rPr lang="en-US" sz="2550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资质对比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629900" y="57150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资质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05 ★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核心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71500" y="1457325"/>
            <a:ext cx="11049000" cy="3619500"/>
          </a:xfrm>
          <a:prstGeom prst="roundRect">
            <a:avLst>
              <a:gd name="adj" fmla="val 3158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49" name=""/>
          <p:cNvGraphicFramePr/>
          <p:nvPr/>
        </p:nvGraphicFramePr>
        <p:xfrm rot="0" flipH="0" flipV="0">
          <a:off x="571500" y="1457325"/>
          <a:ext cx="11049000" cy="3619500"/>
        </p:xfrm>
        <a:graphic>
          <a:graphicData uri="http://schemas.openxmlformats.org/drawingml/2006/table">
            <a:tbl>
              <a:tblGrid>
                <a:gridCol w="2360512">
                  <a:extLst>
                    <a:ext uri="{9D8B030D-6E8A-4147-A177-3AD203B41FA5}">
                      <a16:colId val="1"/>
                    </a:ext>
                  </a:extLst>
                </a:gridCol>
                <a:gridCol w="1764748">
                  <a:extLst>
                    <a:ext uri="{9D8B030D-6E8A-4147-A177-3AD203B41FA5}">
                      <a16:colId val="2"/>
                    </a:ext>
                  </a:extLst>
                </a:gridCol>
                <a:gridCol w="1491019">
                  <a:extLst>
                    <a:ext uri="{9D8B030D-6E8A-4147-A177-3AD203B41FA5}">
                      <a16:colId val="3"/>
                    </a:ext>
                  </a:extLst>
                </a:gridCol>
                <a:gridCol w="1297799">
                  <a:extLst>
                    <a:ext uri="{9D8B030D-6E8A-4147-A177-3AD203B41FA5}">
                      <a16:colId val="4"/>
                    </a:ext>
                  </a:extLst>
                </a:gridCol>
                <a:gridCol w="1168985">
                  <a:extLst>
                    <a:ext uri="{9D8B030D-6E8A-4147-A177-3AD203B41FA5}">
                      <a16:colId val="5"/>
                    </a:ext>
                  </a:extLst>
                </a:gridCol>
                <a:gridCol w="1587630">
                  <a:extLst>
                    <a:ext uri="{9D8B030D-6E8A-4147-A177-3AD203B41FA5}">
                      <a16:colId val="6"/>
                    </a:ext>
                  </a:extLst>
                </a:gridCol>
                <a:gridCol w="1378307">
                  <a:extLst>
                    <a:ext uri="{9D8B030D-6E8A-4147-A177-3AD203B41FA5}">
                      <a16:colId val="7"/>
                    </a:ext>
                  </a:extLst>
                </a:gridCol>
              </a:tblGrid>
              <a:tr h="5170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卖课方式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营业执照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ICP 备案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办学 / 备案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保证金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类目报白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讲师证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170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抖店 / 抖音小店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需(企业/个体户)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 / 平台代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按类目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约 5000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需(定向邀约)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170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抖音课堂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主体需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平台关联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按类目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课程质检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170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学浪计划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个人免 / 机构需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ICP 前置核验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按类目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约 5000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流量加权准入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教师/技能证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170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抖音来客 · 团购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 + 门店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线下需备案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5000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 + 门店 POI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170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小程序 / 第三方 SaaS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个人可免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平台承担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平台承担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较低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平台承担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平台审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170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企业号蓝 V + 橱窗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认证需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600 元/年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橱窗需抖店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150" name=""/>
          <p:cNvSpPr/>
          <p:nvPr/>
        </p:nvSpPr>
        <p:spPr>
          <a:xfrm rot="0" flipH="0" flipV="0">
            <a:off x="609600" y="5210175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609600" y="5210175"/>
            <a:ext cx="11049000" cy="857250"/>
          </a:xfrm>
          <a:custGeom>
            <a:pathLst>
              <a:path w="1160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5524500"/>
            <a:ext cx="228600" cy="22860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33475" y="5343525"/>
            <a:ext cx="10315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结论：入驻成熟平台（抖店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学浪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> / SaaS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）可由平台承担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> ICP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，企业免自办；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自建站必办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> ICP 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许可证（注册资本≥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>100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万）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。团购额外要门店与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> POI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，蓝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> V 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仅挂车不自成交易。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vs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6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企业 vs 个人 · 资质对照&lt;/Text&gt;&#10;      &lt;/Box&gt;&#10;      &lt;Text style={{ fontSize: 14, color: '#94A3B8' }}&gt;资质 · 06&lt;/Text&gt;&#10;    &lt;/Box&gt;&#10;    &lt;Box style={{ flex: 1, padding: '14px 60px 0', justifyContent: 'center' }}&gt;&#10;      &lt;Box style={{ borderRadius: 12, overflow: 'hidden', border: '1px solid #E2E8F0' }}&gt;&#10;        &lt;Table&#10;          style={{ width: '100%', height: 460 }}&#10;          defaultTextStyle={{ fontSize: 16, textAlign: 'left', color: '#334155' }}&#10;          defaultCellStyle={{ border: { left: { width: 1, color: '#E2E8F0' }, right: { width: 1, color: '#E2E8F0' }, top: { width: 1, color: '#E2E8F0' }, bottom: { width: 1, color: '#E2E8F0' } }, background: { color: '#FFFFFF' }, padding: '0 14px' }}&#10;          cells={[&#10;            [&#10;              { text: '维度', textStyle: { bold: true, color: '#FFFFFF' }, cellStyle: { background: { color: '#475569' } } },&#10;              { text: '企业主体（蓝）', textStyle: { bold: true, color: '#FFFFFF' }, cellStyle: { background: { color: '#2F6FED' } } },&#10;              { text: '个人主体（橙）', textStyle: { bold: true, color: '#FFFFFF' }, cellStyle: { background: { color: '#EA580C' } } },&#10;            ],&#10;            [{ text: '营业执照', textStyle: { bold: true, color: '#1F2937' } }, '需（公司 / 个体户）', '一般无需（SaaS / 学浪个人免）'],&#10;            [{ text: 'ICP 许可证', textStyle: { bold: true, color: '#1F2937' } }, '可办；自建站必须', '不能办，只能入驻平台免办'],&#10;            [{ text: '办学许可证', textStyle: { bold: true, color: '#1F2937' } }, '机构可办', '不能，需挂靠机构'],&#10;            [{ text: '保证金', textStyle: { bold: true, color: '#1F2937' } }, '按类目（教培约 5000）', '较低 / 按平台规则'],&#10;            [{ text: '讲师资质', textStyle: { bold: true, color: '#1F2937' } }, '学科需教资、技能需证书', '同左，两者都要'],&#10;            [{ text: '收入税务', textStyle: { bold: true, color: '#1F2937' } }, '缴企业所得税', '申报个人所得税'],&#10;            [{ text: '适合', textStyle: { bold: true, color: '#1F2937' } }, '机构、品牌、重交付', '个人讲师、轻量起步'],&#10;          ]}&#10;        /&gt;&#10;      &lt;/Box&gt;&#10;    &lt;/Box&gt;&#10;    &lt;Box style={{ height: 50, padding: '0 60px', flexDirection: 'row', justifyContent: 'space-between', alignItems: 'center' }}&gt;&#10;      &lt;Text style={{ fontSize: 14, color: '#94A3B8' }}&gt;在抖音卖课 · 企业 vs 个人&lt;/Text&gt;&#10;      &lt;Text style={{ fontSize: 14, color: '#94A3B8' }}&gt;08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81050" y="457200"/>
            <a:ext cx="3467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企业</a:t>
            </a:r>
            <a:r>
              <a:rPr lang="en-US" sz="2550" b="1">
                <a:solidFill>
                  <a:srgbClr val="1F2937"/>
                </a:solidFill>
                <a:latin typeface="Microsoft YaHei"/>
                <a:ea typeface="Microsoft YaHei"/>
              </a:rPr>
              <a:t> vs </a:t>
            </a: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个人</a:t>
            </a:r>
            <a:r>
              <a:rPr lang="en-US" sz="2550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资质对照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077575" y="571500"/>
            <a:ext cx="542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资质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06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71500" y="1590675"/>
            <a:ext cx="11049000" cy="4381500"/>
          </a:xfrm>
          <a:prstGeom prst="roundRect">
            <a:avLst>
              <a:gd name="adj" fmla="val 2609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2" name=""/>
          <p:cNvGraphicFramePr/>
          <p:nvPr/>
        </p:nvGraphicFramePr>
        <p:xfrm rot="0" flipH="0" flipV="0">
          <a:off x="571500" y="1590675"/>
          <a:ext cx="11049000" cy="4381500"/>
        </p:xfrm>
        <a:graphic>
          <a:graphicData uri="http://schemas.openxmlformats.org/drawingml/2006/table">
            <a:tbl>
              <a:tblGrid>
                <a:gridCol w="1926801">
                  <a:extLst>
                    <a:ext uri="{9D8B030D-6E8A-4147-A177-3AD203B41FA5}">
                      <a16:colId val="1"/>
                    </a:ext>
                  </a:extLst>
                </a:gridCol>
                <a:gridCol w="3991231">
                  <a:extLst>
                    <a:ext uri="{9D8B030D-6E8A-4147-A177-3AD203B41FA5}">
                      <a16:colId val="2"/>
                    </a:ext>
                  </a:extLst>
                </a:gridCol>
                <a:gridCol w="513096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企业主体（蓝）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个人主体（橙）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营业执照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需（公司 / 个体户）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一般无需（SaaS / 学浪个人免）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ICP 许可证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可办；自建站必须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不能办，只能入驻平台免办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办学许可证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机构可办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不能，需挂靠机构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保证金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按类目（教培约 5000）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较低 / 按平台规则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讲师资质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学科需教资、技能需证书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同左，两者都要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收入税务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缴企业所得税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申报个人所得税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476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适合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机构、品牌、重交付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个人讲师、轻量起步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vs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5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DC2626', borderRadius: 3 }} /&gt;&#10;        &lt;Text style={{ fontSize: 34, fontWeight: 'bold', color: '#1F2937' }}&gt;红线 · 合规&lt;/Text&gt;&#10;      &lt;/Box&gt;&#10;      &lt;Text style={{ fontSize: 14, color: '#94A3B8' }}&gt;红线 · 07&lt;/Text&gt;&#10;    &lt;/Box&gt;&#10;    &lt;Box style={{ flex: 1, padding: '14px 60px 0', flexDirection: 'row', gap: 40 }}&gt;&#10;      &lt;Box style={{ width: 320, justifyContent: 'center' }}&gt;&#10;        &lt;Text style={{ fontSize: 24, fontWeight: 'bold', color: '#DC2626', lineHeight: 1.5 }}&gt;这些底线&lt;Text style={{ color: '#1F2937' }}&gt;不能碰&lt;/Text&gt;&lt;/Text&gt;&#10;        &lt;Text style={{ fontSize: 17, color: '#64748B', marginTop: 18, lineHeight: 1.9 }}&gt;&#10;          2026 年抖音规则整体收紧，&lt;br/&gt;合规、有资质、走正规通道者&lt;br/&gt;才能吃到公域流量。&lt;br/&gt;违规即面临下架、闭店、封号。&#10;        &lt;/Text&gt;&#10;      &lt;/Box&gt;&#10;      &lt;Box style={{ flex: 1, justifyContent: 'center', gap: 16 }}&gt;&#10;        &lt;Box style={{ flexDirection: 'row', gap: 14, alignItems: 'flex-start', padding: '12px 16px', borderRadius: 10, background: '#FEF2F2' }}&gt;&#10;          &lt;FAIcon name='ban' style={{ fill: '#DC2626', width: 24, height: 24 }} /&gt;&#10;          &lt;Box&gt;&lt;Text style={{ fontSize: 19, fontWeight: 'bold', color: '#1F2937' }}&gt;K12 学科类全面禁售&lt;/Text&gt;&lt;Text style={{ fontSize: 15, color: '#64748B', marginTop: 3 }}&gt;2026.1.20 起，面向未成年人学科培训一律禁售。&lt;/Text&gt;&lt;/Box&gt;&#10;        &lt;/Box&gt;&#10;        &lt;Box style={{ flexDirection: 'row', gap: 14, alignItems: 'flex-start', padding: '12px 16px', borderRadius: 10, background: '#FEF2F2' }}&gt;&#10;          &lt;FAIcon name='comment-slash' style={{ fill: '#DC2626', width: 24, height: 24 }} /&gt;&#10;          &lt;Box&gt;&lt;Text style={{ fontSize: 19, fontWeight: 'bold', color: '#1F2937' }}&gt;禁虚假 / 夸大宣传&lt;/Text&gt;&lt;Text style={{ fontSize: 15, color: '#64748B', marginTop: 3 }}&gt;不得夸大收益、保过提分、极限词（误导售卖细则）。&lt;/Text&gt;&lt;/Box&gt;&#10;        &lt;/Box&gt;&#10;        &lt;Box style={{ flexDirection: 'row', gap: 14, alignItems: 'flex-start', padding: '12px 16px', borderRadius: 10, background: '#FEF2F2' }}&gt;&#10;          &lt;FAIcon name='shield-alt' style={{ fill: '#DC2626', width: 24, height: 24 }} /&gt;&#10;          &lt;Box&gt;&lt;Text style={{ fontSize: 19, fontWeight: 'bold', color: '#1F2937' }}&gt;资金 · 税务 · 版权&lt;/Text&gt;&lt;Text style={{ fontSize: 15, color: '#64748B', marginTop: 3 }}&gt;预付费需资金监管、明码标价、依法纳税；课件需版权。&lt;/Text&gt;&lt;/Box&gt;&#10;        &lt;/Box&gt;&#10;        &lt;Box style={{ flexDirection: 'row', gap: 14, alignItems: 'flex-start', padding: '12px 16px', borderRadius: 10, background: '#FFF7ED', borderLeft: '4px solid #EA580C' }}&gt;&#10;          &lt;FAIcon name='user' style={{ fill: '#EA580C', width: 24, height: 24 }} /&gt;&#10;          &lt;Box&gt;&lt;Text style={{ fontSize: 19, fontWeight: 'bold', color: '#1F2937' }}&gt;个人额外注意&lt;/Text&gt;&lt;Text style={{ fontSize: 15, color: '#64748B', marginTop: 3 }}&gt;收入申报个税；慎碰需资质类目；挂靠须签责任协议。&lt;/Text&gt;&lt;/Box&gt;&#10;        &lt;/Box&gt;&#10;      &lt;/Box&gt;&#10;    &lt;/Box&gt;&#10;    &lt;Box style={{ height: 50, padding: '0 60px', flexDirection: 'row', justifyContent: 'space-between', alignItems: 'center' }}&gt;&#10;      &lt;Text style={{ fontSize: 14, color: '#94A3B8' }}&gt;在抖音卖课 · 企业 vs 个人&lt;/Text&gt;&#10;      &lt;Text style={{ fontSize: 14, color: '#94A3B8' }}&gt;09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81050" y="457200"/>
            <a:ext cx="1638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红线</a:t>
            </a:r>
            <a:r>
              <a:rPr lang="en-US" sz="2550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F2937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077575" y="571500"/>
            <a:ext cx="542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红线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07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2743200"/>
            <a:ext cx="30480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DC2626"/>
                </a:solidFill>
                <a:latin typeface="Microsoft YaHei"/>
                <a:ea typeface="Microsoft YaHei"/>
              </a:rPr>
              <a:t>这些底线</a:t>
            </a:r>
            <a:r>
              <a:rPr lang="zh-CN" sz="1800" b="1">
                <a:solidFill>
                  <a:srgbClr val="DC2626"/>
                </a:solidFill>
                <a:latin typeface="Microsoft YaHei"/>
                <a:ea typeface="Microsoft YaHei"/>
              </a:rPr>
              <a:t>不能碰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" y="3333750"/>
            <a:ext cx="3048000" cy="14859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2026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年抖音规则整体收紧，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合规、有资质、走正规通道者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才能吃到公域流量。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违规即面临下架、闭店、封号。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000500" y="22574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1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52900" y="2371725"/>
            <a:ext cx="228600" cy="228600"/>
          </a:xfrm>
          <a:prstGeom prst="rect">
            <a:avLst/>
          </a:prstGeom>
          <a:ln/>
        </p:spPr>
      </p:pic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514850" y="2371725"/>
            <a:ext cx="3133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K12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学科类全面禁售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14850" y="261937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2026.1.20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起，面向未成年人学科培训一律禁售。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000500" y="30575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52900" y="3171825"/>
            <a:ext cx="228600" cy="2286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514850" y="3171825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禁虚假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夸大宣传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514850" y="341947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不得夸大收益、保过提分、极限词（误导售卖细则）。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000500" y="38576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152900" y="3971925"/>
            <a:ext cx="228600" cy="228600"/>
          </a:xfrm>
          <a:prstGeom prst="rect">
            <a:avLst/>
          </a:prstGeom>
          <a:ln/>
        </p:spPr>
      </p:pic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514850" y="3971925"/>
            <a:ext cx="3571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资金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税务</a:t>
            </a:r>
            <a:r>
              <a:rPr lang="en-US" sz="1425" b="1">
                <a:solidFill>
                  <a:srgbClr val="1F2937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版权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14850" y="4219575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预付费需资金监管、明码标价、依法纳税；课件需版权。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4038600" y="46577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038600" y="4657725"/>
            <a:ext cx="7620000" cy="647700"/>
          </a:xfrm>
          <a:custGeom>
            <a:pathLst>
              <a:path w="800" h="6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2"/>
                </a:lnTo>
                <a:cubicBezTo>
                  <a:pt x="4" y="65"/>
                  <a:pt x="6" y="67"/>
                  <a:pt x="9" y="68"/>
                </a:cubicBezTo>
                <a:cubicBezTo>
                  <a:pt x="4" y="67"/>
                  <a:pt x="0" y="63"/>
                  <a:pt x="0" y="5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191000" y="4772025"/>
            <a:ext cx="228600" cy="2286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552950" y="4772025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Microsoft YaHei"/>
                <a:ea typeface="Microsoft YaHei"/>
              </a:rPr>
              <a:t>个人额外注意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552950" y="501967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收入申报个税；慎碰需资质类目；挂靠须签责任协议。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vs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1" name="" descr="&lt;Slide style={{ padding: 0, background: '#0F172A' }}&gt;&#10;  &lt;Box style={{ height: '100%', justifyContent: 'center', alignItems: 'center', padding: '0 90px' }}&gt;&#10;    &lt;Text style={{ fontSize: 20, color: '#93C5FD', letterSpacing: 4 }}&gt;落地建议&lt;/Text&gt;&#10;    &lt;Text style={{ fontSize: 56, fontWeight: 'bold', color: '#FFFFFF', marginTop: 24, textAlign: 'center' }}&gt;&#10;      先定身份，再选通道，最后备资质&#10;    &lt;/Text&gt;&#10;    &lt;Box style={{ marginTop: 44, flexDirection: 'row', gap: 22 }}&gt;&#10;      &lt;Box style={{ width: 300, padding: '22px 20px', borderRadius: 16, background: 'rgba(47,111,237,0.16)' }}&gt;&#10;        &lt;Text style={{ fontSize: 22, fontWeight: 'bold', color: '#93C5FD' }}&gt;① 定身份&lt;/Text&gt;&#10;        &lt;Text style={{ fontSize: 16, color: '#CBD5E1', marginTop: 10, lineHeight: 1.6 }}&gt;企业走全套资质；个人优先平台免办通道。&lt;/Text&gt;&#10;      &lt;/Box&gt;&#10;      &lt;Box style={{ width: 300, padding: '22px 20px', borderRadius: 16, background: 'rgba(234,88,12,0.16)' }}&gt;&#10;        &lt;Text style={{ fontSize: 22, fontWeight: 'bold', color: '#FDBA74' }}&gt;② 选通道&lt;/Text&gt;&#10;        &lt;Text style={{ fontSize: 16, color: '#CBD5E1', marginTop: 10, lineHeight: 1.6 }}&gt;轻量起号用 SaaS / 学浪；重交付用抖店；到店用团购。&lt;/Text&gt;&#10;      &lt;/Box&gt;&#10;      &lt;Box style={{ width: 300, padding: '22px 20px', borderRadius: 16, background: 'rgba(255,255,255,0.10)' }}&gt;&#10;        &lt;Text style={{ fontSize: 22, fontWeight: 'bold', color: '#FFFFFF' }}&gt;③ 备资质&lt;/Text&gt;&#10;        &lt;Text style={{ fontSize: 16, color: '#CBD5E1', marginTop: 10, lineHeight: 1.6 }}&gt;按所选方式逐项核对上表，先合规再投放。&lt;/Text&gt;&#10;      &lt;/Box&gt;&#10;    &lt;/Box&gt;&#10;    &lt;Text style={{ fontSize: 16, color: '#64748B', marginTop: 40 }}&gt;在抖音卖课 · 企业 vs 个人 · 202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638800" y="17049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93C5FD"/>
                </a:solidFill>
                <a:latin typeface="Microsoft YaHei"/>
                <a:ea typeface="Microsoft YaHei"/>
              </a:rPr>
              <a:t>落地建议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095500" y="2162175"/>
            <a:ext cx="800100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先定身份，再选通道，最后备资质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1600200" y="3228975"/>
            <a:ext cx="2857500" cy="1362075"/>
          </a:xfrm>
          <a:prstGeom prst="roundRect">
            <a:avLst>
              <a:gd name="adj" fmla="val 11189"/>
            </a:avLst>
          </a:prstGeom>
          <a:solidFill>
            <a:srgbClr val="2F6FED">
              <a:alpha val="16000"/>
            </a:srgbClr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790700" y="343852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3C5FD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93C5FD"/>
                </a:solidFill>
                <a:latin typeface="Microsoft YaHei"/>
                <a:ea typeface="Microsoft YaHei"/>
              </a:rPr>
              <a:t>定身份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790700" y="3790950"/>
            <a:ext cx="2476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企业走全套资质；个人优先平台免办通道。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667250" y="3228975"/>
            <a:ext cx="2857500" cy="1362075"/>
          </a:xfrm>
          <a:prstGeom prst="roundRect">
            <a:avLst>
              <a:gd name="adj" fmla="val 11189"/>
            </a:avLst>
          </a:prstGeom>
          <a:solidFill>
            <a:srgbClr val="EA580C">
              <a:alpha val="16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857750" y="343852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DBA74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FDBA74"/>
                </a:solidFill>
                <a:latin typeface="Microsoft YaHei"/>
                <a:ea typeface="Microsoft YaHei"/>
              </a:rPr>
              <a:t>选通道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857750" y="3790950"/>
            <a:ext cx="2476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轻量起号用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SaaS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学浪；重交付用抖店；到店用团购。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7734300" y="3228975"/>
            <a:ext cx="2857500" cy="1362075"/>
          </a:xfrm>
          <a:prstGeom prst="roundRect">
            <a:avLst>
              <a:gd name="adj" fmla="val 1118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924800" y="343852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备资质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924800" y="3790950"/>
            <a:ext cx="2476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按所选方式逐项核对上表，先合规再投放。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981575" y="497205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在抖音卖课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企业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vs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个人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2026-08-07T20:23:24Z</dcterms:created>
  <dcterms:modified xsi:type="dcterms:W3CDTF">2026-08-07T20:23:24Z</dcterms:modified>
</cp:coreProperties>
</file>