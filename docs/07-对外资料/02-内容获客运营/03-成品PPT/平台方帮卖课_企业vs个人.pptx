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padding: 0, background: '#0F172A' }}&gt;&#10;  &lt;Box style={{ height: '100%', padding: '90px 90px', justifyContent: 'center' }}&gt;&#10;    &lt;Text style={{ fontSize: 20, color: '#67E8F9', letterSpacing: 3 }}&gt;知识付费 · 平台 / 服务商视角&lt;/Text&gt;&#10;    &lt;Text style={{ fontSize: 62, fontWeight: 'bold', color: '#FFFFFF', marginTop: 22 }}&gt;平台方帮卖课&lt;/Text&gt;&#10;    &lt;Text style={{ fontSize: 62, fontWeight: 'bold', color: '#FFFFFF' }}&gt;&#10;      企业 &lt;span style={{ color: '#22D3EE' }}&gt;vs&lt;/span&gt; 个人讲师&#10;    &lt;/Text&gt;&#10;    &lt;Text style={{ fontSize: 26, color: '#CBD5E1', marginTop: 30, lineHeight: 1.7 }}&gt;&#10;      业务模式 · 资质要求 · 责任义务 · 收益模式&#10;    &lt;/Text&gt;&#10;    &lt;Box style={{ marginTop: 36, flexDirection: 'row', gap: 14 }}&gt;&#10;      &lt;Box style={{ padding: '8px 18px', borderRadius: 20, background: 'rgba(47,111,237,0.18)' }}&gt;&#10;        &lt;Text style={{ fontSize: 16, color: '#93C5FD' }}&gt;企业商家&lt;/Text&gt;&#10;      &lt;/Box&gt;&#10;      &lt;Box style={{ padding: '8px 18px', borderRadius: 20, background: 'rgba(8,145,178,0.20)' }}&gt;&#10;        &lt;Text style={{ fontSize: 16, color: '#67E8F9' }}&gt;个人讲师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857250" y="1752600"/>
            <a:ext cx="1047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知识付费</a:t>
            </a:r>
            <a:r>
              <a:rPr lang="en-US" sz="1500" spc="22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spc="22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spc="22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spc="22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服务商视角</a:t>
            </a:r>
            <a:endParaRPr lang="zh-CN" sz="1500" spc="225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857250" y="2190750"/>
            <a:ext cx="104775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57250" y="2905125"/>
            <a:ext cx="104775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6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r>
              <a:rPr lang="en-US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个人讲师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857250" y="3905250"/>
            <a:ext cx="10477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业务模式</a:t>
            </a:r>
            <a:r>
              <a:rPr lang="en-US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资质要求</a:t>
            </a:r>
            <a:r>
              <a:rPr lang="en-US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责任义务</a:t>
            </a:r>
            <a:r>
              <a:rPr lang="en-US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收益模式</a:t>
            </a:r>
            <a:endParaRPr lang="zh-CN" sz="195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7250" y="476250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2F6FED">
              <a:alpha val="18000"/>
            </a:srgbClr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1028700" y="483870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企业商家</a:t>
            </a:r>
            <a:endParaRPr lang="zh-CN" sz="120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943100" y="476250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0891B2">
              <a:alpha val="20000"/>
            </a:srgbClr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2114550" y="483870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个人讲师</a:t>
            </a:r>
            <a:endParaRPr lang="zh-CN" sz="12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本册看什么&lt;/Text&gt;&#10;      &lt;/Box&gt;&#10;      &lt;Text style={{ fontSize: 14, color: '#94A3B8' }}&gt;目录 · 01&lt;/Text&gt;&#10;    &lt;/Box&gt;&#10;    &lt;Box style={{ flex: 1, padding: '16px 60px 0', flexDirection: 'row', gap: 44 }}&gt;&#10;      &lt;Box style={{ width: 340, justifyContent: 'center' }}&gt;&#10;        &lt;Text style={{ fontSize: 25, fontWeight: 'bold', color: '#1F2937', lineHeight: 1.5 }}&gt;&#10;          作为平台方，&lt;Text style={{ color: '#0891B2' }}&gt;怎么帮人卖课&lt;/Text&gt;&#10;        &lt;/Text&gt;&#10;        &lt;Text style={{ fontSize: 18, color: '#64748B', marginTop: 20, lineHeight: 1.8 }}&gt;&#10;          不是&quot;自己卖&quot;，而是提供通道、工具&lt; br/&gt;与服务，让企业和个人讲师在你的&lt; br/&gt;平台上合规地把课卖出去。&#10;        &lt;/Text&gt;&#10;        &lt;Box style={{ marginTop: 28, padding: '14px 18px', borderRadius: 12, background: '#F1F5F9' }}&gt;&#10;          &lt;Text style={{ fontSize: 15, color: '#475569', lineHeight: 1.6 }}&gt;全册 10 页 · 蓝=平台 / 青=服务 / 红=风险&lt;/Text&gt;&#10;        &lt;/Box&gt;&#10;      &lt;/Box&gt;&#10;      &lt;Box style={{ flex: 1, justifyContent: 'center', gap: 22 }}&gt;&#10;        &lt;Box style={{ flexDirection: 'row', gap: 16, alignItems: 'flex-start' }}&gt;&#10;          &lt;Box style={{ width: 54, height: 54, borderRadius: 14, background: '#EFF6FF', justifyContent: 'center', alignItems: 'center' }}&gt;&#10;            &lt;FAIcon name='sitemap' style={{ fill: '#2F6FED', width: 26, height: 26 }} /&gt;&#10;          &lt;/Box&gt;&#10;          &lt;Box style={{ flex: 1 }}&gt;&lt;Text style={{ fontSize: 21, fontWeight: 'bold', color: '#1F2937' }}&gt;业务模式&lt;/Text&gt;&lt;Text style={{ fontSize: 16, color: '#64748B', marginTop: 4, lineHeight: 1.5 }}&gt;官方服务商 / SaaS / 代运营 / 分销 / 代办 / 技术开发。&lt;/Text&gt;&lt;/Box&gt;&#10;        &lt;/Box&gt;&#10;        &lt;Box style={{ flexDirection: 'row', gap: 16, alignItems: 'flex-start' }}&gt;&#10;          &lt;Box style={{ width: 54, height: 54, borderRadius: 14, background: '#ECFEFF', justifyContent: 'center', alignItems: 'center' }}&gt;&#10;            &lt;FAIcon name='users' style={{ fill: '#0891B2', width: 26, height: 26 }} /&gt;&#10;          &lt;/Box&gt;&#10;          &lt;Box style={{ flex: 1 }}&gt;&lt;Text style={{ fontSize: 21, fontWeight: 'bold', color: '#1F2937' }}&gt;服务对象&lt;/Text&gt;&lt;Text style={{ fontSize: 16, color: '#64748B', marginTop: 4, lineHeight: 1.5 }}&gt;企业商家 + 个人讲师，资质审核按主体区分。&lt;/Text&gt;&lt;/Box&gt;&#10;        &lt;/Box&gt;&#10;        &lt;Box style={{ flexDirection: 'row', gap: 16, alignItems: 'flex-start' }}&gt;&#10;          &lt;Box style={{ width: 54, height: 54, borderRadius: 14, background: '#EFF6FF', justifyContent: 'center', alignItems: 'center' }}&gt;&#10;            &lt;FAIcon name='clipboard-check' style={{ fill: '#2F6FED', width: 26, height: 26 }} /&gt;&#10;          &lt;/Box&gt;&#10;          &lt;Box style={{ flex: 1 }}&gt;&lt;Text style={{ fontSize: 21, fontWeight: 'bold', color: '#1F2937' }}&gt;资质要求&lt;/Text&gt;&lt;Text style={{ fontSize: 16, color: '#64748B', marginTop: 4, lineHeight: 1.5 }}&gt;ICP/EDI、文网证、服务商认证、等保三级、资金分账。&lt;/Text&gt;&lt;/Box&gt;&#10;        &lt;/Box&gt;&#10;        &lt;Box style={{ flexDirection: 'row', gap: 16, alignItems: 'flex-start' }}&gt;&#10;          &lt;Box style={{ width: 54, height: 54, borderRadius: 14, background: '#ECFEFF', justifyContent: 'center', alignItems: 'center' }}&gt;&#10;            &lt;FAIcon name='hand-holding-usd' style={{ fill: '#0891B2', width: 26, height: 26 }} /&gt;&#10;          &lt;/Box&gt;&#10;          &lt;Box style={{ flex: 1 }}&gt;&lt;Text style={{ fontSize: 21, fontWeight: 'bold', color: '#1F2937' }}&gt;责任与收益&lt;/Text&gt;&lt;Text style={{ fontSize: 16, color: '#64748B', marginTop: 4, lineHeight: 1.5 }}&gt;KYC、质检、未成年人保护；抽佣、订阅、服务费。&lt;/Text&gt;&lt;/Box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2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" name="圆角矩形 26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781050" y="457200"/>
            <a:ext cx="16192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本册看什么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571500" y="2524125"/>
            <a:ext cx="3238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作为平台方，</a:t>
            </a:r>
            <a:r>
              <a:rPr lang="zh-CN" sz="18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怎么帮人卖课</a:t>
            </a:r>
            <a:endParaRPr lang="zh-CN" sz="18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571500" y="3143250"/>
            <a:ext cx="3238500" cy="1114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不是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自己卖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，而是提供通道、工具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与服务，让企业和个人讲师在你的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平台上合规地把课卖出去。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571500" y="4524375"/>
            <a:ext cx="3238500" cy="542925"/>
          </a:xfrm>
          <a:prstGeom prst="roundRect">
            <a:avLst>
              <a:gd name="adj" fmla="val 2105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42950" y="4657725"/>
            <a:ext cx="2895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全册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蓝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青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红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风险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229100" y="235267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2450" y="2486025"/>
            <a:ext cx="247650" cy="247650"/>
          </a:xfrm>
          <a:prstGeom prst="rect">
            <a:avLst/>
          </a:prstGeom>
        </p:spPr>
      </p:pic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895850" y="2352675"/>
            <a:ext cx="6724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业务模式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4895850" y="2638425"/>
            <a:ext cx="6724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官方服务商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SaaS /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代运营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分销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代办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技术开发。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229100" y="31242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CFEFF"/>
          </a:solidFill>
        </p:spPr>
        <p:txBody>
          <a:bodyPr/>
          <a:p/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450" y="3257550"/>
            <a:ext cx="247650" cy="247650"/>
          </a:xfrm>
          <a:prstGeom prst="rect">
            <a:avLst/>
          </a:prstGeom>
        </p:spPr>
      </p:pic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895850" y="3124200"/>
            <a:ext cx="6724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服务对象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895850" y="3409950"/>
            <a:ext cx="6724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企业商家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个人讲师，资质审核按主体区分。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229100" y="389572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2450" y="4029075"/>
            <a:ext cx="247650" cy="247650"/>
          </a:xfrm>
          <a:prstGeom prst="rect">
            <a:avLst/>
          </a:prstGeom>
        </p:spPr>
      </p:pic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895850" y="3895725"/>
            <a:ext cx="6724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资质要求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4895850" y="4181475"/>
            <a:ext cx="6724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ICP/EDI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、文网证、服务商认证、等保三级、资金分账。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229100" y="46672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CFEFF"/>
          </a:solidFill>
        </p:spPr>
        <p:txBody>
          <a:bodyPr/>
          <a:p/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62450" y="4800600"/>
            <a:ext cx="247650" cy="247650"/>
          </a:xfrm>
          <a:prstGeom prst="rect">
            <a:avLst/>
          </a:prstGeom>
        </p:spPr>
      </p:pic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4895850" y="4667250"/>
            <a:ext cx="6724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责任与收益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4895850" y="4953000"/>
            <a:ext cx="6724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KYC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、质检、未成年人保护；抽佣、订阅、服务费。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业务模式（怎么帮）&lt;/Text&gt;&#10;      &lt;/Box&gt;&#10;      &lt;Text style={{ fontSize: 14, color: '#94A3B8' }}&gt;模式 · 02&lt;/Text&gt;&#10;    &lt;/Box&gt;&#10;    &lt;Box style={{ flex: 1, padding: '16px 60px 0', flexDirection: 'column', gap: 16, justifyContent: 'center' }}&gt;&#10;      &lt;Box style={{ flex: 1, flexDirection: 'row', gap: 16 }}&gt;&#10;        &lt;Box style={{ flex: 1, padding: '16px 20px', borderRadius: 14, background: '#F8FAFC', borderTop: '4px solid #2F6FED' }}&gt;&#10;          &lt;Text style={{ fontSize: 21, fontWeight: 'bold', color: '#1F2937' }}&gt;官方服务商 / 招商&lt;/Text&gt;&#10;          &lt;Text style={{ fontSize: 15, color: '#475569', marginTop: 8, lineHeight: 1.5 }}&gt;带商家入驻抖店挂课，0 门槛代送审上架，免商家自办 ICP / 保证金。&lt;/Text&gt;&#10;        &lt;/Box&gt;&#10;        &lt;Box style={{ flex: 1, padding: '16px 20px', borderRadius: 14, background: '#F8FAFC', borderTop: '4px solid #2F6FED' }}&gt;&#10;          &lt;Text style={{ fontSize: 21, fontWeight: 'bold', color: '#1F2937' }}&gt;知识付费 SaaS&lt;/Text&gt;&#10;          &lt;Text style={{ fontSize: 15, color: '#475569', marginTop: 8, lineHeight: 1.5 }}&gt;小鹅通、千聊：开课 + 交易履约 + 私域沉淀，平台承担底层资质。&lt;/Text&gt;&#10;        &lt;/Box&gt;&#10;        &lt;Box style={{ flex: 1, padding: '16px 20px', borderRadius: 14, background: '#F8FAFC', borderTop: '4px solid #2F6FED' }}&gt;&#10;          &lt;Text style={{ fontSize: 21, fontWeight: 'bold', color: '#1F2937' }}&gt;代运营服务&lt;/Text&gt;&#10;          &lt;Text style={{ fontSize: 15, color: '#475569', marginTop: 8, lineHeight: 1.5 }}&gt;账号定位、爆款内容、直播排品、投流代投（巨量引擎 / 本地推）。&lt;/Text&gt;&#10;        &lt;/Box&gt;&#10;      &lt;/Box&gt;&#10;      &lt;Box style={{ flex: 1, flexDirection: 'row', gap: 16 }}&gt;&#10;        &lt;Box style={{ flex: 1, padding: '16px 20px', borderRadius: 14, background: '#F8FAFC', borderTop: '4px solid #0891B2' }}&gt;&#10;          &lt;Text style={{ fontSize: 21, fontWeight: 'bold', color: '#1F2937' }}&gt;分销团长 / 精选联盟&lt;/Text&gt;&#10;          &lt;Text style={{ fontSize: 15, color: '#475569', marginTop: 8, lineHeight: 1.5 }}&gt;组织达人矩阵分销课程，赚佣金差价，佣金自动结算到抖音钱包。&lt;/Text&gt;&#10;        &lt;/Box&gt;&#10;        &lt;Box style={{ flex: 1, padding: '16px 20px', borderRadius: 14, background: '#F8FAFC', borderTop: '4px solid #0891B2' }}&gt;&#10;          &lt;Text style={{ fontSize: 21, fontWeight: 'bold', color: '#1F2937' }}&gt;资质 / 报白代办&lt;/Text&gt;&#10;          &lt;Text style={{ fontSize: 15, color: '#475569', marginTop: 8, lineHeight: 1.5 }}&gt;帮企业过教培类目报白与准入，代办 ICP、办学备案、出版物许可。&lt;/Text&gt;&#10;        &lt;/Box&gt;&#10;        &lt;Box style={{ flex: 1, padding: '16px 20px', borderRadius: 14, background: '#F8FAFC', borderTop: '4px solid #0891B2' }}&gt;&#10;          &lt;Text style={{ fontSize: 21, fontWeight: 'bold', color: '#1F2937' }}&gt;技术代开发&lt;/Text&gt;&#10;          &lt;Text style={{ fontSize: 15, color: '#475569', marginTop: 8, lineHeight: 1.5 }}&gt;开放平台 API 对接抖店 / 课堂，小程序 / H5 定制与数据看板搭建。&lt;/Text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3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4" name="圆角矩形 53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781050" y="457200"/>
            <a:ext cx="29146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业务模式（怎么帮）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02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>
            <p:custDataLst>
              <p:tags r:id="rId1"/>
            </p:custDataLst>
          </p:nvPr>
        </p:nvSpPr>
        <p:spPr>
          <a:xfrm>
            <a:off x="571500" y="1238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58" name="任意多边形 57"/>
          <p:cNvSpPr/>
          <p:nvPr>
            <p:custDataLst>
              <p:tags r:id="rId2"/>
            </p:custDataLst>
          </p:nvPr>
        </p:nvSpPr>
        <p:spPr>
          <a:xfrm>
            <a:off x="571500" y="1238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62000" y="1390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官方服务商</a:t>
            </a:r>
            <a:r>
              <a:rPr lang="en-US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招商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62000" y="1714500"/>
            <a:ext cx="3200400" cy="120269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带商家入驻抖店挂课，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0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门槛代送审上架，免商家自办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ICP /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保证金。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帮你在抖音把"卖课店铺"开起来，流程全包</a:t>
            </a: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>
            <p:custDataLst>
              <p:tags r:id="rId5"/>
            </p:custDataLst>
          </p:nvPr>
        </p:nvSpPr>
        <p:spPr>
          <a:xfrm>
            <a:off x="4305300" y="1238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62" name="任意多边形 61"/>
          <p:cNvSpPr/>
          <p:nvPr>
            <p:custDataLst>
              <p:tags r:id="rId6"/>
            </p:custDataLst>
          </p:nvPr>
        </p:nvSpPr>
        <p:spPr>
          <a:xfrm>
            <a:off x="4305300" y="1238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495800" y="1390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知识付费</a:t>
            </a:r>
            <a:r>
              <a:rPr lang="en-US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SaaS</a:t>
            </a:r>
            <a:endParaRPr lang="en-US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495800" y="1714500"/>
            <a:ext cx="3200400" cy="95504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小鹅通、千聊：开课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交易履约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私域沉淀，平台承担底层资质。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（卖你一套开课卖课的软件，自己经营）</a:t>
            </a:r>
            <a:endParaRPr lang="zh-CN" altLang="en-US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>
            <p:custDataLst>
              <p:tags r:id="rId9"/>
            </p:custDataLst>
          </p:nvPr>
        </p:nvSpPr>
        <p:spPr>
          <a:xfrm>
            <a:off x="8039100" y="1238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66" name="任意多边形 65"/>
          <p:cNvSpPr/>
          <p:nvPr>
            <p:custDataLst>
              <p:tags r:id="rId10"/>
            </p:custDataLst>
          </p:nvPr>
        </p:nvSpPr>
        <p:spPr>
          <a:xfrm>
            <a:off x="8039100" y="1238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8229600" y="1390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代运营服务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8229600" y="1714500"/>
            <a:ext cx="3200400" cy="121983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账号定位、爆款内容、直播排品、投流代投（巨量引擎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本地推）。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雇人替你把整个抖音号跑起来</a:t>
            </a: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>
            <p:custDataLst>
              <p:tags r:id="rId13"/>
            </p:custDataLst>
          </p:nvPr>
        </p:nvSpPr>
        <p:spPr>
          <a:xfrm>
            <a:off x="571500" y="3905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70" name="任意多边形 69"/>
          <p:cNvSpPr/>
          <p:nvPr>
            <p:custDataLst>
              <p:tags r:id="rId14"/>
            </p:custDataLst>
          </p:nvPr>
        </p:nvSpPr>
        <p:spPr>
          <a:xfrm>
            <a:off x="571500" y="3905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762000" y="4057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分销团长</a:t>
            </a:r>
            <a:r>
              <a:rPr lang="en-US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精选联盟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762000" y="4381500"/>
            <a:ext cx="3200400" cy="911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组织达人矩阵分销课程，赚佣金差价，佣金自动结算到抖音钱包。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找一群达人帮你卖，卖出一单给一单佣金</a:t>
            </a:r>
            <a:r>
              <a:rPr 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>
            <p:custDataLst>
              <p:tags r:id="rId17"/>
            </p:custDataLst>
          </p:nvPr>
        </p:nvSpPr>
        <p:spPr>
          <a:xfrm>
            <a:off x="4305300" y="3905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74" name="任意多边形 73"/>
          <p:cNvSpPr/>
          <p:nvPr>
            <p:custDataLst>
              <p:tags r:id="rId18"/>
            </p:custDataLst>
          </p:nvPr>
        </p:nvSpPr>
        <p:spPr>
          <a:xfrm>
            <a:off x="4305300" y="3905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4495800" y="4057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资质</a:t>
            </a:r>
            <a:r>
              <a:rPr lang="en-US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报白代办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4495800" y="4381500"/>
            <a:ext cx="3200400" cy="88138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帮企业过教培类目报白与准入，代办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ICP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、办学备案、出版物许可。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替你跑各种证照和平台准入手续</a:t>
            </a:r>
            <a:r>
              <a:rPr lang="en-US" alt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>
            <p:custDataLst>
              <p:tags r:id="rId21"/>
            </p:custDataLst>
          </p:nvPr>
        </p:nvSpPr>
        <p:spPr>
          <a:xfrm>
            <a:off x="8039100" y="3905250"/>
            <a:ext cx="358140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78" name="任意多边形 77"/>
          <p:cNvSpPr/>
          <p:nvPr>
            <p:custDataLst>
              <p:tags r:id="rId22"/>
            </p:custDataLst>
          </p:nvPr>
        </p:nvSpPr>
        <p:spPr>
          <a:xfrm>
            <a:off x="8039100" y="3905250"/>
            <a:ext cx="3581400" cy="2514600"/>
          </a:xfrm>
          <a:custGeom>
            <a:avLst/>
            <a:gdLst/>
            <a:ahLst/>
            <a:cxnLst/>
            <a:pathLst>
              <a:path w="376" h="264">
                <a:moveTo>
                  <a:pt x="363" y="0"/>
                </a:moveTo>
                <a:cubicBezTo>
                  <a:pt x="369" y="0"/>
                  <a:pt x="374" y="5"/>
                  <a:pt x="376" y="11"/>
                </a:cubicBezTo>
                <a:cubicBezTo>
                  <a:pt x="374" y="7"/>
                  <a:pt x="370" y="4"/>
                  <a:pt x="36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8229600" y="4057650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技术代开发</a:t>
            </a:r>
            <a:endParaRPr lang="zh-CN" sz="157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8229600" y="4381500"/>
            <a:ext cx="3200400" cy="90932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开放平台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对接抖店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课堂，小程序</a:t>
            </a: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H5 </a:t>
            </a: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定制与数据看板搭建。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按你的需求定制系统、对接抖音接口</a:t>
            </a:r>
            <a:r>
              <a:rPr lang="en-US" altLang="zh-CN" sz="1125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125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03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服务对象：企业 vs 个人讲师&lt;/Text&gt;&#10;      &lt;/Box&gt;&#10;      &lt;Text style={{ fontSize: 14, color: '#94A3B8' }}&gt;对象 · 03&lt;/Text&gt;&#10;    &lt;/Box&gt;&#10;    &lt;Box style={{ flex: 1, padding: '16px 60px 0', flexDirection: 'row', gap: 28 }}&gt;&#10;      &lt;Box style={{ width: '54%', padding: '22px 26px', borderRadius: 16, background: '#EFF6FF', borderTop: '4px solid #2F6FED' }}&gt;&#10;        &lt;Text style={{ fontSize: 24, fontWeight: 'bold', color: '#1F2937' }}&gt;企业商家（蓝）&lt;/Text&gt;&#10;        &lt;Box style={{ marginTop: 16, gap: 12 }}&gt;&#10;          &lt;Text style={{ fontSize: 17, color: '#334155', lineHeight: 1.5 }}&gt;· 走营业执照 + 办学 / ICP 全套资质&lt;/Text&gt;&#10;          &lt;Text style={{ fontSize: 17, color: '#334155', lineHeight: 1.5 }}&gt;· 适合机构、品牌、重交付与控价&lt;/Text&gt;&#10;          &lt;Text style={{ fontSize: 17, color: '#334155', lineHeight: 1.5 }}&gt;· 平台提供企业认证、分账、数据看板&lt;/Text&gt;&#10;          &lt;Text style={{ fontSize: 17, color: '#334155', lineHeight: 1.5 }}&gt;· KYC 核验执照、办学许可、讲师资质&lt;/Text&gt;&#10;        &lt;/Box&gt;&#10;      &lt;/Box&gt;&#10;      &lt;Box style={{ flex: 1, padding: '22px 26px', borderRadius: 16, background: '#ECFEFF', borderTop: '4px solid #0891B2' }}&gt;&#10;        &lt;Text style={{ fontSize: 24, fontWeight: 'bold', color: '#1F2937' }}&gt;个人讲师（青）&lt;/Text&gt;&#10;        &lt;Box style={{ marginTop: 16, gap: 12 }}&gt;&#10;          &lt;Text style={{ fontSize: 17, color: '#334155', lineHeight: 1.5 }}&gt;· 走平台免 ICP，凭身份 + 讲师证&lt;/Text&gt;&#10;          &lt;Text style={{ fontSize: 17, color: '#334155', lineHeight: 1.5 }}&gt;· 适合个人 IP、轻量起步、快速验证&lt;/Text&gt;&#10;          &lt;Text style={{ fontSize: 17, color: '#334155', lineHeight: 1.5 }}&gt;· 平台承担底层资质，降低入驻门槛&lt;/Text&gt;&#10;          &lt;Text style={{ fontSize: 17, color: '#334155', lineHeight: 1.5 }}&gt;· KYC 核验身份信息与讲师资质&lt;/Text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4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5" name="圆角矩形 84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81050" y="457200"/>
            <a:ext cx="41052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服务对象：企业</a:t>
            </a:r>
            <a:r>
              <a:rPr lang="en-US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个人讲师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03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571500" y="1238250"/>
            <a:ext cx="5962650" cy="5181600"/>
          </a:xfrm>
          <a:prstGeom prst="roundRect">
            <a:avLst>
              <a:gd name="adj" fmla="val 2941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89" name="任意多边形 88"/>
          <p:cNvSpPr/>
          <p:nvPr/>
        </p:nvSpPr>
        <p:spPr>
          <a:xfrm>
            <a:off x="571500" y="1238250"/>
            <a:ext cx="5962650" cy="5181600"/>
          </a:xfrm>
          <a:custGeom>
            <a:avLst/>
            <a:gdLst/>
            <a:ahLst/>
            <a:cxnLst/>
            <a:pathLst>
              <a:path w="626" h="544">
                <a:moveTo>
                  <a:pt x="611" y="0"/>
                </a:moveTo>
                <a:cubicBezTo>
                  <a:pt x="618" y="0"/>
                  <a:pt x="624" y="5"/>
                  <a:pt x="625" y="13"/>
                </a:cubicBezTo>
                <a:cubicBezTo>
                  <a:pt x="624" y="7"/>
                  <a:pt x="619" y="4"/>
                  <a:pt x="614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19150" y="1447800"/>
            <a:ext cx="5467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企业商家（蓝）</a:t>
            </a:r>
            <a:endParaRPr lang="zh-CN" sz="18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19150" y="1876425"/>
            <a:ext cx="5467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走营业执照</a:t>
            </a: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办学</a:t>
            </a: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/ ICP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全套资质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19150" y="2286000"/>
            <a:ext cx="5467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适合机构、品牌、重交付与控价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819150" y="2695575"/>
            <a:ext cx="5467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平台提供企业认证、分账、数据看板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819150" y="3105150"/>
            <a:ext cx="5467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KYC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核验执照、办学许可、讲师资质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6800850" y="1238250"/>
            <a:ext cx="4819650" cy="5181600"/>
          </a:xfrm>
          <a:prstGeom prst="roundRect">
            <a:avLst>
              <a:gd name="adj" fmla="val 3162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96" name="任意多边形 95"/>
          <p:cNvSpPr/>
          <p:nvPr/>
        </p:nvSpPr>
        <p:spPr>
          <a:xfrm>
            <a:off x="6800850" y="1238250"/>
            <a:ext cx="4819650" cy="5181600"/>
          </a:xfrm>
          <a:custGeom>
            <a:avLst/>
            <a:gdLst/>
            <a:ahLst/>
            <a:cxnLst/>
            <a:pathLst>
              <a:path w="506" h="544">
                <a:moveTo>
                  <a:pt x="491" y="0"/>
                </a:moveTo>
                <a:cubicBezTo>
                  <a:pt x="498" y="0"/>
                  <a:pt x="504" y="5"/>
                  <a:pt x="505" y="13"/>
                </a:cubicBezTo>
                <a:cubicBezTo>
                  <a:pt x="504" y="7"/>
                  <a:pt x="499" y="4"/>
                  <a:pt x="494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490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7048500" y="1447800"/>
            <a:ext cx="4324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个人讲师（青）</a:t>
            </a:r>
            <a:endParaRPr lang="zh-CN" sz="18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7048500" y="1876425"/>
            <a:ext cx="4324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走平台免</a:t>
            </a: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ICP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，凭身份</a:t>
            </a: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讲师证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048500" y="2286000"/>
            <a:ext cx="4324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适合个人</a:t>
            </a: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IP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、轻量起步、快速验证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048500" y="2695575"/>
            <a:ext cx="4324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平台承担底层资质，降低入驻门槛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7048500" y="3105150"/>
            <a:ext cx="4324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· KYC </a:t>
            </a:r>
            <a:r>
              <a:rPr lang="zh-CN" sz="127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核验身份信息与讲师资质</a:t>
            </a:r>
            <a:endParaRPr lang="zh-CN" sz="127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04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0891B2', borderRadius: 3 }} /&gt;&#10;        &lt;Text style={{ fontSize: 34, fontWeight: 'bold', color: '#1F2937' }}&gt;平台方资质要求&lt;/Text&gt;&#10;      &lt;/Box&gt;&#10;      &lt;Text style={{ fontSize: 14, color: '#94A3B8' }}&gt;资质 · 04&lt;/Text&gt;&#10;    &lt;/Box&gt;&#10;    &lt;Box style={{ flex: 1, padding: '14px 60px 0', flexDirection: 'column', justifyContent: 'center', gap: 14 }}&gt;&#10;      &lt;Box style={{ borderRadius: 12, overflow: 'hidden', border: '1px solid #E2E8F0' }}&gt;&#10;        &lt;Table&#10;          style={{ width: '100%', height: 380 }}&#10;          defaultTextStyle={{ fontSize: 15, textAlign: 'left', color: '#334155' }}&#10;          defaultCellStyle={{ border: { left: { width: 1, color: '#E2E8F0' }, right: { width: 1, color: '#E2E8F0' }, top: { width: 1, color: '#E2E8F0' }, bottom: { width: 1, color: '#E2E8F0' } }, background: { color: '#FFFFFF' }, padding: '0 14px' }}&#10;          cells={[&#10;            [&#10;              { text: '资质', textStyle: { bold: true, color: '#FFFFFF', fontSize: 15 }, cellStyle: { background: { color: '#2F6FED' } } },&#10;              { text: '适用场景', textStyle: { bold: true, color: '#FFFFFF', fontSize: 15 }, cellStyle: { background: { color: '#2F6FED' } } },&#10;              { text: '要点', textStyle: { bold: true, color: '#FFFFFF', fontSize: 15 }, cellStyle: { background: { color: '#2F6FED' } } },&#10;            ],&#10;            [{ text: 'ICP 许可证 / EDI', textStyle: { bold: true, color: '#1F2937' } }, '经营性平台', '注册资本≥100万，承载交易结算'],&#10;            [{ text: '网络文化经营许可证', textStyle: { bold: true, color: '#1F2937' } }, '音视频 / 直播内容', '需具备内容审核制度与机制'],&#10;            [{ text: '抖音服务商 / ISM 认证', textStyle: { bold: true, color: '#1F2937' } }, '官方准入', '通过平台资质与能力审核'],&#10;            [{ text: '等保三级', textStyle: { bold: true, color: '#1F2937' } }, '用户规模 &gt; 1 万', '数据安全，符合《个人信息保护法》'],&#10;            [{ text: '资金监管 / 分账', textStyle: { bold: true, color: '#1F2937' } }, '合规结算', '资金存管与分账能力'],&#10;            [{ text: '内容审核机制', textStyle: { bold: true, color: '#1F2937' } }, '平台义务', 'AI + 人工双审，留存审核记录'],&#10;          ]}&#10;        /&gt;&#10;      &lt;/Box&gt;&#10;      &lt;Box style={{ flexDirection: 'row', gap: 14, alignItems: 'center', padding: '14px 18px', borderRadius: 12, background: '#ECFEFF', borderLeft: '4px solid #0891B2' }}&gt;&#10;        &lt;FAIcon name='info-circle' style={{ fill: '#0891B2', width: 24, height: 24 }} /&gt;&#10;        &lt;Text style={{ fontSize: 16, color: '#155E75', lineHeight: 1.6 }}&gt;平台方自己要先合规：自身 ICP / 文网证齐全，才能替商家&quot;免办&quot;。这是 2026 合规红利的门槛，也是壁垒。&lt;/Text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5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06" name="圆角矩形 105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</p:spPr>
        <p:txBody>
          <a:bodyPr/>
          <a:p/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81050" y="457200"/>
            <a:ext cx="2266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平台方资质要求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资质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04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571500" y="1628775"/>
            <a:ext cx="11049000" cy="3619500"/>
          </a:xfrm>
          <a:prstGeom prst="roundRect">
            <a:avLst>
              <a:gd name="adj" fmla="val 3158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10" name="表格 109"/>
          <p:cNvGraphicFramePr/>
          <p:nvPr/>
        </p:nvGraphicFramePr>
        <p:xfrm>
          <a:off x="571500" y="1628775"/>
          <a:ext cx="11049000" cy="3619500"/>
        </p:xfrm>
        <a:graphic>
          <a:graphicData uri="http://schemas.openxmlformats.org/drawingml/2006/table">
            <a:tbl>
              <a:tblPr/>
              <a:tblGrid>
                <a:gridCol w="3338226"/>
                <a:gridCol w="2648677"/>
                <a:gridCol w="5062097"/>
              </a:tblGrid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资质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适用场景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要点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6FED"/>
                    </a:solidFill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ICP 许可证 / EDI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经营性平台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注册资本≥100万，承载交易结算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网络文化经营许可证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音视频 / 直播内容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需具备内容审核制度与机制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抖音服务商 / ISM 认证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官方准入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通过平台资质与能力审核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等保三级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用户规模 &gt; 1 万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数据安全，符合《个人信息保护法》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资金监管 / 分账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合规结算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资金存管与分账能力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707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内容审核机制</a:t>
                      </a:r>
                      <a:endParaRPr sz="1125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平台义务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+ 人工双审，留存审核记录</a:t>
                      </a:r>
                      <a:endParaRPr sz="112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1" name="圆角矩形 110"/>
          <p:cNvSpPr/>
          <p:nvPr/>
        </p:nvSpPr>
        <p:spPr>
          <a:xfrm>
            <a:off x="609600" y="5381625"/>
            <a:ext cx="11049000" cy="561975"/>
          </a:xfrm>
          <a:prstGeom prst="roundRect">
            <a:avLst>
              <a:gd name="adj" fmla="val 20339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112" name="任意多边形 111"/>
          <p:cNvSpPr/>
          <p:nvPr/>
        </p:nvSpPr>
        <p:spPr>
          <a:xfrm>
            <a:off x="609600" y="5381625"/>
            <a:ext cx="11049000" cy="561975"/>
          </a:xfrm>
          <a:custGeom>
            <a:avLst/>
            <a:gdLst/>
            <a:ahLst/>
            <a:cxnLst/>
            <a:pathLst>
              <a:path w="1160" h="5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1"/>
                </a:lnTo>
                <a:cubicBezTo>
                  <a:pt x="4" y="55"/>
                  <a:pt x="7" y="58"/>
                  <a:pt x="10" y="59"/>
                </a:cubicBezTo>
                <a:cubicBezTo>
                  <a:pt x="4" y="58"/>
                  <a:pt x="0" y="53"/>
                  <a:pt x="0" y="4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5553075"/>
            <a:ext cx="228600" cy="228600"/>
          </a:xfrm>
          <a:prstGeom prst="rect">
            <a:avLst/>
          </a:prstGeom>
        </p:spPr>
      </p:pic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143000" y="5514975"/>
            <a:ext cx="727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平台方自己要先合规：自身</a:t>
            </a:r>
            <a:r>
              <a:rPr lang="en-US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 ICP / </a:t>
            </a:r>
            <a:r>
              <a:rPr lang="zh-CN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文网证齐全，才能替商家</a:t>
            </a:r>
            <a:r>
              <a:rPr lang="en-US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免办</a:t>
            </a:r>
            <a:r>
              <a:rPr lang="en-US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。这是</a:t>
            </a:r>
            <a:r>
              <a:rPr lang="en-US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sz="12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</a:rPr>
              <a:t>合规红利的门槛，也是壁垒。</a:t>
            </a:r>
            <a:endParaRPr lang="zh-CN" sz="12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05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2F6FED', borderRadius: 3 }} /&gt;&#10;        &lt;Text style={{ fontSize: 34, fontWeight: 'bold', color: '#1F2937' }}&gt;责任与义务&lt;/Text&gt;&#10;      &lt;/Box&gt;&#10;      &lt;Text style={{ fontSize: 14, color: '#94A3B8' }}&gt;责任 · 05&lt;/Text&gt;&#10;    &lt;/Box&gt;&#10;    &lt;Box style={{ flex: 1, padding: '14px 60px 0', flexDirection: 'row', gap: 40 }}&gt;&#10;      &lt;Box style={{ width: 320, justifyContent: 'center' }}&gt;&#10;        &lt;Text style={{ fontSize: 24, fontWeight: 'bold', color: '#1F2937', lineHeight: 1.5 }}&gt;帮人卖课，&lt;Text style={{ color: '#DC2626' }}&gt;责任更大&lt;/Text&gt;&lt;/Text&gt;&#10;        &lt;Text style={{ fontSize: 17, color: '#64748B', marginTop: 18, lineHeight: 1.9 }}&gt;&#10;          平台是合规的第一责任人。&lt;br/&gt;商家出了事，平台连带担责。&lt;br/&gt;这五项义务，是平台能&lt;br/&gt;长期经营的底线能力。&#10;        &lt;/Text&gt;&#10;      &lt;/Box&gt;&#10;      &lt;Box style={{ flex: 1, justifyContent: 'center', gap: 14 }}&gt;&#10;        &lt;Box style={{ flexDirection: 'row', gap: 14, alignItems: 'flex-start', padding: '11px 16px', borderRadius: 10, background: '#F8FAFC' }}&gt;&#10;          &lt;FAIcon name='id-card' style={{ fill: '#2F6FED', width: 22, height: 22 }} /&gt;&#10;          &lt;Box&gt;&lt;Text style={{ fontSize: 18, fontWeight: 'bold', color: '#1F2937' }}&gt;商家 KYC 与资质审核&lt;/Text&gt;&lt;Text style={{ fontSize: 15, color: '#64748B', marginTop: 2 }}&gt;不得为无证 / 禁售类商家开课。&lt;/Text&gt;&lt;/Box&gt;&#10;        &lt;/Box&gt;&#10;        &lt;Box style={{ flexDirection: 'row', gap: 14, alignItems: 'flex-start', padding: '11px 16px', borderRadius: 10, background: '#F8FAFC' }}&gt;&#10;          &lt;FAIcon name='search' style={{ fill: '#2F6FED', width: 22, height: 22 }} /&gt;&#10;          &lt;Box&gt;&lt;Text style={{ fontSize: 18, fontWeight: 'bold', color: '#1F2937' }}&gt;课程质检与违规拦截&lt;/Text&gt;&lt;Text style={{ fontSize: 15, color: '#64748B', marginTop: 2 }}&gt;防虚假宣传、夸大收益、极限词。&lt;/Text&gt;&lt;/Box&gt;&#10;        &lt;/Box&gt;&#10;        &lt;Box style={{ flexDirection: 'row', gap: 14, alignItems: 'flex-start', padding: '11px 16px', borderRadius: 10, background: '#F8FAFC' }}&gt;&#10;          &lt;FAIcon name='child' style={{ fill: '#DC2626', width: 22, height: 22 }} /&gt;&#10;          &lt;Box&gt;&lt;Text style={{ fontSize: 18, fontWeight: 'bold', color: '#1F2937' }}&gt;未成年人保护&lt;/Text&gt;&lt;Text style={{ fontSize: 15, color: '#64748B', marginTop: 2 }}&gt;K12 学科类禁售排查与阻断。&lt;/Text&gt;&lt;/Box&gt;&#10;        &lt;/Box&gt;&#10;        &lt;Box style={{ flexDirection: 'row', gap: 14, alignItems: 'flex-start', padding: '11px 16px', borderRadius: 10, background: '#F8FAFC' }}&gt;&#10;          &lt;FAIcon name='shield-alt' style={{ fill: '#2F6FED', width: 22, height: 22 }} /&gt;&#10;          &lt;Box&gt;&lt;Text style={{ fontSize: 18, fontWeight: 'bold', color: '#1F2937' }}&gt;售后履约监管&lt;/Text&gt;&lt;Text style={{ fontSize: 15, color: '#64748B', marginTop: 2 }}&gt;452 天售后 / 退款，防卷款跑路。&lt;/Text&gt;&lt;/Box&gt;&#10;        &lt;/Box&gt;&#10;        &lt;Box style={{ flexDirection: 'row', gap: 14, alignItems: 'flex-start', padding: '11px 16px', borderRadius: 10, background: '#F8FAFC' }}&gt;&#10;          &lt;FAIcon name='file-invoice-dollar' style={{ fill: '#2F6FED', width: 22, height: 22 }} /&gt;&#10;          &lt;Box&gt;&lt;Text style={{ fontSize: 18, fontWeight: 'bold', color: '#1F2937' }}&gt;税务与上报&lt;/Text&gt;&lt;Text style={{ fontSize: 15, color: '#64748B', marginTop: 2 }}&gt;依法代扣代缴、营收合规上报。&lt;/Text&gt;&lt;/Box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6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 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9" name="圆角矩形 118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81050" y="457200"/>
            <a:ext cx="16192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责任与义务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责任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05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571500" y="2743200"/>
            <a:ext cx="3048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帮人卖课，</a:t>
            </a:r>
            <a:r>
              <a:rPr lang="zh-CN" sz="1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责任更大</a:t>
            </a:r>
            <a:endParaRPr lang="zh-CN" sz="18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571500" y="3333750"/>
            <a:ext cx="3048000" cy="1485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平台是合规的第一责任人。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商家出了事，平台连带担责。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这五项义务，是平台能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长期经营的底线能力。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4000500" y="199072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2900" y="2095500"/>
            <a:ext cx="209550" cy="209550"/>
          </a:xfrm>
          <a:prstGeom prst="rect">
            <a:avLst/>
          </a:prstGeom>
        </p:spPr>
      </p:pic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495800" y="2095500"/>
            <a:ext cx="200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商家</a:t>
            </a:r>
            <a:r>
              <a:rPr lang="en-US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KYC </a:t>
            </a: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与资质审核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495800" y="2324100"/>
            <a:ext cx="200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不得为无证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禁售类商家开课。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4000500" y="273367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2900" y="2838450"/>
            <a:ext cx="209550" cy="209550"/>
          </a:xfrm>
          <a:prstGeom prst="rect">
            <a:avLst/>
          </a:prstGeom>
        </p:spPr>
      </p:pic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4495800" y="2838450"/>
            <a:ext cx="2143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课程质检与违规拦截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4495800" y="3067050"/>
            <a:ext cx="2143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防虚假宣传、夸大收益、极限词。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4000500" y="347662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2900" y="3581400"/>
            <a:ext cx="209550" cy="209550"/>
          </a:xfrm>
          <a:prstGeom prst="rect">
            <a:avLst/>
          </a:prstGeom>
        </p:spPr>
      </p:pic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4495800" y="3581400"/>
            <a:ext cx="1876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未成年人保护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4495800" y="3810000"/>
            <a:ext cx="1876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K12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学科类禁售排查与阻断。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4000500" y="421957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2900" y="4324350"/>
            <a:ext cx="209550" cy="209550"/>
          </a:xfrm>
          <a:prstGeom prst="rect">
            <a:avLst/>
          </a:prstGeom>
        </p:spPr>
      </p:pic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495800" y="4324350"/>
            <a:ext cx="2162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售后履约监管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4495800" y="4552950"/>
            <a:ext cx="2162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452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天售后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退款，防卷款跑路。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4000500" y="4962525"/>
            <a:ext cx="76200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52900" y="5067300"/>
            <a:ext cx="209550" cy="209550"/>
          </a:xfrm>
          <a:prstGeom prst="rect">
            <a:avLst/>
          </a:prstGeom>
        </p:spPr>
      </p:pic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4495800" y="5067300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税务与上报</a:t>
            </a:r>
            <a:endParaRPr lang="zh-CN" sz="13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4495800" y="5295900"/>
            <a:ext cx="2000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依法代扣代缴、营收合规上报。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06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0891B2', borderRadius: 3 }} /&gt;&#10;        &lt;Text style={{ fontSize: 34, fontWeight: 'bold', color: '#1F2937' }}&gt;收益模式&lt;/Text&gt;&#10;      &lt;/Box&gt;&#10;      &lt;Text style={{ fontSize: 14, color: '#94A3B8' }}&gt;收益 · 06&lt;/Text&gt;&#10;    &lt;/Box&gt;&#10;    &lt;Box style={{ flex: 1, padding: '20px 60px 0', flexDirection: 'row', gap: 20, justifyContent: 'center', alignItems: 'center' }}&gt;&#10;      &lt;Box style={{ flex: 1, height: 320, padding: '24px 22px', borderRadius: 16, background: '#F8FAFC', borderTop: '4px solid #0891B2', justifyContent: 'space-between' }}&gt;&#10;        &lt;FAIcon name='percentage' style={{ fill: '#0891B2', width: 36, height: 36 }} /&gt;&#10;        &lt;Box&gt;&#10;          &lt;Text style={{ fontSize: 23, fontWeight: 'bold', color: '#1F2937' }}&gt;GMV 抽佣&lt;/Text&gt;&#10;          &lt;Text style={{ fontSize: 16, color: '#475569', marginTop: 10, lineHeight: 1.6 }}&gt;按交易额分成（常见 5%~20%），含抖店平台服务费与支付通道费。&lt;/Text&gt;&#10;        &lt;/Box&gt;&#10;      &lt;/Box&gt;&#10;      &lt;Box style={{ flex: 1, height: 320, padding: '24px 22px', borderRadius: 16, background: '#F8FAFC', borderTop: '4px solid #2F6FED', justifyContent: 'space-between' }}&gt;&#10;        &lt;FAIcon name='calendar-check' style={{ fill: '#2F6FED', width: 36, height: 36 }} /&gt;&#10;        &lt;Box&gt;&#10;          &lt;Text style={{ fontSize: 23, fontWeight: 'bold', color: '#1F2937' }}&gt;SaaS 订阅费&lt;/Text&gt;&#10;          &lt;Text style={{ fontSize: 16, color: '#475569', marginTop: 10, lineHeight: 1.6 }}&gt;按席位 / 功能包收年费，进阶工具（AI、分账）增值收费。&lt;/Text&gt;&#10;        &lt;/Box&gt;&#10;      &lt;/Box&gt;&#10;      &lt;Box style={{ flex: 1, height: 320, padding: '24px 22px', borderRadius: 16, background: '#F8FAFC', borderTop: '4px solid #0891B2', justifyContent: 'space-between' }}&gt;&#10;        &lt;FAIcon name='lock' style={{ fill: '#0891B2', width: 36, height: 36 }} /&gt;&#10;        &lt;Box&gt;&#10;          &lt;Text style={{ fontSize: 23, fontWeight: 'bold', color: '#1F2937' }}&gt;保证金 / 技术服务费&lt;/Text&gt;&#10;          &lt;Text style={{ fontSize: 16, color: '#475569', marginTop: 10, lineHeight: 1.6 }}&gt;类目保证金（可退）沉淀，一次性接入 / 技术部署费。&lt;/Text&gt;&#10;        &lt;/Box&gt;&#10;      &lt;/Box&gt;&#10;      &lt;Box style={{ flex: 1, height: 320, padding: '24px 22px', borderRadius: 16, background: '#F8FAFC', borderTop: '4px solid #2F6FED', justifyContent: 'space-between' }}&gt;&#10;        &lt;FAIcon name='bullhorn' style={{ fill: '#2F6FED', width: 36, height: 36 }} /&gt;&#10;        &lt;Box&gt;&#10;          &lt;Text style={{ fontSize: 23, fontWeight: 'bold', color: '#1F2937' }}&gt;代运营服务费&lt;/Text&gt;&#10;          &lt;Text style={{ fontSize: 16, color: '#475569', marginTop: 10, lineHeight: 1.6 }}&gt;月度代运营费 + 效果分成，投流代充值服务费。&lt;/Text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7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8" name="圆角矩形 147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781050" y="457200"/>
            <a:ext cx="12954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收益模式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收益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571500" y="2324100"/>
            <a:ext cx="2619375" cy="3009900"/>
          </a:xfrm>
          <a:prstGeom prst="roundRect">
            <a:avLst>
              <a:gd name="adj" fmla="val 581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52" name="任意多边形 151"/>
          <p:cNvSpPr/>
          <p:nvPr/>
        </p:nvSpPr>
        <p:spPr>
          <a:xfrm>
            <a:off x="571500" y="2324100"/>
            <a:ext cx="2619375" cy="3009900"/>
          </a:xfrm>
          <a:custGeom>
            <a:avLst/>
            <a:gdLst/>
            <a:ahLst/>
            <a:cxnLst/>
            <a:pathLst>
              <a:path w="275" h="316">
                <a:moveTo>
                  <a:pt x="260" y="0"/>
                </a:moveTo>
                <a:cubicBezTo>
                  <a:pt x="267" y="0"/>
                  <a:pt x="273" y="5"/>
                  <a:pt x="274" y="13"/>
                </a:cubicBezTo>
                <a:cubicBezTo>
                  <a:pt x="273" y="7"/>
                  <a:pt x="268" y="4"/>
                  <a:pt x="263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2552700"/>
            <a:ext cx="342900" cy="342900"/>
          </a:xfrm>
          <a:prstGeom prst="rect">
            <a:avLst/>
          </a:prstGeom>
        </p:spPr>
      </p:pic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81050" y="3857625"/>
            <a:ext cx="22002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GMV </a:t>
            </a:r>
            <a:r>
              <a:rPr lang="zh-CN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抽佣</a:t>
            </a:r>
            <a:endParaRPr lang="zh-CN" sz="17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81050" y="4219575"/>
            <a:ext cx="2200275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按交易额分成（常见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5%~20%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），含抖店平台服务费与支付通道费。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3381375" y="2324100"/>
            <a:ext cx="2619375" cy="3009900"/>
          </a:xfrm>
          <a:prstGeom prst="roundRect">
            <a:avLst>
              <a:gd name="adj" fmla="val 581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57" name="任意多边形 156"/>
          <p:cNvSpPr/>
          <p:nvPr/>
        </p:nvSpPr>
        <p:spPr>
          <a:xfrm>
            <a:off x="3381375" y="2324100"/>
            <a:ext cx="2619375" cy="3009900"/>
          </a:xfrm>
          <a:custGeom>
            <a:avLst/>
            <a:gdLst/>
            <a:ahLst/>
            <a:cxnLst/>
            <a:pathLst>
              <a:path w="275" h="316">
                <a:moveTo>
                  <a:pt x="260" y="0"/>
                </a:moveTo>
                <a:cubicBezTo>
                  <a:pt x="267" y="0"/>
                  <a:pt x="273" y="5"/>
                  <a:pt x="274" y="13"/>
                </a:cubicBezTo>
                <a:cubicBezTo>
                  <a:pt x="273" y="7"/>
                  <a:pt x="268" y="4"/>
                  <a:pt x="263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0925" y="2552700"/>
            <a:ext cx="342900" cy="342900"/>
          </a:xfrm>
          <a:prstGeom prst="rect">
            <a:avLst/>
          </a:prstGeom>
        </p:spPr>
      </p:pic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3590925" y="4152900"/>
            <a:ext cx="22002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SaaS </a:t>
            </a:r>
            <a:r>
              <a:rPr lang="zh-CN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订阅费</a:t>
            </a:r>
            <a:endParaRPr lang="zh-CN" sz="17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590925" y="4514850"/>
            <a:ext cx="22002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按席位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功能包收年费，进阶工具（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、分账）增值收费。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圆角矩形 160"/>
          <p:cNvSpPr/>
          <p:nvPr/>
        </p:nvSpPr>
        <p:spPr>
          <a:xfrm>
            <a:off x="6191250" y="2324100"/>
            <a:ext cx="2619375" cy="3009900"/>
          </a:xfrm>
          <a:prstGeom prst="roundRect">
            <a:avLst>
              <a:gd name="adj" fmla="val 581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2" name="任意多边形 161"/>
          <p:cNvSpPr/>
          <p:nvPr/>
        </p:nvSpPr>
        <p:spPr>
          <a:xfrm>
            <a:off x="6191250" y="2324100"/>
            <a:ext cx="2619375" cy="3009900"/>
          </a:xfrm>
          <a:custGeom>
            <a:avLst/>
            <a:gdLst/>
            <a:ahLst/>
            <a:cxnLst/>
            <a:pathLst>
              <a:path w="275" h="316">
                <a:moveTo>
                  <a:pt x="260" y="0"/>
                </a:moveTo>
                <a:cubicBezTo>
                  <a:pt x="267" y="0"/>
                  <a:pt x="273" y="5"/>
                  <a:pt x="274" y="13"/>
                </a:cubicBezTo>
                <a:cubicBezTo>
                  <a:pt x="273" y="7"/>
                  <a:pt x="268" y="4"/>
                  <a:pt x="263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0891B2"/>
          </a:solidFill>
        </p:spPr>
        <p:txBody>
          <a:bodyPr/>
          <a:p/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2552700"/>
            <a:ext cx="342900" cy="342900"/>
          </a:xfrm>
          <a:prstGeom prst="rect">
            <a:avLst/>
          </a:prstGeom>
        </p:spPr>
      </p:pic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400800" y="4152900"/>
            <a:ext cx="22002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保证金</a:t>
            </a:r>
            <a:r>
              <a:rPr lang="en-US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技术服务费</a:t>
            </a:r>
            <a:endParaRPr lang="zh-CN" sz="17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6400800" y="4514850"/>
            <a:ext cx="22002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类目保证金（可退）沉淀，一次性接入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技术部署费。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9001125" y="2324100"/>
            <a:ext cx="2619375" cy="3009900"/>
          </a:xfrm>
          <a:prstGeom prst="roundRect">
            <a:avLst>
              <a:gd name="adj" fmla="val 581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7" name="任意多边形 166"/>
          <p:cNvSpPr/>
          <p:nvPr/>
        </p:nvSpPr>
        <p:spPr>
          <a:xfrm>
            <a:off x="9001125" y="2324100"/>
            <a:ext cx="2619375" cy="3009900"/>
          </a:xfrm>
          <a:custGeom>
            <a:avLst/>
            <a:gdLst/>
            <a:ahLst/>
            <a:cxnLst/>
            <a:pathLst>
              <a:path w="275" h="316">
                <a:moveTo>
                  <a:pt x="260" y="0"/>
                </a:moveTo>
                <a:cubicBezTo>
                  <a:pt x="267" y="0"/>
                  <a:pt x="273" y="5"/>
                  <a:pt x="274" y="13"/>
                </a:cubicBezTo>
                <a:cubicBezTo>
                  <a:pt x="273" y="7"/>
                  <a:pt x="268" y="4"/>
                  <a:pt x="263" y="4"/>
                </a:cubicBezTo>
                <a:lnTo>
                  <a:pt x="12" y="4"/>
                </a:lnTo>
                <a:cubicBezTo>
                  <a:pt x="7" y="4"/>
                  <a:pt x="2" y="8"/>
                  <a:pt x="0" y="13"/>
                </a:cubicBezTo>
                <a:cubicBezTo>
                  <a:pt x="2" y="5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2F6FED"/>
          </a:solidFill>
        </p:spPr>
        <p:txBody>
          <a:bodyPr/>
          <a:p/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10675" y="2552700"/>
            <a:ext cx="342900" cy="342900"/>
          </a:xfrm>
          <a:prstGeom prst="rect">
            <a:avLst/>
          </a:prstGeom>
        </p:spPr>
      </p:pic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9210675" y="4152900"/>
            <a:ext cx="22002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代运营服务费</a:t>
            </a:r>
            <a:endParaRPr lang="zh-CN" sz="17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9210675" y="4514850"/>
            <a:ext cx="22002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月度代运营费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效果分成，投流代充值服务费。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07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 descr="&lt;Slide style={{ padding: 0, background: '#0F172A' }}&gt;&#10;  &lt;Box style={{ height: '100%', justifyContent: 'center', padding: '0 90px' }}&gt;&#10;    &lt;Box style={{ padding: '8px 20px', borderRadius: 20, background: 'rgba(34,211,238,0.16)', alignSelf: 'flex-start' }}&gt;&#10;      &lt;Text style={{ fontSize: 20, color: '#67E8F9', letterSpacing: 4 }}&gt;2026 趋势&lt;/Text&gt;&#10;    &lt;/Box&gt;&#10;    &lt;Text style={{ fontSize: 72, fontWeight: 'bold', color: '#FFFFFF', marginTop: 24 }}&gt;&#10;      规则收紧 &lt;Text style={{ color: '#22D3EE' }}&gt;=&lt;/Text&gt; 合规红利&#10;    &lt;/Text&gt;&#10;    &lt;Text style={{ fontSize: 24, color: '#CBD5E1', marginTop: 26, lineHeight: 1.8 }}&gt;&#10;      &quot;人人都能卖课&quot;的时代正在结束——合规、有资质、走正规通道者，才能吃到公域流量。&#10;    &lt;/Text&gt;&#10;    &lt;Box style={{ marginTop: 40, flexDirection: 'row', gap: 22 }}&gt;&#10;      &lt;Box style={{ flex: 1, padding: '20px 20px', borderRadius: 14, background: 'rgba(255,255,255,0.08)' }}&gt;&#10;        &lt;Text style={{ fontSize: 19, fontWeight: 'bold', color: '#67E8F9' }}&gt;流量集中&lt;/Text&gt;&#10;        &lt;Text style={{ fontSize: 16, color: '#CBD5E1', marginTop: 8, lineHeight: 1.6 }}&gt;K12 禁售 + 教培邀约制，流量向合规平台聚拢。&lt;/Text&gt;&#10;      &lt;/Box&gt;&#10;      &lt;Box style={{ flex: 1, padding: '20px 20px', borderRadius: 14, background: 'rgba(255,255,255,0.08)' }}&gt;&#10;        &lt;Text style={{ fontSize: 19, fontWeight: 'bold', color: '#67E8F9' }}&gt;份额重构&lt;/Text&gt;&#10;        &lt;Text style={{ fontSize: 16, color: '#CBD5E1', marginTop: 8, lineHeight: 1.6 }}&gt;有资质者承接被清退者的市场空白。&lt;/Text&gt;&#10;      &lt;/Box&gt;&#10;      &lt;Box style={{ flex: 1, padding: '20px 20px', borderRadius: 14, background: 'rgba(255,255,255,0.08)' }}&gt;&#10;        &lt;Text style={{ fontSize: 19, fontWeight: 'bold', color: '#67E8F9' }}&gt;服务溢价&lt;/Text&gt;&#10;        &lt;Text style={{ fontSize: 16, color: '#CBD5E1', marginTop: 8, lineHeight: 1.6 }}&gt;平台替商家承担合规，换来持续服务费空间。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175" name="圆角矩形 174"/>
          <p:cNvSpPr/>
          <p:nvPr/>
        </p:nvSpPr>
        <p:spPr>
          <a:xfrm>
            <a:off x="857250" y="1514475"/>
            <a:ext cx="1533525" cy="381000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47750" y="1590675"/>
            <a:ext cx="1152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500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趋势</a:t>
            </a:r>
            <a:endParaRPr lang="zh-CN" sz="1500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57250" y="2124075"/>
            <a:ext cx="104775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规则收紧</a:t>
            </a:r>
            <a:r>
              <a:rPr lang="en-US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合规红利</a:t>
            </a:r>
            <a:endParaRPr lang="zh-CN"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857250" y="3200400"/>
            <a:ext cx="104775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8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8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人人都能卖课</a:t>
            </a:r>
            <a:r>
              <a:rPr lang="en-US" sz="18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8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的时代正在结束——合规、有资质、走正规通道者，才能吃到公域流量。</a:t>
            </a:r>
            <a:endParaRPr lang="zh-CN" sz="18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857250" y="4076700"/>
            <a:ext cx="3352800" cy="1266825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1047750" y="4267200"/>
            <a:ext cx="2971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流量集中</a:t>
            </a:r>
            <a:endParaRPr lang="zh-CN" sz="142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047750" y="4562475"/>
            <a:ext cx="29718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K12 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禁售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教培邀约制，流量向合规平台聚拢。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4419600" y="4076700"/>
            <a:ext cx="3352800" cy="1266825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610100" y="4267200"/>
            <a:ext cx="2971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份额重构</a:t>
            </a:r>
            <a:endParaRPr lang="zh-CN" sz="142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4610100" y="4562475"/>
            <a:ext cx="29718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有资质者承接被清退者的市场空白。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7981950" y="4076700"/>
            <a:ext cx="3352800" cy="1266825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172450" y="4267200"/>
            <a:ext cx="2971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服务溢价</a:t>
            </a:r>
            <a:endParaRPr lang="zh-CN" sz="142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172450" y="4562475"/>
            <a:ext cx="29718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平台替商家承担合规，换来持续服务费空间。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 descr="&lt;Slide style={{ padding: 0, background: '#FFFFFF' }}&gt;&#10;  &lt;Box style={{ height: '100%', display: 'flex', flexDirection: 'column' }}&gt;&#10;    &lt;Box style={{ height: 110, padding: '26px 60px 0', flexDirection: 'row', alignItems: 'center', justifyContent: 'space-between' }}&gt;&#10;      &lt;Box style={{ flexDirection: 'row', alignItems: 'center', gap: 16 }}&gt;&#10;        &lt;Box style={{ width: 6, height: 36, background: '#DC2626', borderRadius: 3 }} /&gt;&#10;        &lt;Text style={{ fontSize: 34, fontWeight: 'bold', color: '#1F2937' }}&gt;风险与边界&lt;/Text&gt;&#10;      &lt;/Box&gt;&#10;      &lt;Text style={{ fontSize: 14, color: '#94A3B8' }}&gt;风险 · 07&lt;/Text&gt;&#10;    &lt;/Box&gt;&#10;    &lt;Box style={{ flex: 1, padding: '14px 60px 0', flexDirection: 'row', gap: 40 }}&gt;&#10;      &lt;Box style={{ width: 320, justifyContent: 'center' }}&gt;&#10;        &lt;Text style={{ fontSize: 24, fontWeight: 'bold', color: '#DC2626', lineHeight: 1.5 }}&gt;红利的另一面&lt;/Text&gt;&#10;        &lt;Text style={{ fontSize: 17, color: '#64748B', marginTop: 18, lineHeight: 1.9 }}&gt;&#10;          合规是壁垒，也是责任。&lt;br/&gt;平台若把关不严，&lt;br/&gt;一次暴雷就可能全网下架。&lt;br/&gt;这四类风险必须前置设防。&#10;        &lt;/Text&gt;&#10;      &lt;/Box&gt;&#10;      &lt;Box style={{ flex: 1, justifyContent: 'center', gap: 16 }}&gt;&#10;        &lt;Box style={{ flexDirection: 'row', gap: 14, alignItems: 'flex-start', padding: '12px 16px', borderRadius: 10, background: '#FEF2F2' }}&gt;&#10;          &lt;FAIcon name='balance-scale' style={{ fill: '#DC2626', width: 24, height: 24 }} /&gt;&#10;          &lt;Box&gt;&lt;Text style={{ fontSize: 19, fontWeight: 'bold', color: '#1F2937' }}&gt;连带责任&lt;/Text&gt;&lt;Text style={{ fontSize: 15, color: '#64748B', marginTop: 3 }}&gt;商家违规，平台同责，非&quot;中介免责&quot;。&lt;/Text&gt;&lt;/Box&gt;&#10;        &lt;/Box&gt;&#10;        &lt;Box style={{ flexDirection: 'row', gap: 14, alignItems: 'flex-start', padding: '12px 16px', borderRadius: 10, background: '#FEF2F2' }}&gt;&#10;          &lt;FAIcon name='user-secret' style={{ fill: '#DC2626', width: 24, height: 24 }} /&gt;&#10;          &lt;Box&gt;&lt;Text style={{ fontSize: 19, fontWeight: 'bold', color: '#1F2937' }}&gt;资质造假 / 挂靠&lt;/Text&gt;&lt;Text style={{ fontSize: 15, color: '#64748B', marginTop: 3 }}&gt;一旦暴雷，关联店铺全网下架。&lt;/Text&gt;&lt;/Box&gt;&#10;        &lt;/Box&gt;&#10;        &lt;Box style={{ flexDirection: 'row', gap: 14, alignItems: 'flex-start', padding: '12px 16px', borderRadius: 10, background: '#FEF2F2' }}&gt;&#10;          &lt;FAIcon name='money-bill-wave' style={{ fill: '#DC2626', width: 24, height: 24 }} /&gt;&#10;          &lt;Box&gt;&lt;Text style={{ fontSize: 19, fontWeight: 'bold', color: '#1F2937' }}&gt;资金池 / 二清&lt;/Text&gt;&lt;Text style={{ fontSize: 15, color: '#64748B', marginTop: 3 }}&gt;无证资金结算涉嫌违规，须持牌分账。&lt;/Text&gt;&lt;/Box&gt;&#10;        &lt;/Box&gt;&#10;        &lt;Box style={{ flexDirection: 'row', gap: 14, alignItems: 'flex-start', padding: '12px 16px', borderRadius: 10, background: '#FEF2F2' }}&gt;&#10;          &lt;FAIcon name='copyright' style={{ fill: '#DC2626', width: 24, height: 24 }} /&gt;&#10;          &lt;Box&gt;&lt;Text style={{ fontSize: 19, fontWeight: 'bold', color: '#1F2937' }}&gt;内容侵权&lt;/Text&gt;&lt;Text style={{ fontSize: 15, color: '#64748B', marginTop: 3 }}&gt;课件版权纠纷，平台需举证已审核。&lt;/Text&gt;&lt;/Box&gt;&#10;        &lt;/Box&gt;&#10;      &lt;/Box&gt;&#10;    &lt;/Box&gt;&#10;    &lt;Box style={{ height: 50, padding: '0 60px', flexDirection: 'row', justifyContent: 'space-between', alignItems: 'center' }}&gt;&#10;      &lt;Text style={{ fontSize: 14, color: '#94A3B8' }}&gt;平台方帮卖课 · 企业 vs 个人&lt;/Text&gt;&#10;      &lt;Text style={{ fontSize: 14, color: '#94A3B8' }}&gt;09 / 10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0" name="圆角矩形 189"/>
          <p:cNvSpPr/>
          <p:nvPr/>
        </p:nvSpPr>
        <p:spPr>
          <a:xfrm>
            <a:off x="571500" y="4857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81050" y="457200"/>
            <a:ext cx="16192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风险与边界</a:t>
            </a:r>
            <a:endParaRPr lang="zh-CN" sz="255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11077575" y="571500"/>
            <a:ext cx="542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风险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07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571500" y="2743200"/>
            <a:ext cx="3048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红利的另一面</a:t>
            </a:r>
            <a:endParaRPr lang="zh-CN" sz="18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71500" y="3333750"/>
            <a:ext cx="3048000" cy="1485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合规是壁垒，也是责任。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平台若把关不严，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一次暴雷就可能全网下架。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这四类风险必须前置设防。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4000500" y="22574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</p:spPr>
        <p:txBody>
          <a:bodyPr/>
          <a:p/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2900" y="2371725"/>
            <a:ext cx="228600" cy="228600"/>
          </a:xfrm>
          <a:prstGeom prst="rect">
            <a:avLst/>
          </a:prstGeom>
        </p:spPr>
      </p:pic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514850" y="2371725"/>
            <a:ext cx="2419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连带责任</a:t>
            </a:r>
            <a:endParaRPr lang="zh-CN" sz="14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514850" y="2619375"/>
            <a:ext cx="2419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商家违规，平台同责，非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中介免责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4000500" y="30575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</p:spPr>
        <p:txBody>
          <a:bodyPr/>
          <a:p/>
        </p:txBody>
      </p:sp>
      <p:pic>
        <p:nvPicPr>
          <p:cNvPr id="200" name="图片 19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2900" y="3171825"/>
            <a:ext cx="228600" cy="228600"/>
          </a:xfrm>
          <a:prstGeom prst="rect">
            <a:avLst/>
          </a:prstGeom>
        </p:spPr>
      </p:pic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14850" y="3171825"/>
            <a:ext cx="2000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资质造假</a:t>
            </a:r>
            <a:r>
              <a:rPr lang="en-US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挂靠</a:t>
            </a:r>
            <a:endParaRPr lang="zh-CN" sz="14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514850" y="3419475"/>
            <a:ext cx="2000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一旦暴雷，关联店铺全网下架。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4000500" y="38576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</p:spPr>
        <p:txBody>
          <a:bodyPr/>
          <a:p/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2900" y="3971925"/>
            <a:ext cx="228600" cy="228600"/>
          </a:xfrm>
          <a:prstGeom prst="rect">
            <a:avLst/>
          </a:prstGeom>
        </p:spPr>
      </p:pic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514850" y="3971925"/>
            <a:ext cx="24288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资金池</a:t>
            </a:r>
            <a:r>
              <a:rPr lang="en-US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二清</a:t>
            </a:r>
            <a:endParaRPr lang="zh-CN" sz="14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514850" y="4219575"/>
            <a:ext cx="2428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无证资金结算涉嫌违规，须持牌分账。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4000500" y="4657725"/>
            <a:ext cx="7620000" cy="647700"/>
          </a:xfrm>
          <a:prstGeom prst="roundRect">
            <a:avLst>
              <a:gd name="adj" fmla="val 14706"/>
            </a:avLst>
          </a:prstGeom>
          <a:solidFill>
            <a:srgbClr val="FEF2F2"/>
          </a:solidFill>
        </p:spPr>
        <p:txBody>
          <a:bodyPr/>
          <a:p/>
        </p:txBody>
      </p:sp>
      <p:pic>
        <p:nvPicPr>
          <p:cNvPr id="208" name="图片 20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2900" y="4772025"/>
            <a:ext cx="228600" cy="228600"/>
          </a:xfrm>
          <a:prstGeom prst="rect">
            <a:avLst/>
          </a:prstGeom>
        </p:spPr>
      </p:pic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4514850" y="4772025"/>
            <a:ext cx="2286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内容侵权</a:t>
            </a:r>
            <a:endParaRPr lang="zh-CN" sz="1425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514850" y="5019675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课件版权纠纷，平台需举证已审核。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71500" y="6543675"/>
            <a:ext cx="1657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1163300" y="65436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09 / 10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 descr="&lt;Slide style={{ padding: 0, background: '#0F172A' }}&gt;&#10;  &lt;Box style={{ height: '100%', justifyContent: 'center', alignItems: 'center', padding: '0 90px' }}&gt;&#10;    &lt;Text style={{ fontSize: 20, color: '#67E8F9', letterSpacing: 4 }}&gt;落地建议&lt;/Text&gt;&#10;    &lt;Text style={{ fontSize: 56, fontWeight: 'bold', color: '#FFFFFF', marginTop: 24, textAlign: 'center' }}&gt;&#10;      做厚合规，才能做长生意&#10;    &lt;/Text&gt;&#10;    &lt;Box style={{ marginTop: 44, flexDirection: 'row', gap: 22 }}&gt;&#10;      &lt;Box style={{ width: 300, padding: '22px 20px', borderRadius: 16, background: 'rgba(47,111,237,0.16)' }}&gt;&#10;        &lt;Text style={{ fontSize: 22, fontWeight: 'bold', color: '#93C5FD' }}&gt;① 资质办齐&lt;/Text&gt;&#10;        &lt;Text style={{ fontSize: 16, color: '#CBD5E1', marginTop: 10, lineHeight: 1.6 }}&gt;自身 ICP / 文网证 / 服务商认证先到位，才有&quot;替人免办&quot;的资格。&lt;/Text&gt;&#10;      &lt;/Box&gt;&#10;      &lt;Box style={{ width: 300, padding: '22px 20px', borderRadius: 16, background: 'rgba(8,145,178,0.18)' }}&gt;&#10;        &lt;Text style={{ fontSize: 22, fontWeight: 'bold', color: '#67E8F9' }}&gt;② 能力系统化&lt;/Text&gt;&#10;        &lt;Text style={{ fontSize: 16, color: '#CBD5E1', marginTop: 10, lineHeight: 1.6 }}&gt;把 KYC、课程质检、未成年人保护做成自动化能力，而非人工兜底。&lt;/Text&gt;&#10;      &lt;/Box&gt;&#10;      &lt;Box style={{ width: 300, padding: '22px 20px', borderRadius: 16, background: 'rgba(255,255,255,0.10)' }}&gt;&#10;        &lt;Text style={{ fontSize: 22, fontWeight: 'bold', color: '#FFFFFF' }}&gt;③ 用合规换收益&lt;/Text&gt;&#10;        &lt;Text style={{ fontSize: 16, color: '#CBD5E1', marginTop: 10, lineHeight: 1.6 }}&gt;以合规服务换取长期订阅费与抽佣，而非一次性流量快钱。&lt;/Text&gt;&#10;      &lt;/Box&gt;&#10;    &lt;/Box&gt;&#10;    &lt;Text style={{ fontSize: 16, color: '#64748B', marginTop: 40 }}&gt;平台方帮卖课 · 企业 vs 个人 · 202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638800" y="1704975"/>
            <a:ext cx="914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落地建议</a:t>
            </a:r>
            <a:endParaRPr lang="zh-CN" sz="1500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3162300" y="2162175"/>
            <a:ext cx="5867400" cy="6477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做厚合规，才能做长生意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60020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2F6FED">
              <a:alpha val="16000"/>
            </a:srgbClr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790700" y="3438525"/>
            <a:ext cx="247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6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资质办齐</a:t>
            </a:r>
            <a:endParaRPr lang="zh-CN" sz="1650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790700" y="3790950"/>
            <a:ext cx="2476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自身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ICP / 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文网证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服务商认证先到位，才有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替人免办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的资格。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66725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0891B2">
              <a:alpha val="18000"/>
            </a:srgbClr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4857750" y="3438525"/>
            <a:ext cx="247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6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能力系统化</a:t>
            </a:r>
            <a:endParaRPr lang="zh-CN" sz="1650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4857750" y="3790950"/>
            <a:ext cx="2476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 KYC</a:t>
            </a: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、课程质检、未成年人保护做成自动化能力，而非人工兜底。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734300" y="3228975"/>
            <a:ext cx="2857500" cy="1362075"/>
          </a:xfrm>
          <a:prstGeom prst="roundRect">
            <a:avLst>
              <a:gd name="adj" fmla="val 11189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7924800" y="3438525"/>
            <a:ext cx="247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用合规换收益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7924800" y="3790950"/>
            <a:ext cx="2476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以合规服务换取长期订阅费与抽佣，而非一次性流量快钱。</a:t>
            </a:r>
            <a:endParaRPr lang="zh-CN" sz="12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4905375" y="4972050"/>
            <a:ext cx="238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平台方帮卖课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个人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endParaRPr lang="en-US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3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4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5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6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7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8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9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0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1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2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3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4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5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6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7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8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19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0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1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2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3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ags/tag24.xml><?xml version="1.0" encoding="utf-8"?>
<p:tagLst xmlns:p="http://schemas.openxmlformats.org/presentationml/2006/main">
  <p:tag name="KSO_WM_DIAGRAM_VIRTUALLY_FRAME" val="{&quot;height&quot;:408,&quot;left&quot;:45,&quot;top&quot;:97.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2039</Words>
  <Application>WPS 演示</Application>
  <PresentationFormat/>
  <Paragraphs>288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施胜非</cp:lastModifiedBy>
  <cp:revision>1</cp:revision>
  <dcterms:created xsi:type="dcterms:W3CDTF">2026-08-08T01:54:56Z</dcterms:created>
  <dcterms:modified xsi:type="dcterms:W3CDTF">2026-08-08T01:54:59Z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47291C33846C4DF1B0973BEA8B69777B_12</vt:lpwstr>
  </property>
</Properties>
</file>