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80" r:id="rId12"/>
    <p:sldId id="281" r:id="rId13"/>
    <p:sldId id="282" r:id="rId14"/>
    <p:sldId id="283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hyperlink" Target="https://developer.open-douyin.com/forum/bulletin/post/669dce2768a0c340143c1118" TargetMode="External"/><Relationship Id="rId5" Type="http://schemas.openxmlformats.org/officeDocument/2006/relationships/hyperlink" Target="https://developer.open-douyin.com/docs/resource/zh-CN/mini-app/operation/service-category/Categories" TargetMode="External"/><Relationship Id="rId4" Type="http://schemas.openxmlformats.org/officeDocument/2006/relationships/hyperlink" Target="https://partner.open-douyin.com/docs/resource/zh-CN/mini-app/operation/industry-norm/pan-knowledge/fanzhishi/" TargetMode="External"/><Relationship Id="rId3" Type="http://schemas.openxmlformats.org/officeDocument/2006/relationships/hyperlink" Target="https://school.jinritemai.com/doudian/web/article/108893" TargetMode="External"/><Relationship Id="rId2" Type="http://schemas.openxmlformats.org/officeDocument/2006/relationships/hyperlink" Target="https://school.jinritemai.com/doudian/web/rules/11684" TargetMode="External"/><Relationship Id="rId1" Type="http://schemas.openxmlformats.org/officeDocument/2006/relationships/hyperlink" Target="https://school.jinritemai.com/doudian/web/article/107992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50292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38404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内容获客平台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+ 全域四平台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3840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400" b="1">
                <a:solidFill>
                  <a:srgbClr val="00C8FF"/>
                </a:solidFill>
                <a:latin typeface="微软雅黑" panose="020B0503020204020204" charset="-122"/>
              </a:rPr>
              <a:t>AI 内容工厂 · 交易闭环 · CRM</a:t>
            </a:r>
            <a:endParaRPr sz="14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38404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200" b="0">
                <a:solidFill>
                  <a:srgbClr val="B0C4D8"/>
                </a:solidFill>
                <a:latin typeface="微软雅黑" panose="020B0503020204020204" charset="-122"/>
              </a:rPr>
              <a:t>虚拟与服务先行 · 实物与门店后置</a:t>
            </a:r>
            <a:endParaRPr sz="1200" b="0">
              <a:solidFill>
                <a:srgbClr val="B0C4D8"/>
              </a:solidFill>
              <a:latin typeface="微软雅黑" panose="020B0503020204020204" charset="-122"/>
            </a:endParaRPr>
          </a:p>
          <a:p>
            <a:r>
              <a:rPr sz="1200" b="0">
                <a:solidFill>
                  <a:srgbClr val="B0C4D8"/>
                </a:solidFill>
                <a:latin typeface="微软雅黑" panose="020B0503020204020204" charset="-122"/>
              </a:rPr>
              <a:t>决策层汇报 · 对标小鹅通/千聊 · 路径 A/B 可选</a:t>
            </a:r>
            <a:endParaRPr sz="1200" b="0">
              <a:solidFill>
                <a:srgbClr val="B0C4D8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54880" y="0"/>
            <a:ext cx="7498079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0" y="137160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0" y="1371600"/>
            <a:ext cx="73152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155448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微软雅黑" panose="020B0503020204020204" charset="-122"/>
              </a:rPr>
              <a:t>多品类成交</a:t>
            </a:r>
            <a:endParaRPr sz="16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23560" y="1847088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课只是首发 SKU · 虚拟/服务通用权益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303520" y="246888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0" y="246888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265176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微软雅黑" panose="020B0503020204020204" charset="-122"/>
              </a:rPr>
              <a:t>全域四平台</a:t>
            </a:r>
            <a:endParaRPr sz="16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23560" y="2944368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抖音优先 · 分阶段扩至四端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303520" y="356616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0" y="3566160"/>
            <a:ext cx="73152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374904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1628"/>
                </a:solidFill>
                <a:latin typeface="微软雅黑" panose="020B0503020204020204" charset="-122"/>
              </a:rPr>
              <a:t>IP 内容获客</a:t>
            </a:r>
            <a:endParaRPr sz="16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23560" y="4041648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系列视频引流 → 平台成交履约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303520" y="466344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0" y="4663440"/>
            <a:ext cx="731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60" y="484632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600" b="1">
                <a:solidFill>
                  <a:srgbClr val="0A1628"/>
                </a:solidFill>
                <a:latin typeface="微软雅黑" panose="020B0503020204020204" charset="-122"/>
              </a:rPr>
              <a:t>三位一体闭环</a:t>
            </a:r>
            <a:endParaRPr sz="16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23560" y="5138928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AI 生产内容 → 平台成交履约 → CRM 持续经营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303520" y="6537960"/>
            <a:ext cx="6035040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0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内容框架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市场与竞品 → 三层方案 → 落地资质 → 获客闭环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1097280"/>
            <a:ext cx="10972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97280"/>
            <a:ext cx="822960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1732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00C8FF"/>
                </a:solidFill>
                <a:latin typeface="微软雅黑" panose="020B0503020204020204" charset="-122"/>
              </a:rPr>
              <a:t>01</a:t>
            </a:r>
            <a:endParaRPr sz="22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91640" y="1261872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11827"/>
                </a:solidFill>
                <a:latin typeface="微软雅黑" panose="020B0503020204020204" charset="-122"/>
              </a:rPr>
              <a:t>为什么现在做</a:t>
            </a:r>
            <a:endParaRPr sz="1800" b="1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91640" y="1645920"/>
            <a:ext cx="9326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B7280"/>
                </a:solidFill>
                <a:latin typeface="微软雅黑" panose="020B0503020204020204" charset="-122"/>
              </a:rPr>
              <a:t>市场缝隙 → 小鹅通/千聊拆解 → 挂课对比 → 战略选择</a:t>
            </a:r>
            <a:endParaRPr sz="13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2331720"/>
            <a:ext cx="10972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331720"/>
            <a:ext cx="822960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65176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00C8FF"/>
                </a:solidFill>
                <a:latin typeface="微软雅黑" panose="020B0503020204020204" charset="-122"/>
              </a:rPr>
              <a:t>02</a:t>
            </a:r>
            <a:endParaRPr sz="22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91640" y="2496312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11827"/>
                </a:solidFill>
                <a:latin typeface="微软雅黑" panose="020B0503020204020204" charset="-122"/>
              </a:rPr>
              <a:t>我们做什么</a:t>
            </a:r>
            <a:endParaRPr sz="1800" b="1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1640" y="2755900"/>
            <a:ext cx="9326880" cy="55816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sz="1600">
                <a:solidFill>
                  <a:srgbClr val="6B7280"/>
                </a:solidFill>
                <a:latin typeface="微软雅黑" panose="020B0503020204020204" charset="-122"/>
              </a:rPr>
              <a:t>① 平台三层（商家多店）  ② 智能体分期</a:t>
            </a:r>
            <a:endParaRPr sz="1600">
              <a:solidFill>
                <a:srgbClr val="6B7280"/>
              </a:solidFill>
              <a:latin typeface="微软雅黑" panose="020B0503020204020204" charset="-122"/>
              <a:sym typeface="+mn-ea"/>
            </a:endParaRPr>
          </a:p>
          <a:p>
            <a:r>
              <a:rPr sz="1600">
                <a:solidFill>
                  <a:srgbClr val="6B7280"/>
                </a:solidFill>
                <a:latin typeface="微软雅黑" panose="020B0503020204020204" charset="-122"/>
              </a:rPr>
              <a:t>③ 商城首期 + 交易合规  ④ 四平台分阶段挂载</a:t>
            </a:r>
            <a:endParaRPr sz="160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0080" y="3566160"/>
            <a:ext cx="10972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566160"/>
            <a:ext cx="822960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8862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00C8FF"/>
                </a:solidFill>
                <a:latin typeface="微软雅黑" panose="020B0503020204020204" charset="-122"/>
              </a:rPr>
              <a:t>03</a:t>
            </a:r>
            <a:endParaRPr sz="22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91640" y="3730752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11827"/>
                </a:solidFill>
                <a:latin typeface="微软雅黑" panose="020B0503020204020204" charset="-122"/>
              </a:rPr>
              <a:t>怎么落地</a:t>
            </a:r>
            <a:endParaRPr sz="1800" b="1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91640" y="4114800"/>
            <a:ext cx="9326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B7280"/>
                </a:solidFill>
                <a:latin typeface="微软雅黑" panose="020B0503020204020204" charset="-122"/>
              </a:rPr>
              <a:t>双链路 Mx → 政策 → 角色闭环 → 邀约 → 准备 → 技术 → 里程碑 → 差异化</a:t>
            </a:r>
            <a:endParaRPr sz="13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0080" y="4800600"/>
            <a:ext cx="10972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800600"/>
            <a:ext cx="822960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12064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00C8FF"/>
                </a:solidFill>
                <a:latin typeface="微软雅黑" panose="020B0503020204020204" charset="-122"/>
              </a:rPr>
              <a:t>04</a:t>
            </a:r>
            <a:endParaRPr sz="22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91640" y="4965192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11827"/>
                </a:solidFill>
                <a:latin typeface="微软雅黑" panose="020B0503020204020204" charset="-122"/>
              </a:rPr>
              <a:t>怎么获客闭环</a:t>
            </a:r>
            <a:endParaRPr sz="1800" b="1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691640" y="5349240"/>
            <a:ext cx="9326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B7280"/>
                </a:solidFill>
                <a:latin typeface="微软雅黑" panose="020B0503020204020204" charset="-122"/>
              </a:rPr>
              <a:t>IP内容矩阵 → Plan B → 场景 → 启动</a:t>
            </a:r>
            <a:endParaRPr sz="13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市场判断 · 为什么不做「另一个小鹅通」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1181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知识付费仍大 · 流量红利消退 · 差异化切入才有窗口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10972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97280"/>
            <a:ext cx="26517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28016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>
                <a:solidFill>
                  <a:srgbClr val="8B5CF6"/>
                </a:solidFill>
                <a:latin typeface="微软雅黑" panose="020B0503020204020204" charset="-122"/>
              </a:rPr>
              <a:t>18万+</a:t>
            </a:r>
            <a:endParaRPr sz="2600" b="1">
              <a:solidFill>
                <a:srgbClr val="8B5CF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17830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小鹅通付费客户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474720" y="10972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1097280"/>
            <a:ext cx="2651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128016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>
                <a:solidFill>
                  <a:srgbClr val="2563EB"/>
                </a:solidFill>
                <a:latin typeface="微软雅黑" panose="020B0503020204020204" charset="-122"/>
              </a:rPr>
              <a:t>3699元</a:t>
            </a:r>
            <a:endParaRPr sz="26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11880" y="17830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千聊年费单档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09360" y="10972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097280"/>
            <a:ext cx="26517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28016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>
                <a:solidFill>
                  <a:srgbClr val="06B6D4"/>
                </a:solidFill>
                <a:latin typeface="微软雅黑" panose="020B0503020204020204" charset="-122"/>
              </a:rPr>
              <a:t>2026</a:t>
            </a:r>
            <a:endParaRPr sz="26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46520" y="17830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教培类目定向邀约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144000" y="10972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97280"/>
            <a:ext cx="265176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128016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>
                <a:solidFill>
                  <a:srgbClr val="F43F5E"/>
                </a:solidFill>
                <a:latin typeface="微软雅黑" panose="020B0503020204020204" charset="-122"/>
              </a:rPr>
              <a:t>低</a:t>
            </a:r>
            <a:endParaRPr sz="2600" b="1">
              <a:solidFill>
                <a:srgbClr val="F43F5E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81160" y="17830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正面全功能对标胜算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" y="246888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2468880"/>
            <a:ext cx="73152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2606040"/>
            <a:ext cx="22860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微软雅黑" panose="020B0503020204020204" charset="-122"/>
              </a:rPr>
              <a:t>机会窗口</a:t>
            </a:r>
            <a:endParaRPr sz="14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91840" y="265176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轻量上手 + 多平台能挂 + 买完能履约 · 不拼功能大全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0080" y="333756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3337560"/>
            <a:ext cx="73152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474720"/>
            <a:ext cx="22860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微软雅黑" panose="020B0503020204020204" charset="-122"/>
              </a:rPr>
              <a:t>市场阶段</a:t>
            </a:r>
            <a:endParaRPr sz="14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91840" y="352044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从流量红利进入精细化运营 · 中小创作者/服务商家被高门槛劝退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40080" y="420624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4206240"/>
            <a:ext cx="73152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343400"/>
            <a:ext cx="22860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微软雅黑" panose="020B0503020204020204" charset="-122"/>
              </a:rPr>
              <a:t>政策背景</a:t>
            </a:r>
            <a:endParaRPr sz="14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291840" y="438912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抖音/小红书教育类目收紧 · 官方通道与合规店铺更重要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40080" y="507492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074920"/>
            <a:ext cx="73152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212080"/>
            <a:ext cx="22860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微软雅黑" panose="020B0503020204020204" charset="-122"/>
              </a:rPr>
              <a:t>战略一句话</a:t>
            </a:r>
            <a:endParaRPr sz="14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291840" y="5257800"/>
            <a:ext cx="8046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不正面打小鹅通广度 · 不硬拼千聊最低价 · 做内容获客的中间带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竞品地图 · 五类玩家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内容平台强在课 · 电商强在货 · 我们做内容获客中间带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1097280"/>
            <a:ext cx="10972800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170432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类型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60320" y="1170432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代表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0" y="1170432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强项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0" y="1170432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短板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155448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1554480"/>
            <a:ext cx="73152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755648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A1628"/>
                </a:solidFill>
                <a:latin typeface="微软雅黑" panose="020B0503020204020204" charset="-122"/>
              </a:rPr>
              <a:t>全链路私域</a:t>
            </a:r>
            <a:endParaRPr sz="12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60320" y="1755648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8B5CF6"/>
                </a:solidFill>
                <a:latin typeface="微软雅黑" panose="020B0503020204020204" charset="-122"/>
              </a:rPr>
              <a:t>小鹅通</a:t>
            </a:r>
            <a:endParaRPr sz="1200" b="1">
              <a:solidFill>
                <a:srgbClr val="8B5CF6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0" y="1755648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微信深 · 课与内容全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0" y="1755648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贵 · 重 · 偏内容交付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080" y="233172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331720"/>
            <a:ext cx="73152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2532888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A1628"/>
                </a:solidFill>
                <a:latin typeface="微软雅黑" panose="020B0503020204020204" charset="-122"/>
              </a:rPr>
              <a:t>全域低价挂课</a:t>
            </a:r>
            <a:endParaRPr sz="12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60320" y="2532888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563EB"/>
                </a:solidFill>
                <a:latin typeface="微软雅黑" panose="020B0503020204020204" charset="-122"/>
              </a:rPr>
              <a:t>千聊</a:t>
            </a:r>
            <a:endParaRPr sz="12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0" y="2532888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四平台官方店 · 免资质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600" y="2532888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品牌弱 · CRM 浅 · 偏课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" y="310896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108960"/>
            <a:ext cx="73152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310128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A1628"/>
                </a:solidFill>
                <a:latin typeface="微软雅黑" panose="020B0503020204020204" charset="-122"/>
              </a:rPr>
              <a:t>实物/门店电商</a:t>
            </a:r>
            <a:endParaRPr sz="12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560320" y="3310128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6B6D4"/>
                </a:solidFill>
                <a:latin typeface="微软雅黑" panose="020B0503020204020204" charset="-122"/>
              </a:rPr>
              <a:t>有赞/微盟</a:t>
            </a:r>
            <a:endParaRPr sz="12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72000" y="3310128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实物 · 门店 · 广告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29600" y="3310128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重 · 虚拟履约非主场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40080" y="388620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3886200"/>
            <a:ext cx="73152" cy="685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087368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A1628"/>
                </a:solidFill>
                <a:latin typeface="微软雅黑" panose="020B0503020204020204" charset="-122"/>
              </a:rPr>
              <a:t>垂直陪跑</a:t>
            </a:r>
            <a:endParaRPr sz="12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560320" y="4087368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6366F1"/>
                </a:solidFill>
                <a:latin typeface="微软雅黑" panose="020B0503020204020204" charset="-122"/>
              </a:rPr>
              <a:t>创客匠人等</a:t>
            </a:r>
            <a:endParaRPr sz="1200" b="1">
              <a:solidFill>
                <a:srgbClr val="6366F1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72000" y="4087368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行业 know-how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29600" y="4087368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难规模化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40080" y="46634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4663440"/>
            <a:ext cx="73152" cy="685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4864608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A1628"/>
                </a:solidFill>
                <a:latin typeface="微软雅黑" panose="020B0503020204020204" charset="-122"/>
              </a:rPr>
              <a:t>轻量/第三方</a:t>
            </a:r>
            <a:endParaRPr sz="12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560320" y="4864608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3F5E"/>
                </a:solidFill>
                <a:latin typeface="微软雅黑" panose="020B0503020204020204" charset="-122"/>
              </a:rPr>
              <a:t>课堂街等</a:t>
            </a:r>
            <a:endParaRPr sz="1200" b="1">
              <a:solidFill>
                <a:srgbClr val="F43F5E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0" y="4864608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门槛低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29600" y="4864608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非官方通道风险高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40080" y="557784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571500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我们切口：课是首发场景，不绑死只卖课 —— 虚拟/服务通用权益 + 公域挂载 + 自有端履约；实物/门店后置。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小鹅通拆解 · 全链路重方案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学履约闭环 · 不学功能大全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1097280"/>
            <a:ext cx="53035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97280"/>
            <a:ext cx="530352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170432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优势 Strengths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169164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微信私域闭环最深（小程序/企微/支付）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8 大内容形态 + 全链路营销助学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交付履约：订单→领课短信→小程序上课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退款自动关权益 · SCRM 线索分配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公域对接 6 平台+（抖/快/红/视频号/B站…）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0" y="1097280"/>
            <a:ext cx="53035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097280"/>
            <a:ext cx="5303520" cy="4114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170432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短板 Weaknesses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46520" y="169164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基础版 6800 起 · 公域挂课不在基础版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功能臃肿 · 新手「有工具不会用」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销售后端弱：pipeline / CPQ / 回款浅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公域=商家自建店 · 客户需过教培资质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2026 定向邀约后新客户更难开教培店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4572000"/>
            <a:ext cx="109728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572000"/>
            <a:ext cx="10972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563EB"/>
                </a:solidFill>
                <a:latin typeface="微软雅黑" panose="020B0503020204020204" charset="-122"/>
              </a:rPr>
              <a:t>公域模式：交付履约型</a:t>
            </a:r>
            <a:endParaRPr sz="14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8680" y="512064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商家自建抖店/微信小店 → 服务市场订购「知识服务·交付履约」→ 商品关联课程 → 下单自动领课短信 → 手机号兑换 → 可选加企微。
启示：要学的是「订单→领课→权益」闭环；不要学全功能矩阵与企微 SCRM 全套。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千聊拆解 · 全域低价引擎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学官方店降门槛 · 警惕品牌与 CRM 短板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109728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234440"/>
            <a:ext cx="2468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00C8FF"/>
                </a:solidFill>
                <a:latin typeface="微软雅黑" panose="020B0503020204020204" charset="-122"/>
              </a:rPr>
              <a:t>3699元/年</a:t>
            </a:r>
            <a:endParaRPr sz="20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169164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单档定价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74720" y="109728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234440"/>
            <a:ext cx="2468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8B5CF6"/>
                </a:solidFill>
                <a:latin typeface="微软雅黑" panose="020B0503020204020204" charset="-122"/>
              </a:rPr>
              <a:t>四平台</a:t>
            </a:r>
            <a:endParaRPr sz="2000" b="1">
              <a:solidFill>
                <a:srgbClr val="8B5CF6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66160" y="169164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官方服务商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09360" y="109728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234440"/>
            <a:ext cx="2468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2563EB"/>
                </a:solidFill>
                <a:latin typeface="微软雅黑" panose="020B0503020204020204" charset="-122"/>
              </a:rPr>
              <a:t>免资质</a:t>
            </a:r>
            <a:endParaRPr sz="20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169164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讲师侧冷启动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144000" y="109728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234440"/>
            <a:ext cx="2468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F43F5E"/>
                </a:solidFill>
                <a:latin typeface="微软雅黑" panose="020B0503020204020204" charset="-122"/>
              </a:rPr>
              <a:t>弱</a:t>
            </a:r>
            <a:endParaRPr sz="2000" b="1">
              <a:solidFill>
                <a:srgbClr val="F43F5E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35440" y="169164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企微/CRM 深度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0080" y="2377440"/>
            <a:ext cx="53035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2377440"/>
            <a:ext cx="530352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450592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官方店铺型怎么工作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8680" y="29718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课挂在千聊官方抖店/小店下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讲师是内容入驻方，免 ICP/教培店资质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后台「同步至抖音」一键挂载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学员感知常为「在千聊买课」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订单数据在千聊体系，可导出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217920" y="2377440"/>
            <a:ext cx="53035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2377440"/>
            <a:ext cx="5303520" cy="4114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450592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短板与风险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46520" y="29718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讲师品牌弱化 · 迁移成本高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无深度 pipeline / CPQ / 回款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AI/企微精细化运营工具缺失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「免资质」红利依赖平台政策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2026 政策收紧下仍相对稳，但非永久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0080" y="548640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69280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启示：学「官方店降门槛」；差异化用自有品牌可升级 + 学习端自控 + 卖课后经营（可选），不拼四平台最低价。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挂课对比 · 小鹅通 vs 千聊（核心页）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店铺归属决定资质、品牌与数据 —— 两条路都要能讲清楚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1051560"/>
            <a:ext cx="10972800" cy="3840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115568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维度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0" y="1115568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小鹅通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0" y="1115568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千聊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146304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572768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A1628"/>
                </a:solidFill>
                <a:latin typeface="微软雅黑" panose="020B0503020204020204" charset="-122"/>
              </a:rPr>
              <a:t>店铺归属</a:t>
            </a:r>
            <a:endParaRPr sz="12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0" y="1572768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商家自有店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0" y="1572768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千聊官方店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0080" y="1965960"/>
            <a:ext cx="10972800" cy="502920"/>
          </a:xfrm>
          <a:prstGeom prst="rect">
            <a:avLst/>
          </a:prstGeom>
          <a:solidFill>
            <a:srgbClr val="F0F5FA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075688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A1628"/>
                </a:solidFill>
                <a:latin typeface="微软雅黑" panose="020B0503020204020204" charset="-122"/>
              </a:rPr>
              <a:t>资质压力</a:t>
            </a:r>
            <a:endParaRPr sz="12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0" y="2075688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客户企业资质 + ICP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0" y="2075688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讲师免资质（平台兜底）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0080" y="246888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578608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A1628"/>
                </a:solidFill>
                <a:latin typeface="微软雅黑" panose="020B0503020204020204" charset="-122"/>
              </a:rPr>
              <a:t>接入形态</a:t>
            </a:r>
            <a:endParaRPr sz="12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57600" y="2578608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交付履约 / 深度对接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0" y="2578608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一键挂载 · 链接型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0080" y="2971800"/>
            <a:ext cx="10972800" cy="502920"/>
          </a:xfrm>
          <a:prstGeom prst="rect">
            <a:avLst/>
          </a:prstGeom>
          <a:solidFill>
            <a:srgbClr val="F0F5FA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081528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A1628"/>
                </a:solidFill>
                <a:latin typeface="微软雅黑" panose="020B0503020204020204" charset="-122"/>
              </a:rPr>
              <a:t>品牌资产</a:t>
            </a:r>
            <a:endParaRPr sz="12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57600" y="3081528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强 · 自有品牌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72400" y="3081528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弱 · 平台品牌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40080" y="347472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584448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A1628"/>
                </a:solidFill>
                <a:latin typeface="微软雅黑" panose="020B0503020204020204" charset="-122"/>
              </a:rPr>
              <a:t>私域后端</a:t>
            </a:r>
            <a:endParaRPr sz="12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57600" y="3584448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企微 SCRM 深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72400" y="3584448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弱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40080" y="3977640"/>
            <a:ext cx="10972800" cy="502920"/>
          </a:xfrm>
          <a:prstGeom prst="rect">
            <a:avLst/>
          </a:prstGeom>
          <a:solidFill>
            <a:srgbClr val="F0F5FA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087368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A1628"/>
                </a:solidFill>
                <a:latin typeface="微软雅黑" panose="020B0503020204020204" charset="-122"/>
              </a:rPr>
              <a:t>定价门槛</a:t>
            </a:r>
            <a:endParaRPr sz="12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657600" y="4087368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高（公域多在高版本）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772400" y="4087368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低（3699 单档）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40080" y="448056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590288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A1628"/>
                </a:solidFill>
                <a:latin typeface="微软雅黑" panose="020B0503020204020204" charset="-122"/>
              </a:rPr>
              <a:t>2026 政策</a:t>
            </a:r>
            <a:endParaRPr sz="12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657600" y="4590288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客户过不了邀约就挂不上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772400" y="4590288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官方通道相对稳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40080" y="507492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" y="5074920"/>
            <a:ext cx="53035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525780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563EB"/>
                </a:solidFill>
                <a:latin typeface="微软雅黑" panose="020B0503020204020204" charset="-122"/>
              </a:rPr>
              <a:t>适合自建店（小鹅通式）</a:t>
            </a:r>
            <a:endParaRPr sz="13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22960" y="5623560"/>
            <a:ext cx="4937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有资质机构 · 重视自有品牌 · 长期经营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217920" y="507492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0" y="5074920"/>
            <a:ext cx="53035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525780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6B6D4"/>
                </a:solidFill>
                <a:latin typeface="微软雅黑" panose="020B0503020204020204" charset="-122"/>
              </a:rPr>
              <a:t>适合官方店（千聊式）</a:t>
            </a:r>
            <a:endParaRPr sz="13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00800" y="5623560"/>
            <a:ext cx="4937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个人讲师冷启动 · 要免资质 · 快速验证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调研结论 · 战略选择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109728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97280"/>
            <a:ext cx="3566160" cy="4572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18872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0C8FF"/>
                </a:solidFill>
                <a:latin typeface="微软雅黑" panose="020B0503020204020204" charset="-122"/>
              </a:rPr>
              <a:t>01  不正面打小鹅通广度</a:t>
            </a:r>
            <a:endParaRPr sz="13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178308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Phase 1 不做全功能；装修开店后期补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43400" y="109728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097280"/>
            <a:ext cx="3566160" cy="4572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18872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0C8FF"/>
                </a:solidFill>
                <a:latin typeface="微软雅黑" panose="020B0503020204020204" charset="-122"/>
              </a:rPr>
              <a:t>02  不正面拼千聊低价</a:t>
            </a:r>
            <a:endParaRPr sz="13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26280" y="178308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多品类权益 + 品牌可升级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46720" y="109728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097280"/>
            <a:ext cx="3566160" cy="4572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18872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0C8FF"/>
                </a:solidFill>
                <a:latin typeface="微软雅黑" panose="020B0503020204020204" charset="-122"/>
              </a:rPr>
              <a:t>03  做内容获客中间带</a:t>
            </a:r>
            <a:endParaRPr sz="13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0" y="178308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虚拟/服务先闭环 · 能挂能卖能履约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0080" y="333756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52044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C8FF"/>
                </a:solidFill>
                <a:latin typeface="微软雅黑" panose="020B0503020204020204" charset="-122"/>
              </a:rPr>
              <a:t>产品终局一句话</a:t>
            </a:r>
            <a:endParaRPr sz="12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8680" y="388620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公域能挂、店里能卖虚拟/服务、买完能履约；课为首发。商城装修/多端开店 Phase 2–3 补齐，再扩实物与门店 —— 路径 A/B 不写死。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489204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6B6D4"/>
                </a:solidFill>
                <a:latin typeface="微软雅黑" panose="020B0503020204020204" charset="-122"/>
              </a:rPr>
              <a:t>Phase 1 后移（后期补）</a:t>
            </a:r>
            <a:endParaRPr sz="12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" y="5212080"/>
            <a:ext cx="26517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03520"/>
            <a:ext cx="2651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6B6D4"/>
                </a:solidFill>
                <a:latin typeface="微软雅黑" panose="020B0503020204020204" charset="-122"/>
              </a:rPr>
              <a:t>装修/开店→P2</a:t>
            </a:r>
            <a:endParaRPr sz="11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429000" y="5212080"/>
            <a:ext cx="26517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29000" y="5303520"/>
            <a:ext cx="2651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6B6D4"/>
                </a:solidFill>
                <a:latin typeface="微软雅黑" panose="020B0503020204020204" charset="-122"/>
              </a:rPr>
              <a:t>H5商城→P2</a:t>
            </a:r>
            <a:endParaRPr sz="11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217920" y="5212080"/>
            <a:ext cx="26517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5303520"/>
            <a:ext cx="2651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6B6D4"/>
                </a:solidFill>
                <a:latin typeface="微软雅黑" panose="020B0503020204020204" charset="-122"/>
              </a:rPr>
              <a:t>实物→P2</a:t>
            </a:r>
            <a:endParaRPr sz="11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006840" y="5212080"/>
            <a:ext cx="26517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5303520"/>
            <a:ext cx="2651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6B6D4"/>
                </a:solidFill>
                <a:latin typeface="微软雅黑" panose="020B0503020204020204" charset="-122"/>
              </a:rPr>
              <a:t>PC/门店→P3</a:t>
            </a:r>
            <a:endParaRPr sz="11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43F5E"/>
                </a:solidFill>
                <a:latin typeface="微软雅黑" panose="020B0503020204020204" charset="-122"/>
              </a:rPr>
              <a:t>永久不做：多级分销 · 买家硬映射 Contact · 跨商家学员 APP</a:t>
            </a:r>
            <a:endParaRPr sz="1200" b="1">
              <a:solidFill>
                <a:srgbClr val="F43F5E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系统方案总览 · 三层架构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AI 内容工厂（生产）· 公域挂载 · 交易平台 · CRM 经营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105156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51560"/>
            <a:ext cx="109728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18872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8B5CF6"/>
                </a:solidFill>
                <a:latin typeface="微软雅黑" panose="020B0503020204020204" charset="-122"/>
              </a:rPr>
              <a:t>公域层</a:t>
            </a:r>
            <a:endParaRPr sz="1500" b="1">
              <a:solidFill>
                <a:srgbClr val="8B5CF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9120" y="118872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抖音优先 → 视频号/快手 → 小红书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89120" y="155448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挂载虚拟/服务商品 · 订单回流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210312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10312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24028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2563EB"/>
                </a:solidFill>
                <a:latin typeface="微软雅黑" panose="020B0503020204020204" charset="-122"/>
              </a:rPr>
              <a:t>内容获客平台</a:t>
            </a:r>
            <a:endParaRPr sz="15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9120" y="224028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商家入驻 · 多店铺 · 套餐 SaaS · 统一交易层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89120" y="260604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商品/订单/支付/权益 · 课·数字·服务履约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" y="315468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154680"/>
            <a:ext cx="109728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29184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6B6D4"/>
                </a:solidFill>
                <a:latin typeface="微软雅黑" panose="020B0503020204020204" charset="-122"/>
              </a:rPr>
              <a:t>经营层（可选）</a:t>
            </a:r>
            <a:endParaRPr sz="15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89120" y="329184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订单/买家时间线 · 线索进营客台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89120" y="365760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成交后跟进 · 非强制 Phase 1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416052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A1628"/>
                </a:solidFill>
                <a:latin typeface="微软雅黑" panose="020B0503020204020204" charset="-122"/>
              </a:rPr>
              <a:t>商品类型演进</a:t>
            </a:r>
            <a:endParaRPr sz="13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" y="45262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526280"/>
            <a:ext cx="3566160" cy="3657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7200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Phase 1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02920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课程/专栏
数字权益
咨询预约
轻量小程序店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343400" y="45262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4526280"/>
            <a:ext cx="35661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457200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Phase 2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26280" y="502920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简版装修开店
H5商城+货架
实物快递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046720" y="45262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4526280"/>
            <a:ext cx="3566160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457200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Phase 3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29600" y="502920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深度微页面
PC网校
线下门店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平台三层 · AI 内容工厂 + 交易闭环 + CRM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能生产内容 · 能挂平台成交 · 能进 CRM 持续经营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05156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51560"/>
            <a:ext cx="109728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18872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8B5CF6"/>
                </a:solidFill>
                <a:latin typeface="微软雅黑" panose="020B0503020204020204" charset="-122"/>
              </a:rPr>
              <a:t>AI 内容工厂</a:t>
            </a:r>
            <a:endParaRPr sz="1500" b="1">
              <a:solidFill>
                <a:srgbClr val="8B5CF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9120" y="118872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生产层 · 多平台文案 / 笔记 / 视频脚本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89120" y="155448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知识库 + 品牌语气 + 合规自检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210312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10312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24028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8B5CF6"/>
                </a:solidFill>
                <a:latin typeface="微软雅黑" panose="020B0503020204020204" charset="-122"/>
              </a:rPr>
              <a:t>内容获客平台</a:t>
            </a:r>
            <a:endParaRPr sz="15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9120" y="224028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交易层 · 商家多店 · 套餐 SaaS · 商品/订单/权益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89120" y="260604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Phase 1：入驻过审 · 商品合规 · 能卖能履约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" y="315468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154680"/>
            <a:ext cx="109728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29184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8B5CF6"/>
                </a:solidFill>
                <a:latin typeface="微软雅黑" panose="020B0503020204020204" charset="-122"/>
              </a:rPr>
              <a:t>智营 CRM</a:t>
            </a:r>
            <a:endParaRPr sz="15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89120" y="329184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运营层（可选）· 活动 / 线索 / 客户跟进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89120" y="365760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成交后经营 · 复用 v0.6～v1.6 营客能力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416052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A1628"/>
                </a:solidFill>
                <a:latin typeface="微软雅黑" panose="020B0503020204020204" charset="-122"/>
              </a:rPr>
              <a:t>核心差异化</a:t>
            </a:r>
            <a:endParaRPr sz="13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" y="45262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526280"/>
            <a:ext cx="3566160" cy="3657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7200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竞品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02920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小鹅通/千聊：卖「店」与履约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343400" y="45262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4526280"/>
            <a:ext cx="35661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457200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我们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26280" y="502920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AI 生产 + 多店成交 + 套餐可扩展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046720" y="45262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4526280"/>
            <a:ext cx="3566160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457200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闭环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29600" y="502920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CRM 持续经营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内容营销智能体 · 分期能力路线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战略一体、落地分期 —— 不与商城首期抢工期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05156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51560"/>
            <a:ext cx="109728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18872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8B5CF6"/>
                </a:solidFill>
                <a:latin typeface="微软雅黑" panose="020B0503020204020204" charset="-122"/>
              </a:rPr>
              <a:t>Phase 0 ✅</a:t>
            </a:r>
            <a:endParaRPr sz="1500" b="1">
              <a:solidFill>
                <a:srgbClr val="8B5CF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9120" y="118872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已交付：多平台文案、笔记、视频脚本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89120" y="155448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v0.6 顾问 + v1.1 创作增强 · 可演示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210312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10312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24028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8B5CF6"/>
                </a:solidFill>
                <a:latin typeface="微软雅黑" panose="020B0503020204020204" charset="-122"/>
              </a:rPr>
              <a:t>Phase 1</a:t>
            </a:r>
            <a:endParaRPr sz="15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9120" y="224028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商城 MVP：交易闭环优先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89120" y="260604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创作成果可导出复用 · 配图/成片不进硬验收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" y="315468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154680"/>
            <a:ext cx="109728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29184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8B5CF6"/>
                </a:solidFill>
                <a:latin typeface="微软雅黑" panose="020B0503020204020204" charset="-122"/>
              </a:rPr>
              <a:t>Phase 2</a:t>
            </a:r>
            <a:endParaRPr sz="15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89120" y="329184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智能体 × 商城打通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89120" y="365760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课纲、详情、卖点一键生成商品草稿（建议 v1.7）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416052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A1628"/>
                </a:solidFill>
                <a:latin typeface="微软雅黑" panose="020B0503020204020204" charset="-122"/>
              </a:rPr>
              <a:t>后续能力（建议版本）</a:t>
            </a:r>
            <a:endParaRPr sz="13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" y="45262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526280"/>
            <a:ext cx="3566160" cy="3657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7200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Phase 3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02920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AI 商用配图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图文成品 ZIP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建议 v1.8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343400" y="45262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4526280"/>
            <a:ext cx="35661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457200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Phase 4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26280" y="502920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短视频半自动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商用 BGM + 人审导出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建议 v1.9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046720" y="45262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4526280"/>
            <a:ext cx="3566160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457200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Phase 5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29600" y="502920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效果闭环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A/B · 归因 · Multi-Agent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建议 v2.0+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素材合规 · 图 / 视 / 音三道闸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做得快，更要发得稳 —— 降低侵权与平台限流风险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05156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51560"/>
            <a:ext cx="109728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18872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8B5CF6"/>
                </a:solidFill>
                <a:latin typeface="微软雅黑" panose="020B0503020204020204" charset="-122"/>
              </a:rPr>
              <a:t>选源闸</a:t>
            </a:r>
            <a:endParaRPr sz="1500" b="1">
              <a:solidFill>
                <a:srgbClr val="8B5CF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9120" y="118872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仅商用授权白名单：图库 / 视频 / 音乐曲库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89120" y="155448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AI 生成走商用套餐 · 上传须声明授权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210312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10312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24028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8B5CF6"/>
                </a:solidFill>
                <a:latin typeface="微软雅黑" panose="020B0503020204020204" charset="-122"/>
              </a:rPr>
              <a:t>成片闸</a:t>
            </a:r>
            <a:endParaRPr sz="15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9120" y="224028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每份素材带 license 元数据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89120" y="260604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未授权素材不可进入导出包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" y="315468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154680"/>
            <a:ext cx="109728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29184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8B5CF6"/>
                </a:solidFill>
                <a:latin typeface="微软雅黑" panose="020B0503020204020204" charset="-122"/>
              </a:rPr>
              <a:t>发布闸</a:t>
            </a:r>
            <a:endParaRPr sz="15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89120" y="329184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文案合规 + 素材合规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89120" y="365760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人审确认后导出 · 不承诺全自动发布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416052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A1628"/>
                </a:solidFill>
                <a:latin typeface="微软雅黑" panose="020B0503020204020204" charset="-122"/>
              </a:rPr>
              <a:t>分阶段开放</a:t>
            </a:r>
            <a:endParaRPr sz="13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" y="45262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526280"/>
            <a:ext cx="3566160" cy="3657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7200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Phase 3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02920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商用配图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多图 ZIP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343400" y="45262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4526280"/>
            <a:ext cx="35661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457200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Phase 4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26280" y="502920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商用 BGM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半自动成片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046720" y="45262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4526280"/>
            <a:ext cx="3566160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457200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禁止项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29600" y="502920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流行曲随意拼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无授权 AI 图商用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交易合规 · 可售商品四道闸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卖什么要能审 —— 与「素材合规」分工：素材管创作导出，交易管可售 SKU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05156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51560"/>
            <a:ext cx="109728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18872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8B5CF6"/>
                </a:solidFill>
                <a:latin typeface="微软雅黑" panose="020B0503020204020204" charset="-122"/>
              </a:rPr>
              <a:t>主体资质闸</a:t>
            </a:r>
            <a:endParaRPr sz="1500" b="1">
              <a:solidFill>
                <a:srgbClr val="8B5CF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9120" y="118872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个人 / 个体工商户 / 企业 分类入驻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执照或身份证 · 支付进件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89120" y="155448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210312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10312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24028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8B5CF6"/>
                </a:solidFill>
                <a:latin typeface="微软雅黑" panose="020B0503020204020204" charset="-122"/>
              </a:rPr>
              <a:t>商品上架闸</a:t>
            </a:r>
            <a:endParaRPr sz="15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9120" y="224028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机审 + 平台人审 · 通过后方可私域上架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未过审不可上架销售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89120" y="260604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" y="315468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154680"/>
            <a:ext cx="109728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29184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8B5CF6"/>
                </a:solidFill>
                <a:latin typeface="微软雅黑" panose="020B0503020204020204" charset="-122"/>
              </a:rPr>
              <a:t>公域与稽查</a:t>
            </a:r>
            <a:endParaRPr sz="15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89120" y="329184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公域挂载闸：过上架闸后才可同步抖店 / 课程库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事后稽查闸：举报抽检 · 强制下架（存量订单照常履约）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89120" y="365760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416052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A1628"/>
                </a:solidFill>
                <a:latin typeface="微软雅黑" panose="020B0503020204020204" charset="-122"/>
              </a:rPr>
              <a:t>平台能力（与素材闸并列）</a:t>
            </a:r>
            <a:endParaRPr sz="13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" y="45262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526280"/>
            <a:ext cx="3566160" cy="3657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7200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商家 · 多店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02920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入驻 → 多店铺 → 商品挂店下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配额受当前套餐限制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343400" y="45262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4526280"/>
            <a:ext cx="35661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457200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SaaS 套餐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26280" y="502920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免费 / 基础 / 旗舰 平台可配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按生效～失效周期管理权益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046720" y="45262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4526280"/>
            <a:ext cx="3566160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457200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与素材闸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29600" y="502920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素材：审创作导出物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交易：审可售卖商品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Phase 1 范围 · 虚拟 + 服务三件套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入驻 → 合规上架 → 付钱 → 履约 → 退款关权益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109728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97280"/>
            <a:ext cx="53035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18872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做（保留）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17830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· 三类主体入驻（个人/个体/企业）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· 多店铺：商品挂店下 · 配额受套餐限制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· P10 套餐配置 · P11 权益开通（验收期人工）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· 虚拟：专栏/单课、资料包、会员卡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· 服务：咨询预约、次数卡、简单核销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· 统一支付 + 权益状态机（开通/到期/退款）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· 小程序履约端 · 订单/买家 · 抖音回流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· 商品合规：机审 + 人审 · 过审才可挂抖店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0" y="109728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18872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Phase 1 后移（后期补）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46520" y="173736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· 套餐自助购 · 剩余天数折算 → P2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· 店铺装修 / 向导 → P2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· H5 完整商城 / 混合货架 → P2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· 实物快递 → P2；门店核销 → P3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· 深度微页面 / PC 网校 → P3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· 四平台齐发 → 单公域过后再扩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· 永久不做：多级分销、买家=Contact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548640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66928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200">
                <a:solidFill>
                  <a:schemeClr val="bg1"/>
                </a:solidFill>
                <a:latin typeface="微软雅黑" panose="020B0503020204020204" charset="-122"/>
              </a:rPr>
              <a:t>硬验收：入驻 → 商品合规 → 私域可售 → 公域挂载 → 履约 → 退款关权益。装修开店 Phase 2 补。</a:t>
            </a:r>
            <a:endParaRPr sz="1200">
              <a:solidFill>
                <a:schemeClr val="bg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全域四平台 · 分阶段路线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抖音优先 · 每平台先跑通买→履约→退 · 不齐发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1188720"/>
            <a:ext cx="35661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188720"/>
            <a:ext cx="3566160" cy="5029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2801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Phase 1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834640" y="1280160"/>
            <a:ext cx="1188720" cy="320040"/>
          </a:xfrm>
          <a:prstGeom prst="roundRect">
            <a:avLst>
              <a:gd name="adj" fmla="val 8000"/>
            </a:avLst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298448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0A1628"/>
                </a:solidFill>
                <a:latin typeface="微软雅黑" panose="020B0503020204020204" charset="-122"/>
              </a:rPr>
              <a:t>优先</a:t>
            </a:r>
            <a:endParaRPr sz="11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8B5CF6"/>
                </a:solidFill>
                <a:latin typeface="微软雅黑" panose="020B0503020204020204" charset="-122"/>
              </a:rPr>
              <a:t>抖音</a:t>
            </a:r>
            <a:endParaRPr sz="2000" b="1">
              <a:solidFill>
                <a:srgbClr val="8B5CF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246888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官方店或履约闭环
下单→短信→履约
轻量小程序店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4297680"/>
            <a:ext cx="3200400" cy="36576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0A1628"/>
                </a:solidFill>
                <a:latin typeface="微软雅黑" panose="020B0503020204020204" charset="-122"/>
              </a:rPr>
              <a:t>首公域</a:t>
            </a:r>
            <a:endParaRPr sz="12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23360" y="274320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0C8FF"/>
                </a:solidFill>
                <a:latin typeface="微软雅黑" panose="020B0503020204020204" charset="-122"/>
              </a:rPr>
              <a:t>›</a:t>
            </a:r>
            <a:endParaRPr sz="28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434840" y="1188720"/>
            <a:ext cx="35661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1188720"/>
            <a:ext cx="356616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12801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Phase 2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17720" y="192024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563EB"/>
                </a:solidFill>
                <a:latin typeface="微软雅黑" panose="020B0503020204020204" charset="-122"/>
              </a:rPr>
              <a:t>视频号 / 快手</a:t>
            </a:r>
            <a:endParaRPr sz="20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17720" y="246888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二选一扩展
+ 装修开店/H5
+ 实物可选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617720" y="4297680"/>
            <a:ext cx="3200400" cy="36576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3434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0A1628"/>
                </a:solidFill>
                <a:latin typeface="微软雅黑" panose="020B0503020204020204" charset="-122"/>
              </a:rPr>
              <a:t>扩一端+开店</a:t>
            </a:r>
            <a:endParaRPr sz="12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18120" y="274320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0C8FF"/>
                </a:solidFill>
                <a:latin typeface="微软雅黑" panose="020B0503020204020204" charset="-122"/>
              </a:rPr>
              <a:t>›</a:t>
            </a:r>
            <a:endParaRPr sz="28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229600" y="1188720"/>
            <a:ext cx="35661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1188720"/>
            <a:ext cx="356616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12801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Phase 3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12480" y="192024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6B6D4"/>
                </a:solidFill>
                <a:latin typeface="微软雅黑" panose="020B0503020204020204" charset="-122"/>
              </a:rPr>
              <a:t>小红书 + 补齐</a:t>
            </a:r>
            <a:endParaRPr sz="20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412480" y="246888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四平台齐全
+ 深度装修/PC
+ 门店核销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412480" y="4297680"/>
            <a:ext cx="3200400" cy="36576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43434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0A1628"/>
                </a:solidFill>
                <a:latin typeface="微软雅黑" panose="020B0503020204020204" charset="-122"/>
              </a:rPr>
              <a:t>全域+深店</a:t>
            </a:r>
            <a:endParaRPr sz="12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40080" y="5120640"/>
            <a:ext cx="109728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30352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节奏原则：单公域验收通过再扩。Day 1 只要轻量小程序履约端；商城装修/H5/开店向导在 Phase 2 必补，深度微页面与 PC 在 Phase 3。
挂载初期以虚拟/服务为主；实物与门店随能力放开，不阻塞首单闭环。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双路径接入 · A 官方店 / B 履约（不写死）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产品同时支持 · 按客户资质与阶段选型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1097280"/>
            <a:ext cx="53035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97280"/>
            <a:ext cx="530352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18872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路径 A · 官方店铺型（千聊式）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182880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商品挂公司官方抖店/小店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入驻方免自开教培店 / 免 ICP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适合个人 IP / 服务者冷启动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品牌偏平台 · 可升级自有店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前提：公司过类目邀约/服务商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验收：官方店卖出 → 领权 → 履约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0" y="1097280"/>
            <a:ext cx="53035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097280"/>
            <a:ext cx="53035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18872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路径 B · 交付履约型（小鹅通式）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46520" y="182880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客户自有店 + 你们履约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服务市场订购 / API 授权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适合有资质机构/品牌商家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品牌在客户 · 数据在自有店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前提：客户过对应类目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验收：客户店下单 → 短信 → 履约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544068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62356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>
                <a:solidFill>
                  <a:schemeClr val="bg1"/>
                </a:solidFill>
              </a:rPr>
              <a:t>店铺归属：冷启动/无资质 → A；有资质机构 → B。公域技术链路 ①抖店 / ②泛知识，Mx 二选一先通。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抖音公域 Mx · 双链路（二选一先通）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两条官方技术公路 · 可替代抖店收银 ≠ 不用任何资质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100584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05840"/>
            <a:ext cx="109728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115568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A1628"/>
                </a:solidFill>
                <a:latin typeface="微软雅黑" panose="020B0503020204020204" charset="-122"/>
              </a:rPr>
              <a:t>客户（讲师/IP）：入驻我们 → 建课 → 发抖音视频/直播 → 挂平台提供的入口 → 看数据（路径 A 免自开教培抖店）</a:t>
            </a:r>
            <a:endParaRPr sz="12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1828800"/>
            <a:ext cx="544068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1828800"/>
            <a:ext cx="544068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1901952"/>
            <a:ext cx="522122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链路 ① 抖店（Phase 1 默认 · 对标千聊）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2359152"/>
            <a:ext cx="51663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挂：小黄车 / 商品卡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付：抖店收银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证：教培邀约 + 官方抖店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回传：订单 Webhook → shop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领权：短信 → 自有小程序学/核销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4617720"/>
            <a:ext cx="5166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6B6D4"/>
                </a:solidFill>
                <a:latin typeface="微软雅黑" panose="020B0503020204020204" charset="-122"/>
              </a:rPr>
              <a:t>我们要做</a:t>
            </a:r>
            <a:endParaRPr sz="11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4864608"/>
            <a:ext cx="5166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</a:rPr>
              <a:t>· 官方抖店 + 商品同步</a:t>
            </a:r>
            <a:endParaRPr sz="1000" b="0">
              <a:solidFill>
                <a:srgbClr val="6B728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</a:rPr>
              <a:t>· 支付/权益/退款</a:t>
            </a:r>
            <a:endParaRPr sz="1000" b="0">
              <a:solidFill>
                <a:srgbClr val="6B728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</a:rPr>
              <a:t>· 短信 + 自有小程序履约</a:t>
            </a:r>
            <a:endParaRPr sz="10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55080" y="1828800"/>
            <a:ext cx="544068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1828800"/>
            <a:ext cx="5440680" cy="4389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1901952"/>
            <a:ext cx="522122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链路 ② 泛知识（可不开抖店 · 抖音内闭环）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2240" y="2359152"/>
            <a:ext cx="51663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挂：视频/直播 → 小程序课程页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付：抖音小程序（交易 2.0）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证：泛知识代运营服务商认证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课程：课程库提审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学：抖音小程序内履约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2240" y="4617720"/>
            <a:ext cx="5166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8B5CF6"/>
                </a:solidFill>
                <a:latin typeface="微软雅黑" panose="020B0503020204020204" charset="-122"/>
              </a:rPr>
              <a:t>我们要做</a:t>
            </a:r>
            <a:endParaRPr sz="1100" b="1">
              <a:solidFill>
                <a:srgbClr val="8B5CF6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92240" y="4864608"/>
            <a:ext cx="5166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</a:rPr>
              <a:t>· 泛知识角色 + 抖音小程序</a:t>
            </a:r>
            <a:endParaRPr sz="1000" b="0">
              <a:solidFill>
                <a:srgbClr val="6B728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</a:rPr>
              <a:t>· 课程库 + 交易系统对接</a:t>
            </a:r>
            <a:endParaRPr sz="1000" b="0">
              <a:solidFill>
                <a:srgbClr val="6B728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</a:rPr>
              <a:t>· 开放平台 API（非抖店）</a:t>
            </a:r>
            <a:endParaRPr sz="10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080" y="6537960"/>
            <a:ext cx="10972800" cy="27432"/>
          </a:xfrm>
          <a:prstGeom prst="roundRect">
            <a:avLst>
              <a:gd name="adj" fmla="val 8000"/>
            </a:avLst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2026 政策与资质清单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公域卖课多落教培强监管 · 其他虚拟/服务按类目合规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1097280"/>
            <a:ext cx="10972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97280"/>
            <a:ext cx="91440" cy="10515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207008"/>
            <a:ext cx="103327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抖音教育培训：定向邀约（2026.1.21 生效，不能自助新开）；小红书教育类目收紧（个人店难卖）。
「200 万 GMV」等为邀约参考线索，以平台当期招商为准。定向邀约咨询：950529。第三方非官方通道下架风险高。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2331720"/>
            <a:ext cx="53035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331720"/>
            <a:ext cx="5303520" cy="3840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39572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公司侧（做官方店/服务商）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27889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/>
              </a:rPr>
              <a:t>· 企业执照（范围含培训/教育咨询）</a:t>
            </a:r>
            <a:endParaRPr>
              <a:solidFill/>
            </a:endParaRPr>
          </a:p>
          <a:p>
            <a:r>
              <a:rPr>
                <a:solidFill/>
              </a:rPr>
              <a:t>· ICP 备案 · 对公账户</a:t>
            </a:r>
            <a:endParaRPr>
              <a:solidFill/>
            </a:endParaRPr>
          </a:p>
          <a:p>
            <a:r>
              <a:rPr>
                <a:solidFill/>
              </a:rPr>
              <a:t>· 办学许可或一级合作授权</a:t>
            </a:r>
            <a:endParaRPr>
              <a:solidFill/>
            </a:endParaRPr>
          </a:p>
          <a:p>
            <a:r>
              <a:rPr>
                <a:solidFill/>
              </a:rPr>
              <a:t>· 师资 / 课程大纲 / 合规承诺函</a:t>
            </a:r>
            <a:endParaRPr>
              <a:solidFill/>
            </a:endParaRPr>
          </a:p>
          <a:p>
            <a:r>
              <a:rPr>
                <a:solidFill/>
              </a:rPr>
              <a:t>· 抖音：链路①教培邀约 或 链路②泛知识</a:t>
            </a:r>
            <a:endParaRPr>
              <a:solidFill/>
            </a:endParaRPr>
          </a:p>
          <a:p>
            <a:r>
              <a:rPr>
                <a:solidFill/>
              </a:rPr>
              <a:t>· 小红书：千帆企业店 + 教育类目审核</a:t>
            </a:r>
            <a:endParaRPr>
              <a:solidFill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17920" y="2331720"/>
            <a:ext cx="53035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331720"/>
            <a:ext cx="530352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39572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讲师侧（路径 A 入驻）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46520" y="27889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· 通常无需自开教培抖店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· 入驻你们 SaaS 即可上架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· 课程内容仍须合规审核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· 路径 B 客户：需自备教培类目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· 仅私域卖课：不选抖店教育类目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  （仍有微信侧类目/备案要求）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080" y="4800600"/>
            <a:ext cx="109728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800600"/>
            <a:ext cx="10972800" cy="3474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46320"/>
            <a:ext cx="10698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抖音 2026 官方规则链接（可点击）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9808" y="5239512"/>
            <a:ext cx="53263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1D4ED8"/>
                </a:solidFill>
                <a:latin typeface="微软雅黑" panose="020B0503020204020204" charset="-122"/>
                <a:hlinkClick r:id="rId1"/>
              </a:rPr>
              <a:t>【本地生活及虚拟】行业管理规范</a:t>
            </a:r>
            <a:endParaRPr sz="900" b="0">
              <a:solidFill>
                <a:srgbClr val="1D4ED8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1D4ED8"/>
                </a:solidFill>
                <a:latin typeface="微软雅黑" panose="020B0503020204020204" charset="-122"/>
                <a:hlinkClick r:id="rId2"/>
              </a:rPr>
              <a:t>规则中心·本地生活及虚拟类目</a:t>
            </a:r>
            <a:endParaRPr sz="900" b="0">
              <a:solidFill>
                <a:srgbClr val="1D4ED8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1D4ED8"/>
                </a:solidFill>
                <a:latin typeface="微软雅黑" panose="020B0503020204020204" charset="-122"/>
                <a:hlinkClick r:id="rId3"/>
              </a:rPr>
              <a:t>【本地生活及虚拟】商品发布及宣传细则</a:t>
            </a:r>
            <a:endParaRPr sz="900" b="0">
              <a:solidFill>
                <a:srgbClr val="1D4ED8"/>
              </a:solidFill>
              <a:latin typeface="微软雅黑" panose="020B0503020204020204" charset="-122"/>
              <a:hlinkClick r:id="rId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76188" y="5239512"/>
            <a:ext cx="53263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1D4ED8"/>
                </a:solidFill>
                <a:latin typeface="微软雅黑" panose="020B0503020204020204" charset="-122"/>
                <a:hlinkClick r:id="rId4"/>
              </a:rPr>
              <a:t>泛知识行业课程运营规范</a:t>
            </a:r>
            <a:endParaRPr sz="900" b="0">
              <a:solidFill>
                <a:srgbClr val="1D4ED8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1D4ED8"/>
                </a:solidFill>
                <a:latin typeface="微软雅黑" panose="020B0503020204020204" charset="-122"/>
                <a:hlinkClick r:id="rId5"/>
              </a:rPr>
              <a:t>小程序服务类目·定向邀约说明</a:t>
            </a:r>
            <a:endParaRPr sz="900" b="0">
              <a:solidFill>
                <a:srgbClr val="1D4ED8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1D4ED8"/>
                </a:solidFill>
                <a:latin typeface="微软雅黑" panose="020B0503020204020204" charset="-122"/>
                <a:hlinkClick r:id="rId6"/>
              </a:rPr>
              <a:t>教育&amp;心理咨询类目经营权限公告</a:t>
            </a:r>
            <a:endParaRPr sz="900" b="0">
              <a:solidFill>
                <a:srgbClr val="1D4ED8"/>
              </a:solidFill>
              <a:latin typeface="微软雅黑" panose="020B0503020204020204" charset="-122"/>
              <a:hlinkClick r:id="rId6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6537960"/>
            <a:ext cx="10972800" cy="27432"/>
          </a:xfrm>
          <a:prstGeom prst="rect">
            <a:avLst/>
          </a:prstGeom>
          <a:solidFill>
            <a:srgbClr val="00C8FF"/>
          </a:solidFill>
        </p:spPr>
        <p:txBody>
          <a:bodyPr wrap="square" anchor="t"/>
          <a:lstStyle/>
          <a:p>
            <a:pPr algn="l"/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1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角色分工 + 最小闭环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路径 A · 链路 ① 抖店（默认演示包）· 客户轻 / 平台重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005840"/>
            <a:ext cx="3657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005840"/>
            <a:ext cx="365760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060704"/>
            <a:ext cx="3429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客户（讲师 / IP）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0936" y="1444752"/>
            <a:ext cx="34015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① 平台入驻（个人/个体/企业）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② 开店 · 建课/服务 · 定价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③ 商品合规审核通过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④ 抖音发视频 / 直播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⑤ 挂官方店小黄车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⑥ 看订单 / 学员 / 进度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免自开教培抖店 · 免自建支付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297680" y="1005840"/>
            <a:ext cx="3657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005840"/>
            <a:ext cx="365760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8" y="1060704"/>
            <a:ext cx="3429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观众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25696" y="1444752"/>
            <a:ext cx="34015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① 看视频 / 直播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② 点小黄车 / 链接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③ 在抖音完成付款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④ 收领权短信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⑤ 手机号进小程序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⑥ 学课或预约核销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92440" y="1005840"/>
            <a:ext cx="3657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005840"/>
            <a:ext cx="3657600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8" y="1060704"/>
            <a:ext cx="3429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我们（平台方）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0456" y="1444752"/>
            <a:ext cx="34015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① 教培邀约 + 官方抖店</a:t>
            </a:r>
          </a:p>
          <a:p>
            <a:r>
              <a:t>② 后台 SKU → 抖店同步</a:t>
            </a:r>
          </a:p>
          <a:p>
            <a:r>
              <a:t>③ 订单 Webhook 回传</a:t>
            </a:r>
          </a:p>
          <a:p>
            <a:r>
              <a:t>④ 支付 / 权益 / 退款</a:t>
            </a:r>
          </a:p>
          <a:p>
            <a:r>
              <a:t>⑤ 领权短信通道</a:t>
            </a:r>
          </a:p>
          <a:p>
            <a:r>
              <a:t>⑥ 小程序履约端</a:t>
            </a:r>
          </a:p>
          <a:p>
            <a:r>
              <a:t>+ 商家入驻 · 商品合规 · 套餐权益管理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34340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A1628"/>
                </a:solidFill>
                <a:latin typeface="微软雅黑" panose="020B0503020204020204" charset="-122"/>
              </a:rPr>
              <a:t>最小闭环（Mx 首演）</a:t>
            </a:r>
            <a:endParaRPr sz="13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11480" y="461772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617720"/>
            <a:ext cx="178308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663440"/>
            <a:ext cx="1783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挂车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2920" y="5074920"/>
            <a:ext cx="1600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官方店
小黄车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30552" y="4983480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0C8FF"/>
                </a:solidFill>
                <a:latin typeface="微软雅黑" panose="020B0503020204020204" charset="-122"/>
              </a:rPr>
              <a:t>→</a:t>
            </a:r>
            <a:endParaRPr sz="18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331720" y="461772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31720" y="4617720"/>
            <a:ext cx="17830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31720" y="4663440"/>
            <a:ext cx="1783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付款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423160" y="5074920"/>
            <a:ext cx="1600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抖店
收银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50792" y="4983480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0C8FF"/>
                </a:solidFill>
                <a:latin typeface="微软雅黑" panose="020B0503020204020204" charset="-122"/>
              </a:rPr>
              <a:t>→</a:t>
            </a:r>
            <a:endParaRPr sz="18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251960" y="461772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60" y="4617720"/>
            <a:ext cx="1783080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4663440"/>
            <a:ext cx="1783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回传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43400" y="5074920"/>
            <a:ext cx="1600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shop
订单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971032" y="4983480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0C8FF"/>
                </a:solidFill>
                <a:latin typeface="微软雅黑" panose="020B0503020204020204" charset="-122"/>
              </a:rPr>
              <a:t>→</a:t>
            </a:r>
            <a:endParaRPr sz="18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72200" y="461772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72200" y="4617720"/>
            <a:ext cx="1783080" cy="38404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4663440"/>
            <a:ext cx="1783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领权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63640" y="5074920"/>
            <a:ext cx="1600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短信
链接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891272" y="4983480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0C8FF"/>
                </a:solidFill>
                <a:latin typeface="微软雅黑" panose="020B0503020204020204" charset="-122"/>
              </a:rPr>
              <a:t>→</a:t>
            </a:r>
            <a:endParaRPr sz="18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092440" y="461772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92440" y="4617720"/>
            <a:ext cx="178308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92440" y="4663440"/>
            <a:ext cx="1783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履约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183880" y="5074920"/>
            <a:ext cx="1600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小程序
学/核销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811512" y="4983480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0C8FF"/>
                </a:solidFill>
                <a:latin typeface="微软雅黑" panose="020B0503020204020204" charset="-122"/>
              </a:rPr>
              <a:t>→</a:t>
            </a:r>
            <a:endParaRPr sz="18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0012680" y="461772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12680" y="4617720"/>
            <a:ext cx="1783080" cy="38404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12680" y="4663440"/>
            <a:ext cx="1783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退款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104120" y="5074920"/>
            <a:ext cx="1600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</a:rPr>
              <a:t>关权益
验收</a:t>
            </a:r>
            <a:endParaRPr sz="11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定向邀约默认要求对照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抖店教培 2026.1.21 + 泛知识服务商 · *以官方最新公示为准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1024128"/>
            <a:ext cx="553212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24128"/>
            <a:ext cx="553212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078992"/>
            <a:ext cx="531266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抖店教培 · 定向邀约（2026.1.21+）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1499616"/>
            <a:ext cx="5532120" cy="44348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536192"/>
            <a:ext cx="14173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0A1628"/>
                </a:solidFill>
                <a:latin typeface="微软雅黑" panose="020B0503020204020204" charset="-122"/>
              </a:rPr>
              <a:t>准入方式</a:t>
            </a:r>
            <a:endParaRPr sz="10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48840" y="1536192"/>
            <a:ext cx="39319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仅平台邀约 或 资质提报审查；不可自助新开教培店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1979676"/>
            <a:ext cx="5532120" cy="44348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016252"/>
            <a:ext cx="14173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0A1628"/>
                </a:solidFill>
                <a:latin typeface="微软雅黑" panose="020B0503020204020204" charset="-122"/>
              </a:rPr>
              <a:t>主体</a:t>
            </a:r>
            <a:endParaRPr sz="10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48840" y="2016252"/>
            <a:ext cx="39319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企业法人优先；个体工商户基本不符合新邀约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" y="2459736"/>
            <a:ext cx="5532120" cy="44348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496312"/>
            <a:ext cx="14173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0A1628"/>
                </a:solidFill>
                <a:latin typeface="微软雅黑" panose="020B0503020204020204" charset="-122"/>
              </a:rPr>
              <a:t>资本/年限</a:t>
            </a:r>
            <a:endParaRPr sz="10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48840" y="2496312"/>
            <a:ext cx="39319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常见注册资本≥100万、注册≥1年*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0080" y="2939796"/>
            <a:ext cx="5532120" cy="44348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976372"/>
            <a:ext cx="14173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0A1628"/>
                </a:solidFill>
                <a:latin typeface="微软雅黑" panose="020B0503020204020204" charset="-122"/>
              </a:rPr>
              <a:t>营业执照</a:t>
            </a:r>
            <a:endParaRPr sz="10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48840" y="2976372"/>
            <a:ext cx="39319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经营范围含培训 / 教育咨询等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0080" y="3419856"/>
            <a:ext cx="5532120" cy="44348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456432"/>
            <a:ext cx="14173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0A1628"/>
                </a:solidFill>
                <a:latin typeface="微软雅黑" panose="020B0503020204020204" charset="-122"/>
              </a:rPr>
              <a:t>核心资质</a:t>
            </a:r>
            <a:endParaRPr sz="10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48840" y="3456432"/>
            <a:ext cx="39319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办学许可证 或 一级合作授权书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40080" y="3899916"/>
            <a:ext cx="5532120" cy="44348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936492"/>
            <a:ext cx="14173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0A1628"/>
                </a:solidFill>
                <a:latin typeface="微软雅黑" panose="020B0503020204020204" charset="-122"/>
              </a:rPr>
              <a:t>内容材料</a:t>
            </a:r>
            <a:endParaRPr sz="10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48840" y="3936492"/>
            <a:ext cx="39319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师资证、课程大纲、合规承诺函（公章）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40080" y="4379976"/>
            <a:ext cx="5532120" cy="44348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416552"/>
            <a:ext cx="14173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0A1628"/>
                </a:solidFill>
                <a:latin typeface="微软雅黑" panose="020B0503020204020204" charset="-122"/>
              </a:rPr>
              <a:t>软评估</a:t>
            </a:r>
            <a:endParaRPr sz="10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48840" y="4416552"/>
            <a:ext cx="39319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投诉率、经营数据（GMV等为参考线索）*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40080" y="4860036"/>
            <a:ext cx="5532120" cy="44348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896612"/>
            <a:ext cx="14173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0A1628"/>
                </a:solidFill>
                <a:latin typeface="微软雅黑" panose="020B0503020204020204" charset="-122"/>
              </a:rPr>
              <a:t>咨询</a:t>
            </a:r>
            <a:endParaRPr sz="10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48840" y="4896612"/>
            <a:ext cx="39319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定向邀约热线 950529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355080" y="1024128"/>
            <a:ext cx="544068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55080" y="1024128"/>
            <a:ext cx="5440680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64808" y="1078992"/>
            <a:ext cx="52212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泛知识 · 代运营服务商（路径 A）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355080" y="1499616"/>
            <a:ext cx="5440680" cy="44348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1536192"/>
            <a:ext cx="14173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0A1628"/>
                </a:solidFill>
                <a:latin typeface="微软雅黑" panose="020B0503020204020204" charset="-122"/>
              </a:rPr>
              <a:t>注册资本</a:t>
            </a:r>
            <a:endParaRPr sz="10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863840" y="1536192"/>
            <a:ext cx="384048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≥50 万（单一主体）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355080" y="1979676"/>
            <a:ext cx="5440680" cy="44348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2016252"/>
            <a:ext cx="14173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0A1628"/>
                </a:solidFill>
                <a:latin typeface="微软雅黑" panose="020B0503020204020204" charset="-122"/>
              </a:rPr>
              <a:t>主体</a:t>
            </a:r>
            <a:endParaRPr sz="10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863840" y="2016252"/>
            <a:ext cx="384048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独立企业法人；个体/分公司不准入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355080" y="2459736"/>
            <a:ext cx="5440680" cy="44348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2496312"/>
            <a:ext cx="14173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0A1628"/>
                </a:solidFill>
                <a:latin typeface="微软雅黑" panose="020B0503020204020204" charset="-122"/>
              </a:rPr>
              <a:t>员工规模</a:t>
            </a:r>
            <a:endParaRPr sz="10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863840" y="2496312"/>
            <a:ext cx="384048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公司员工 ≥20 人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355080" y="2939796"/>
            <a:ext cx="5440680" cy="44348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2976372"/>
            <a:ext cx="14173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0A1628"/>
                </a:solidFill>
                <a:latin typeface="微软雅黑" panose="020B0503020204020204" charset="-122"/>
              </a:rPr>
              <a:t>经营数据</a:t>
            </a:r>
            <a:endParaRPr sz="10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863840" y="2976372"/>
            <a:ext cx="384048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近一年销售额 ≥10 万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355080" y="3419856"/>
            <a:ext cx="5440680" cy="44348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3456432"/>
            <a:ext cx="14173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0A1628"/>
                </a:solidFill>
                <a:latin typeface="微软雅黑" panose="020B0503020204020204" charset="-122"/>
              </a:rPr>
              <a:t>客户资源</a:t>
            </a:r>
            <a:endParaRPr sz="10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863840" y="3456432"/>
            <a:ext cx="384048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服务老师/机构 ≥10 家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355080" y="3899916"/>
            <a:ext cx="5440680" cy="44348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3936492"/>
            <a:ext cx="14173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0A1628"/>
                </a:solidFill>
                <a:latin typeface="微软雅黑" panose="020B0503020204020204" charset="-122"/>
              </a:rPr>
              <a:t>经营范围</a:t>
            </a:r>
            <a:endParaRPr sz="10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863840" y="3936492"/>
            <a:ext cx="384048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含教育、培训、咨询、文化交流等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355080" y="4379976"/>
            <a:ext cx="5440680" cy="44348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4416552"/>
            <a:ext cx="14173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0A1628"/>
                </a:solidFill>
                <a:latin typeface="微软雅黑" panose="020B0503020204020204" charset="-122"/>
              </a:rPr>
              <a:t>案例材料</a:t>
            </a:r>
            <a:endParaRPr sz="10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863840" y="4416552"/>
            <a:ext cx="384048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过往合作案例 + 小程序信息（如有）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355080" y="4860036"/>
            <a:ext cx="5440680" cy="44348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4896612"/>
            <a:ext cx="141732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0A1628"/>
                </a:solidFill>
                <a:latin typeface="微软雅黑" panose="020B0503020204020204" charset="-122"/>
              </a:rPr>
              <a:t>审核周期</a:t>
            </a:r>
            <a:endParaRPr sz="10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863840" y="4896612"/>
            <a:ext cx="3840480" cy="4069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111827"/>
                </a:solidFill>
                <a:latin typeface="微软雅黑" panose="020B0503020204020204" charset="-122"/>
              </a:rPr>
              <a:t>材料完整一般 5 个工作日内反馈</a:t>
            </a:r>
            <a:endParaRPr sz="10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640080" y="544068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8680" y="5559552"/>
            <a:ext cx="105156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>
                <a:solidFill>
                  <a:schemeClr val="bg1"/>
                </a:solidFill>
              </a:rPr>
              <a:t>角色分工：个人 IP → 路径 A；平台方 → 链路①抖店证 或 链路②泛知识证。</a:t>
            </a:r>
            <a:endParaRPr>
              <a:solidFill>
                <a:schemeClr val="bg1"/>
              </a:solidFill>
            </a:endParaRPr>
          </a:p>
          <a:p>
            <a:r>
              <a:rPr>
                <a:solidFill>
                  <a:schemeClr val="bg1"/>
                </a:solidFill>
              </a:rPr>
              <a:t>*带星号项为行业/招商口径，非统一硬性条文。详见政策规则与角色闭环章节。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平台方准备清单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个人 IP 抖音卖课 · 链路 ① 或 ② 二选一先通 Mx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1"/>
            </p:custDataLst>
          </p:nvPr>
        </p:nvSpPr>
        <p:spPr>
          <a:xfrm>
            <a:off x="502920" y="1051560"/>
            <a:ext cx="36576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2"/>
            </p:custDataLst>
          </p:nvPr>
        </p:nvSpPr>
        <p:spPr>
          <a:xfrm>
            <a:off x="502920" y="1051560"/>
            <a:ext cx="3657600" cy="4389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640080" y="1115568"/>
            <a:ext cx="33832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资质与公域 · M1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667512" y="160020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/>
              </a:rPr>
              <a:t>【链路①】教培邀约 + 官方抖店</a:t>
            </a:r>
            <a:endParaRPr>
              <a:solidFill/>
            </a:endParaRPr>
          </a:p>
          <a:p>
            <a:r>
              <a:rPr>
                <a:solidFill/>
              </a:rPr>
              <a:t>【链路②】泛知识代运营服务商</a:t>
            </a:r>
            <a:endParaRPr>
              <a:solidFill/>
            </a:endParaRPr>
          </a:p>
          <a:p>
            <a:r>
              <a:rPr>
                <a:solidFill/>
              </a:rPr>
              <a:t>（二选一先通）</a:t>
            </a:r>
            <a:endParaRPr>
              <a:solidFill/>
            </a:endParaRPr>
          </a:p>
          <a:p>
            <a:r>
              <a:rPr>
                <a:solidFill/>
              </a:rPr>
              <a:t>· 企业主体 + ICP + 微信商户号</a:t>
            </a:r>
            <a:endParaRPr>
              <a:solidFill/>
            </a:endParaRPr>
          </a:p>
          <a:p>
            <a:r>
              <a:rPr>
                <a:solidFill/>
              </a:rPr>
              <a:t>· 行业 BD / 邀约材料提报</a:t>
            </a:r>
            <a:endParaRPr>
              <a:solidFill/>
            </a:endParaRPr>
          </a:p>
          <a:p>
            <a:r>
              <a:rPr>
                <a:solidFill/>
              </a:rPr>
              <a:t>· 政策规则 · 邀约对照 · 角色闭环 · 公域链路</a:t>
            </a:r>
            <a:endParaRPr>
              <a:solidFill/>
            </a:endParaRPr>
          </a:p>
        </p:txBody>
      </p:sp>
      <p:sp>
        <p:nvSpPr>
          <p:cNvPr id="15" name="Rounded Rectangle 14"/>
          <p:cNvSpPr/>
          <p:nvPr>
            <p:custDataLst>
              <p:tags r:id="rId5"/>
            </p:custDataLst>
          </p:nvPr>
        </p:nvSpPr>
        <p:spPr>
          <a:xfrm>
            <a:off x="4297680" y="1051560"/>
            <a:ext cx="36576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>
            <p:custDataLst>
              <p:tags r:id="rId6"/>
            </p:custDataLst>
          </p:nvPr>
        </p:nvSpPr>
        <p:spPr>
          <a:xfrm>
            <a:off x="4297680" y="1051560"/>
            <a:ext cx="365760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7"/>
            </p:custDataLst>
          </p:nvPr>
        </p:nvSpPr>
        <p:spPr>
          <a:xfrm>
            <a:off x="4434840" y="1115568"/>
            <a:ext cx="33832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产品研发 · M3–Mx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8"/>
            </p:custDataLst>
          </p:nvPr>
        </p:nvSpPr>
        <p:spPr>
          <a:xfrm>
            <a:off x="4462272" y="1600200"/>
            <a:ext cx="3337560" cy="2691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【①】商品同步抖店 + Webhook</a:t>
            </a:r>
          </a:p>
          <a:p>
            <a:r>
              <a:t>【②】课程库 + 开放平台交易 API</a:t>
            </a:r>
          </a:p>
          <a:p>
            <a:r>
              <a:t>· 支付幂等 · 权益 · 退款撤销</a:t>
            </a:r>
          </a:p>
          <a:p>
            <a:r>
              <a:t>【①】领权短信 + 自有小程序</a:t>
            </a:r>
          </a:p>
          <a:p>
            <a:r>
              <a:t>【②】抖音小程序履约端</a:t>
            </a:r>
          </a:p>
          <a:p>
            <a:r>
              <a:t>· 商家入驻(三类主体) + 商品合规 + 套餐配置</a:t>
            </a:r>
          </a:p>
        </p:txBody>
      </p:sp>
      <p:sp>
        <p:nvSpPr>
          <p:cNvPr id="19" name="Rounded Rectangle 18"/>
          <p:cNvSpPr/>
          <p:nvPr>
            <p:custDataLst>
              <p:tags r:id="rId9"/>
            </p:custDataLst>
          </p:nvPr>
        </p:nvSpPr>
        <p:spPr>
          <a:xfrm>
            <a:off x="8092440" y="1051560"/>
            <a:ext cx="36576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>
            <p:custDataLst>
              <p:tags r:id="rId10"/>
            </p:custDataLst>
          </p:nvPr>
        </p:nvSpPr>
        <p:spPr>
          <a:xfrm>
            <a:off x="8092440" y="1051560"/>
            <a:ext cx="365760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1"/>
            </p:custDataLst>
          </p:nvPr>
        </p:nvSpPr>
        <p:spPr>
          <a:xfrm>
            <a:off x="8229600" y="1115568"/>
            <a:ext cx="33832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运营就绪 · Mx 演示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2"/>
            </p:custDataLst>
          </p:nvPr>
        </p:nvSpPr>
        <p:spPr>
          <a:xfrm>
            <a:off x="8257032" y="1600200"/>
            <a:ext cx="3337560" cy="203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· 种子商家 SOP（入驻→开店→合规上架→挂车）</a:t>
            </a:r>
            <a:endParaRPr sz="1800"/>
          </a:p>
          <a:p>
            <a:r>
              <a:rPr sz="1800"/>
              <a:t>· 直播/短视频统一商品卡配置</a:t>
            </a:r>
            <a:endParaRPr sz="1800"/>
          </a:p>
          <a:p>
            <a:r>
              <a:rPr sz="1800"/>
              <a:t>· 官方店商品池维护（路径 A）</a:t>
            </a:r>
            <a:endParaRPr sz="1800"/>
          </a:p>
          <a:p>
            <a:r>
              <a:rPr sz="1800"/>
              <a:t>· 首演：视频挂载→买一单→学一节</a:t>
            </a:r>
            <a:endParaRPr sz="1800"/>
          </a:p>
          <a:p>
            <a:r>
              <a:rPr sz="1800"/>
              <a:t>· 管理端退款关权益验收</a:t>
            </a:r>
            <a:endParaRPr sz="1800"/>
          </a:p>
        </p:txBody>
      </p:sp>
      <p:sp>
        <p:nvSpPr>
          <p:cNvPr id="23" name="Rounded Rectangle 22"/>
          <p:cNvSpPr/>
          <p:nvPr/>
        </p:nvSpPr>
        <p:spPr>
          <a:xfrm>
            <a:off x="640080" y="5166360"/>
            <a:ext cx="10972800" cy="10515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321808"/>
            <a:ext cx="105156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>
                <a:solidFill>
                  <a:schemeClr val="bg1"/>
                </a:solidFill>
              </a:rPr>
              <a:t>个人 IP 走路径 A：客户只发内容+挂入口。平台方选定链路 ① 或 ② 准备资质与研发，Mx 验收通过后再扩第二链路或第二公域。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技术落点 · 商品类型 + 权益履约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统一交易层 · 履约按 type 扩展 · 不污染 B2B 客户库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1051560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51560"/>
            <a:ext cx="128016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188720"/>
            <a:ext cx="1188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商品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03120" y="118872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11827"/>
                </a:solidFill>
                <a:latin typeface="微软雅黑" panose="020B0503020204020204" charset="-122"/>
              </a:rPr>
              <a:t>product.type = course|digital|service|…</a:t>
            </a:r>
            <a:endParaRPr sz="1200" b="1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98079" y="1188720"/>
            <a:ext cx="3931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后期 +physical|+store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1709928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1709928"/>
            <a:ext cx="1280160" cy="594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1847088"/>
            <a:ext cx="1188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交易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03120" y="1847088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11827"/>
                </a:solidFill>
                <a:latin typeface="微软雅黑" panose="020B0503020204020204" charset="-122"/>
              </a:rPr>
              <a:t>shop_orders · payments</a:t>
            </a:r>
            <a:endParaRPr sz="1200" b="1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98079" y="1847088"/>
            <a:ext cx="3931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不复用 B2B Order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" y="2368296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368296"/>
            <a:ext cx="1280160" cy="594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505456"/>
            <a:ext cx="1188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权益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03120" y="2505456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11827"/>
                </a:solidFill>
                <a:latin typeface="微软雅黑" panose="020B0503020204020204" charset="-122"/>
              </a:rPr>
              <a:t>entitlements 状态机</a:t>
            </a:r>
            <a:endParaRPr sz="1200" b="1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98079" y="2505456"/>
            <a:ext cx="3931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开通/核销/到期/退款撤销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080" y="3026664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026664"/>
            <a:ext cx="1280160" cy="594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163824"/>
            <a:ext cx="1188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履约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03120" y="3163824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11827"/>
                </a:solidFill>
                <a:latin typeface="微软雅黑" panose="020B0503020204020204" charset="-122"/>
              </a:rPr>
              <a:t>学习 / 兑换码 / 预约核销</a:t>
            </a:r>
            <a:endParaRPr sz="1200" b="1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98079" y="3163824"/>
            <a:ext cx="3931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插件化，按类型扩展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0080" y="3685032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3685032"/>
            <a:ext cx="1280160" cy="5943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822192"/>
            <a:ext cx="1188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买家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03120" y="3822192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11827"/>
                </a:solidFill>
                <a:latin typeface="微软雅黑" panose="020B0503020204020204" charset="-122"/>
              </a:rPr>
              <a:t>buyer / enrollment</a:t>
            </a:r>
            <a:endParaRPr sz="1200" b="1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98079" y="3822192"/>
            <a:ext cx="3931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禁止硬映射 Contact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40080" y="4343400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4343400"/>
            <a:ext cx="1280160" cy="5943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480560"/>
            <a:ext cx="1188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公域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03120" y="448056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11827"/>
                </a:solidFill>
                <a:latin typeface="微软雅黑" panose="020B0503020204020204" charset="-122"/>
              </a:rPr>
              <a:t>订单 Webhook</a:t>
            </a:r>
            <a:endParaRPr sz="1200" b="1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498079" y="4480560"/>
            <a:ext cx="3931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下单·退款·关权益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40080" y="5001768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5001768"/>
            <a:ext cx="1280160" cy="594360"/>
          </a:xfrm>
          <a:prstGeom prst="rect">
            <a:avLst/>
          </a:prstGeom>
          <a:solidFill>
            <a:srgbClr val="C4A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138928"/>
            <a:ext cx="1188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端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103120" y="5138928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11827"/>
                </a:solidFill>
                <a:latin typeface="微软雅黑" panose="020B0503020204020204" charset="-122"/>
              </a:rPr>
              <a:t>web 管理 · mp 履约</a:t>
            </a:r>
            <a:endParaRPr sz="1200" b="1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498079" y="5138928"/>
            <a:ext cx="3931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</a:rPr>
              <a:t>学课 / 核销 / 预约</a:t>
            </a:r>
            <a:endParaRPr sz="12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实施路线与硬里程碑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支付闭环不可跳过 · 抖音公域 ①或② 至少一条验收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1"/>
            </p:custDataLst>
          </p:nvPr>
        </p:nvSpPr>
        <p:spPr>
          <a:xfrm>
            <a:off x="457200" y="1280160"/>
            <a:ext cx="214884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2"/>
            </p:custDataLst>
          </p:nvPr>
        </p:nvSpPr>
        <p:spPr>
          <a:xfrm>
            <a:off x="457200" y="1280160"/>
            <a:ext cx="214884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457200" y="1371600"/>
            <a:ext cx="2148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M1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548640" y="2103120"/>
            <a:ext cx="1965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8B5CF6"/>
                </a:solidFill>
                <a:latin typeface="微软雅黑" panose="020B0503020204020204" charset="-122"/>
              </a:rPr>
              <a:t>启动周</a:t>
            </a:r>
            <a:endParaRPr sz="1200" b="1">
              <a:solidFill>
                <a:srgbClr val="8B5CF6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5"/>
            </p:custDataLst>
          </p:nvPr>
        </p:nvSpPr>
        <p:spPr>
          <a:xfrm>
            <a:off x="594360" y="2560320"/>
            <a:ext cx="1874519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商户号 · 主体资质 · 抖音 BD/邀约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2468880" y="274320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0C8FF"/>
                </a:solidFill>
                <a:latin typeface="微软雅黑" panose="020B0503020204020204" charset="-122"/>
              </a:rPr>
              <a:t>›</a:t>
            </a:r>
            <a:endParaRPr sz="22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7"/>
            </p:custDataLst>
          </p:nvPr>
        </p:nvSpPr>
        <p:spPr>
          <a:xfrm>
            <a:off x="2743200" y="1280160"/>
            <a:ext cx="214884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>
            <p:custDataLst>
              <p:tags r:id="rId8"/>
            </p:custDataLst>
          </p:nvPr>
        </p:nvSpPr>
        <p:spPr>
          <a:xfrm>
            <a:off x="2743200" y="1280160"/>
            <a:ext cx="2148840" cy="6400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9"/>
            </p:custDataLst>
          </p:nvPr>
        </p:nvSpPr>
        <p:spPr>
          <a:xfrm>
            <a:off x="2743200" y="1371600"/>
            <a:ext cx="2148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M3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0"/>
            </p:custDataLst>
          </p:nvPr>
        </p:nvSpPr>
        <p:spPr>
          <a:xfrm>
            <a:off x="2834640" y="2103120"/>
            <a:ext cx="1965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43F5E"/>
                </a:solidFill>
                <a:latin typeface="微软雅黑" panose="020B0503020204020204" charset="-122"/>
              </a:rPr>
              <a:t>硬验收</a:t>
            </a:r>
            <a:endParaRPr sz="1200" b="1">
              <a:solidFill>
                <a:srgbClr val="F43F5E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1"/>
            </p:custDataLst>
          </p:nvPr>
        </p:nvSpPr>
        <p:spPr>
          <a:xfrm>
            <a:off x="2880360" y="2560320"/>
            <a:ext cx="1874519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支付幂等 · 权益开通 · 退款撤销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2"/>
            </p:custDataLst>
          </p:nvPr>
        </p:nvSpPr>
        <p:spPr>
          <a:xfrm>
            <a:off x="4754880" y="274320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0C8FF"/>
                </a:solidFill>
                <a:latin typeface="微软雅黑" panose="020B0503020204020204" charset="-122"/>
              </a:rPr>
              <a:t>›</a:t>
            </a:r>
            <a:endParaRPr sz="22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>
            <p:custDataLst>
              <p:tags r:id="rId13"/>
            </p:custDataLst>
          </p:nvPr>
        </p:nvSpPr>
        <p:spPr>
          <a:xfrm>
            <a:off x="5029200" y="1280160"/>
            <a:ext cx="214884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>
            <p:custDataLst>
              <p:tags r:id="rId14"/>
            </p:custDataLst>
          </p:nvPr>
        </p:nvSpPr>
        <p:spPr>
          <a:xfrm>
            <a:off x="5029200" y="1280160"/>
            <a:ext cx="214884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5"/>
            </p:custDataLst>
          </p:nvPr>
        </p:nvSpPr>
        <p:spPr>
          <a:xfrm>
            <a:off x="5029200" y="1371600"/>
            <a:ext cx="2148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M4–5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6"/>
            </p:custDataLst>
          </p:nvPr>
        </p:nvSpPr>
        <p:spPr>
          <a:xfrm>
            <a:off x="5120640" y="2103120"/>
            <a:ext cx="1965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563EB"/>
                </a:solidFill>
                <a:latin typeface="微软雅黑" panose="020B0503020204020204" charset="-122"/>
              </a:rPr>
              <a:t>履约端</a:t>
            </a:r>
            <a:endParaRPr sz="12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17"/>
            </p:custDataLst>
          </p:nvPr>
        </p:nvSpPr>
        <p:spPr>
          <a:xfrm>
            <a:off x="5166360" y="2560320"/>
            <a:ext cx="1874519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小程序：学课/核销端到端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18"/>
            </p:custDataLst>
          </p:nvPr>
        </p:nvSpPr>
        <p:spPr>
          <a:xfrm>
            <a:off x="7040880" y="274320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0C8FF"/>
                </a:solidFill>
                <a:latin typeface="微软雅黑" panose="020B0503020204020204" charset="-122"/>
              </a:rPr>
              <a:t>›</a:t>
            </a:r>
            <a:endParaRPr sz="22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>
            <p:custDataLst>
              <p:tags r:id="rId19"/>
            </p:custDataLst>
          </p:nvPr>
        </p:nvSpPr>
        <p:spPr>
          <a:xfrm>
            <a:off x="7315200" y="1280160"/>
            <a:ext cx="214884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>
            <p:custDataLst>
              <p:tags r:id="rId20"/>
            </p:custDataLst>
          </p:nvPr>
        </p:nvSpPr>
        <p:spPr>
          <a:xfrm>
            <a:off x="7315200" y="1280160"/>
            <a:ext cx="2148840" cy="640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>
            <p:custDataLst>
              <p:tags r:id="rId21"/>
            </p:custDataLst>
          </p:nvPr>
        </p:nvSpPr>
        <p:spPr>
          <a:xfrm>
            <a:off x="7315200" y="1371600"/>
            <a:ext cx="2148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Mx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>
            <p:custDataLst>
              <p:tags r:id="rId22"/>
            </p:custDataLst>
          </p:nvPr>
        </p:nvSpPr>
        <p:spPr>
          <a:xfrm>
            <a:off x="7406640" y="2103120"/>
            <a:ext cx="1965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06B6D4"/>
                </a:solidFill>
                <a:latin typeface="微软雅黑" panose="020B0503020204020204" charset="-122"/>
              </a:rPr>
              <a:t>公域首单</a:t>
            </a:r>
            <a:endParaRPr sz="1200" b="1">
              <a:solidFill>
                <a:srgbClr val="06B6D4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>
            <p:custDataLst>
              <p:tags r:id="rId23"/>
            </p:custDataLst>
          </p:nvPr>
        </p:nvSpPr>
        <p:spPr>
          <a:xfrm>
            <a:off x="7452360" y="2560320"/>
            <a:ext cx="1874519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抖音 ①抖店 或 ②泛知识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>
            <p:custDataLst>
              <p:tags r:id="rId24"/>
            </p:custDataLst>
          </p:nvPr>
        </p:nvSpPr>
        <p:spPr>
          <a:xfrm>
            <a:off x="9326880" y="274320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0C8FF"/>
                </a:solidFill>
                <a:latin typeface="微软雅黑" panose="020B0503020204020204" charset="-122"/>
              </a:rPr>
              <a:t>›</a:t>
            </a:r>
            <a:endParaRPr sz="22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601200" y="1280160"/>
            <a:ext cx="214884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0" y="1280160"/>
            <a:ext cx="2148840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1371600"/>
            <a:ext cx="2148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M6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692640" y="2103120"/>
            <a:ext cx="1965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6366F1"/>
                </a:solidFill>
                <a:latin typeface="微软雅黑" panose="020B0503020204020204" charset="-122"/>
              </a:rPr>
              <a:t>双门槛</a:t>
            </a:r>
            <a:endParaRPr sz="1200" b="1">
              <a:solidFill>
                <a:srgbClr val="6366F1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738360" y="2560320"/>
            <a:ext cx="1874519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年付/PMF 或 公域订单+深度使用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40080" y="5029200"/>
            <a:ext cx="109728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5029200"/>
            <a:ext cx="109728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25780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M6 双门槛 OR：年付/愿付 或 公域有效订单+深度用。实物/门店不进 M6 硬门槛。
未达标：停四平台扩张，收窄垂直或 Plan B。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差异化与护城河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相对千聊 / 小鹅通 / 有赞微盟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097280"/>
            <a:ext cx="36576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097280"/>
            <a:ext cx="36576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18872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相对千聊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173736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多品类虚拟/服务，不绑死只卖课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自有品牌可升级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履约端自控 + 可选营客台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不拼四平台最低价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套餐分层（对标小鹅通年费档）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套餐分层可扩展（对标小鹅通年费档）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297680" y="1097280"/>
            <a:ext cx="36576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097280"/>
            <a:ext cx="365760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18872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相对小鹅通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80560" y="173736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Phase 1 更轻可挂公域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装修开店后置非砍掉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官方店路径降冷启动门槛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后续补商城+实物/门店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92440" y="1097280"/>
            <a:ext cx="36576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097280"/>
            <a:ext cx="36576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18872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相对有赞/微盟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75320" y="173736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初期不做重实物/门店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虚拟/服务履约更深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IP 内容获客更贴合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· 中后期再长实物与开店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47548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>
                <a:solidFill/>
              </a:rPr>
              <a:t>四条护城河</a:t>
            </a:r>
            <a:endParaRPr>
              <a:solidFill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512064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0C8FF"/>
                </a:solidFill>
                <a:latin typeface="微软雅黑" panose="020B0503020204020204" charset="-122"/>
              </a:rPr>
              <a:t>通用权益层</a:t>
            </a:r>
            <a:endParaRPr sz="13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" y="566928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课/服务/数字同一套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43400" y="512064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52578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0C8FF"/>
                </a:solidFill>
                <a:latin typeface="微软雅黑" panose="020B0503020204020204" charset="-122"/>
              </a:rPr>
              <a:t>IP→成交闭环</a:t>
            </a:r>
            <a:endParaRPr sz="13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26280" y="566928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</a:rPr>
              <a:t>内容获客+履约一体</a:t>
            </a:r>
            <a:endParaRPr sz="1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046720" y="512064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5257800"/>
            <a:ext cx="3200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sz="1300" b="1">
                <a:solidFill>
                  <a:srgbClr val="00C8FF"/>
                </a:solidFill>
                <a:latin typeface="微软雅黑" panose="020B0503020204020204" charset="-122"/>
                <a:sym typeface="+mn-ea"/>
              </a:rPr>
              <a:t>AI 内容工厂</a:t>
            </a:r>
            <a:endParaRPr sz="1300" b="1">
              <a:solidFill>
                <a:srgbClr val="00C8FF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9600" y="5669280"/>
            <a:ext cx="3200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文案→图文→短视频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商用素材合规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套餐 SaaS 可配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SaaS 套餐可配置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获客打法 · AI 内容工厂 + IP 矩阵 → 内容获客平台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AI 辅助生产内容 → 系列视频引流 → 店内成交 → 自有端履约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11480" y="1097280"/>
            <a:ext cx="21945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097280"/>
            <a:ext cx="219456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170432"/>
            <a:ext cx="2057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1 人设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1208" y="1737360"/>
            <a:ext cx="196596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垂直领域固定人设
职场/技能/服务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743200" y="1097280"/>
            <a:ext cx="21945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1097280"/>
            <a:ext cx="219456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6352" y="1170432"/>
            <a:ext cx="2057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2 系列视频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52928" y="1737360"/>
            <a:ext cx="196596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栏目化干货
方法框架免费给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74920" y="1097280"/>
            <a:ext cx="21945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1097280"/>
            <a:ext cx="219456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8072" y="1170432"/>
            <a:ext cx="2057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3 统一 CTA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84648" y="1737360"/>
            <a:ext cx="196596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领课/预约/下单
优先官方挂载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406640" y="1097280"/>
            <a:ext cx="21945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1097280"/>
            <a:ext cx="219456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9792" y="1170432"/>
            <a:ext cx="2057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4 平台下单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16368" y="1737360"/>
            <a:ext cx="196596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虚拟/服务下单
支付开通权益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738360" y="1097280"/>
            <a:ext cx="21945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38360" y="1097280"/>
            <a:ext cx="2194560" cy="457200"/>
          </a:xfrm>
          <a:prstGeom prst="rect">
            <a:avLst/>
          </a:prstGeom>
          <a:solidFill>
            <a:srgbClr val="C4A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11512" y="1170432"/>
            <a:ext cx="2057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5 履约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848088" y="1737360"/>
            <a:ext cx="196596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小程序学/核销
可选营客台跟进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0080" y="4297680"/>
            <a:ext cx="53035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297680"/>
            <a:ext cx="5303520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34340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可挂载的不只是课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68680" y="48006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· 专栏/体验课 · 资料包/会员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· 咨询预约 · 服务次数卡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· 路径：公域直卖 或 加微再卖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217920" y="4297680"/>
            <a:ext cx="53035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297680"/>
            <a:ext cx="5303520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34340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注意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46520" y="48006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/>
              </a:rPr>
              <a:t>· 优先官方挂载，少裸贴微信</a:t>
            </a:r>
            <a:endParaRPr>
              <a:solidFill/>
            </a:endParaRPr>
          </a:p>
          <a:p>
            <a:r>
              <a:rPr>
                <a:solidFill/>
              </a:rPr>
              <a:t>· IP 可多人入驻，别绑死一人</a:t>
            </a:r>
            <a:endParaRPr>
              <a:solidFill/>
            </a:endParaRPr>
          </a:p>
          <a:p>
            <a:r>
              <a:rPr>
                <a:solidFill/>
              </a:rPr>
              <a:t>· Phase 2 起：AI 生成详情/推广素材</a:t>
            </a:r>
            <a:endParaRPr>
              <a:solidFill/>
            </a:endParaRPr>
          </a:p>
          <a:p>
            <a:r>
              <a:rPr>
                <a:solidFill/>
              </a:rPr>
              <a:t>· Phase 3/4：商用配图与短视频成片</a:t>
            </a:r>
            <a:endParaRPr>
              <a:solidFill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风险与 Plan B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政策 · 同质化 · 摊大饼 —— 预先写好退路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109728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97280"/>
            <a:ext cx="91440" cy="8686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34440"/>
            <a:ext cx="32004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微软雅黑" panose="020B0503020204020204" charset="-122"/>
              </a:rPr>
              <a:t>教培邀约拿不到</a:t>
            </a:r>
            <a:endParaRPr sz="14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97680" y="1280160"/>
            <a:ext cx="7040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私域/加微先行 · 挂合作方有资质店 · 或只做路径 B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205740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057400"/>
            <a:ext cx="91440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194560"/>
            <a:ext cx="32004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微软雅黑" panose="020B0503020204020204" charset="-122"/>
              </a:rPr>
              <a:t>平台政策再收</a:t>
            </a:r>
            <a:endParaRPr sz="14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97680" y="2240280"/>
            <a:ext cx="7040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降低公域依赖 · 强化微信履约闭环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301752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017520"/>
            <a:ext cx="91440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154680"/>
            <a:ext cx="32004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>
                <a:solidFill/>
              </a:rPr>
              <a:t>与千聊同质化 / 素材侵权</a:t>
            </a:r>
            <a:endParaRPr>
              <a:solidFill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97680" y="3200400"/>
            <a:ext cx="7040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>
                <a:solidFill/>
              </a:rPr>
              <a:t>多品类 + 品牌可升级 + AI内容工厂 + 商用素材合规</a:t>
            </a:r>
            <a:endParaRPr>
              <a:solidFill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0080" y="397764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977640"/>
            <a:ext cx="91440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114800"/>
            <a:ext cx="32004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微软雅黑" panose="020B0503020204020204" charset="-122"/>
              </a:rPr>
              <a:t>过早做实物门店</a:t>
            </a:r>
            <a:endParaRPr sz="14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297680" y="4160520"/>
            <a:ext cx="7040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Phase 1 锁虚拟/服务 · Mx 不过不扩品类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" y="5029200"/>
            <a:ext cx="10972800" cy="12801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212080"/>
            <a:ext cx="10515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200">
                <a:solidFill>
                  <a:schemeClr val="bg1"/>
                </a:solidFill>
                <a:latin typeface="微软雅黑" panose="020B0503020204020204" charset="-122"/>
              </a:rPr>
              <a:t>素材版权</a:t>
            </a:r>
            <a:endParaRPr sz="1200">
              <a:solidFill>
                <a:schemeClr val="bg1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chemeClr val="bg1"/>
                </a:solidFill>
                <a:latin typeface="微软雅黑" panose="020B0503020204020204" charset="-122"/>
              </a:rPr>
              <a:t>商用白名单图库/曲库 · 授权可追溯 · 人审后发布</a:t>
            </a:r>
            <a:endParaRPr sz="1200">
              <a:solidFill>
                <a:schemeClr val="bg1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chemeClr val="bg1"/>
                </a:solidFill>
                <a:latin typeface="微软雅黑" panose="020B0503020204020204" charset="-122"/>
              </a:rPr>
              <a:t>禁止无授权流行曲与 AI 图商用</a:t>
            </a:r>
            <a:endParaRPr sz="1200">
              <a:solidFill>
                <a:schemeClr val="bg1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8680" y="585216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</a:rPr>
              <a:t>Plan B（M6 未达标）</a:t>
            </a:r>
            <a:endParaRPr sz="1300" b="0">
              <a:solidFill>
                <a:srgbClr val="FFFFFF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FFFFFF"/>
                </a:solidFill>
                <a:latin typeface="微软雅黑" panose="020B0503020204020204" charset="-122"/>
              </a:rPr>
              <a:t>暂停四平台扩张 · 收窄垂直 · 或做「已有小鹅通/千聊商家的经营增强层」</a:t>
            </a:r>
            <a:endParaRPr sz="13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典型场景与演示脚本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IP 视频 → 公域下单 → 履约 → 退款关权益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1188720"/>
            <a:ext cx="21488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188720"/>
            <a:ext cx="214884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261872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>
                <a:solidFill/>
              </a:rPr>
              <a:t>1 IP 短视频</a:t>
            </a:r>
            <a:endParaRPr>
              <a:solidFill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2011680"/>
            <a:ext cx="1874519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系列干货
统一 CTA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743200" y="1188720"/>
            <a:ext cx="21488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1188720"/>
            <a:ext cx="214884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1261872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2  公域下单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80360" y="2011680"/>
            <a:ext cx="1874519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链路 ① 或 ②
路径 A 或 B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0" y="1188720"/>
            <a:ext cx="21488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1188720"/>
            <a:ext cx="214884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1261872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3  领权短信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66360" y="2011680"/>
            <a:ext cx="1874519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手机号兑换
进小程序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315200" y="1188720"/>
            <a:ext cx="21488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1188720"/>
            <a:ext cx="214884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1261872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4  履约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52360" y="2011680"/>
            <a:ext cx="1874519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学课或核销
进度可查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601200" y="1188720"/>
            <a:ext cx="21488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0" y="1188720"/>
            <a:ext cx="2148840" cy="502920"/>
          </a:xfrm>
          <a:prstGeom prst="rect">
            <a:avLst/>
          </a:prstGeom>
          <a:solidFill>
            <a:srgbClr val="C4A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1261872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5  管理端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738360" y="2011680"/>
            <a:ext cx="1874519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订单·权益·退款
可选时间线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0080" y="4663440"/>
            <a:ext cx="109728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84632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A1628"/>
                </a:solidFill>
                <a:latin typeface="微软雅黑" panose="020B0503020204020204" charset="-122"/>
              </a:rPr>
              <a:t>标杆客群</a:t>
            </a:r>
            <a:endParaRPr sz="14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68680" y="530352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个人 IP / 中小教培与服务机构 / 内容型商家。演示包须能独立成交，不依赖四平台齐装。
首演：一条视频挂载 → 下单 → 履约一节/一次核销 → 管理端退款关权益。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总结与下一步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BDF8"/>
                </a:solidFill>
                <a:latin typeface="微软雅黑" panose="020B0503020204020204" charset="-122"/>
              </a:rPr>
              <a:t>AI 内容工厂 + 交易闭环 + CRM · 四平台分阶段 · 路径 A/B 并列</a:t>
            </a:r>
            <a:endParaRPr sz="12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</a:rPr>
              <a:t>内容获客平台 · AI 内容工厂 + 交易闭环 + CRM</a:t>
            </a:r>
            <a:endParaRPr sz="12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1188720"/>
            <a:ext cx="24688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188720"/>
            <a:ext cx="2468880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261872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0C8FF"/>
                </a:solidFill>
                <a:latin typeface="微软雅黑" panose="020B0503020204020204" charset="-122"/>
              </a:rPr>
              <a:t>调研</a:t>
            </a:r>
            <a:endParaRPr sz="14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1783080"/>
            <a:ext cx="21945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小鹅通/千聊
多品类定位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71800" y="173736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0C8FF"/>
                </a:solidFill>
                <a:latin typeface="微软雅黑" panose="020B0503020204020204" charset="-122"/>
              </a:rPr>
              <a:t>→</a:t>
            </a:r>
            <a:endParaRPr sz="20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474720" y="1188720"/>
            <a:ext cx="24688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188720"/>
            <a:ext cx="2468880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261872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0C8FF"/>
                </a:solidFill>
                <a:latin typeface="微软雅黑" panose="020B0503020204020204" charset="-122"/>
              </a:rPr>
              <a:t>方案</a:t>
            </a:r>
            <a:endParaRPr sz="14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11880" y="1783080"/>
            <a:ext cx="21945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商家多店 · 套餐 SaaS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交易合规 + 虚拟/服务闭环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06440" y="173736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0C8FF"/>
                </a:solidFill>
                <a:latin typeface="微软雅黑" panose="020B0503020204020204" charset="-122"/>
              </a:rPr>
              <a:t>→</a:t>
            </a:r>
            <a:endParaRPr sz="20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09360" y="1188720"/>
            <a:ext cx="24688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188720"/>
            <a:ext cx="2468880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261872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0C8FF"/>
                </a:solidFill>
                <a:latin typeface="微软雅黑" panose="020B0503020204020204" charset="-122"/>
              </a:rPr>
              <a:t>获客</a:t>
            </a:r>
            <a:endParaRPr sz="14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46520" y="1783080"/>
            <a:ext cx="21945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AI 生产 → IP 引流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rgbClr val="111827"/>
                </a:solidFill>
                <a:latin typeface="微软雅黑" panose="020B0503020204020204" charset="-122"/>
              </a:rPr>
              <a:t>→ 平台成交履约</a:t>
            </a:r>
            <a:endParaRPr sz="120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41080" y="173736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0C8FF"/>
                </a:solidFill>
                <a:latin typeface="微软雅黑" panose="020B0503020204020204" charset="-122"/>
              </a:rPr>
              <a:t>→</a:t>
            </a:r>
            <a:endParaRPr sz="20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44000" y="1188720"/>
            <a:ext cx="24688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1188720"/>
            <a:ext cx="2468880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1261872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0C8FF"/>
                </a:solidFill>
                <a:latin typeface="微软雅黑" panose="020B0503020204020204" charset="-122"/>
              </a:rPr>
              <a:t>落地</a:t>
            </a:r>
            <a:endParaRPr sz="14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81160" y="1783080"/>
            <a:ext cx="21945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111827"/>
                </a:solidFill>
                <a:latin typeface="微软雅黑" panose="020B0503020204020204" charset="-122"/>
              </a:rPr>
              <a:t>M3+Mx
再扩店与平台</a:t>
            </a:r>
            <a:endParaRPr sz="1300" b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080" y="3108960"/>
            <a:ext cx="10972800" cy="18288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329184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0C8FF"/>
                </a:solidFill>
                <a:latin typeface="微软雅黑" panose="020B0503020204020204" charset="-122"/>
              </a:rPr>
              <a:t>启动建议</a:t>
            </a:r>
            <a:endParaRPr sz="1400" b="1">
              <a:solidFill>
                <a:srgbClr val="00C8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68680" y="3749039"/>
            <a:ext cx="10515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200">
                <a:solidFill>
                  <a:schemeClr val="bg1"/>
                </a:solidFill>
                <a:latin typeface="微软雅黑" panose="020B0503020204020204" charset="-122"/>
              </a:rPr>
              <a:t>① 锁定首发品类（课 + 服务/数字权益）与路径 A/B</a:t>
            </a:r>
            <a:endParaRPr sz="1200">
              <a:solidFill>
                <a:schemeClr val="bg1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chemeClr val="bg1"/>
                </a:solidFill>
                <a:latin typeface="微软雅黑" panose="020B0503020204020204" charset="-122"/>
              </a:rPr>
              <a:t>② M1 商户号与资质；选定链路 ① 或 ②</a:t>
            </a:r>
            <a:endParaRPr sz="1200">
              <a:solidFill>
                <a:schemeClr val="bg1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chemeClr val="bg1"/>
                </a:solidFill>
                <a:latin typeface="微软雅黑" panose="020B0503020204020204" charset="-122"/>
              </a:rPr>
              <a:t>③ M3 支付验收 → Mx 公域首单</a:t>
            </a:r>
            <a:endParaRPr sz="1200">
              <a:solidFill>
                <a:schemeClr val="bg1"/>
              </a:solidFill>
              <a:latin typeface="微软雅黑" panose="020B0503020204020204" charset="-122"/>
            </a:endParaRPr>
          </a:p>
          <a:p>
            <a:r>
              <a:rPr sz="1200">
                <a:solidFill>
                  <a:schemeClr val="bg1"/>
                </a:solidFill>
                <a:latin typeface="微软雅黑" panose="020B0503020204020204" charset="-122"/>
              </a:rPr>
              <a:t>④ Phase 2 智能体×商城 → Phase 3/4 图文与短视频</a:t>
            </a:r>
            <a:endParaRPr sz="1200">
              <a:solidFill>
                <a:schemeClr val="bg1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0080" y="5212080"/>
            <a:ext cx="2651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349240"/>
            <a:ext cx="2651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0A1628"/>
                </a:solidFill>
                <a:latin typeface="微软雅黑" panose="020B0503020204020204" charset="-122"/>
              </a:rPr>
              <a:t>选定 ①或② 链路</a:t>
            </a:r>
            <a:endParaRPr sz="12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474720" y="5212080"/>
            <a:ext cx="2651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0" y="5349240"/>
            <a:ext cx="2651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0A1628"/>
                </a:solidFill>
                <a:latin typeface="微软雅黑" panose="020B0503020204020204" charset="-122"/>
              </a:rPr>
              <a:t>资质包 + 对接开发</a:t>
            </a:r>
            <a:endParaRPr sz="12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309360" y="5212080"/>
            <a:ext cx="2651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5349240"/>
            <a:ext cx="2651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0A1628"/>
                </a:solidFill>
                <a:latin typeface="微软雅黑" panose="020B0503020204020204" charset="-122"/>
              </a:rPr>
              <a:t>短信/小程序履约</a:t>
            </a:r>
            <a:endParaRPr sz="12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144000" y="5212080"/>
            <a:ext cx="2651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5349240"/>
            <a:ext cx="2651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0A1628"/>
                </a:solidFill>
                <a:latin typeface="微软雅黑" panose="020B0503020204020204" charset="-122"/>
              </a:rPr>
              <a:t>种子 IP 5–10 家</a:t>
            </a:r>
            <a:endParaRPr sz="1200" b="1">
              <a:solidFill>
                <a:srgbClr val="0A162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3.1999212598425,&quot;left&quot;:39.6,&quot;top&quot;:82.8,&quot;width&quot;:885.6}"/>
</p:tagLst>
</file>

<file path=ppt/tags/tag2.xml><?xml version="1.0" encoding="utf-8"?>
<p:tagLst xmlns:p="http://schemas.openxmlformats.org/presentationml/2006/main">
  <p:tag name="KSO_WM_DIAGRAM_VIRTUALLY_FRAME" val="{&quot;height&quot;:313.1999212598425,&quot;left&quot;:39.6,&quot;top&quot;:82.8,&quot;width&quot;:885.6}"/>
</p:tagLst>
</file>

<file path=ppt/tags/tag3.xml><?xml version="1.0" encoding="utf-8"?>
<p:tagLst xmlns:p="http://schemas.openxmlformats.org/presentationml/2006/main">
  <p:tag name="KSO_WM_DIAGRAM_VIRTUALLY_FRAME" val="{&quot;height&quot;:313.1999212598425,&quot;left&quot;:39.6,&quot;top&quot;:82.8,&quot;width&quot;:885.6}"/>
</p:tagLst>
</file>

<file path=ppt/tags/tag4.xml><?xml version="1.0" encoding="utf-8"?>
<p:tagLst xmlns:p="http://schemas.openxmlformats.org/presentationml/2006/main">
  <p:tag name="KSO_WM_DIAGRAM_VIRTUALLY_FRAME" val="{&quot;height&quot;:313.1999212598425,&quot;left&quot;:39.6,&quot;top&quot;:82.8,&quot;width&quot;:885.6}"/>
</p:tagLst>
</file>

<file path=ppt/tags/tag5.xml><?xml version="1.0" encoding="utf-8"?>
<p:tagLst xmlns:p="http://schemas.openxmlformats.org/presentationml/2006/main">
  <p:tag name="KSO_WM_DIAGRAM_VIRTUALLY_FRAME" val="{&quot;height&quot;:313.1999212598425,&quot;left&quot;:39.6,&quot;top&quot;:82.8,&quot;width&quot;:885.6}"/>
</p:tagLst>
</file>

<file path=ppt/tags/tag6.xml><?xml version="1.0" encoding="utf-8"?>
<p:tagLst xmlns:p="http://schemas.openxmlformats.org/presentationml/2006/main">
  <p:tag name="KSO_WM_DIAGRAM_VIRTUALLY_FRAME" val="{&quot;height&quot;:313.1999212598425,&quot;left&quot;:39.6,&quot;top&quot;:82.8,&quot;width&quot;:885.6}"/>
</p:tagLst>
</file>

<file path=ppt/tags/tag7.xml><?xml version="1.0" encoding="utf-8"?>
<p:tagLst xmlns:p="http://schemas.openxmlformats.org/presentationml/2006/main">
  <p:tag name="KSO_WM_DIAGRAM_VIRTUALLY_FRAME" val="{&quot;height&quot;:313.1999212598425,&quot;left&quot;:39.6,&quot;top&quot;:82.8,&quot;width&quot;:885.6}"/>
</p:tagLst>
</file>

<file path=ppt/tags/tag8.xml><?xml version="1.0" encoding="utf-8"?>
<p:tagLst xmlns:p="http://schemas.openxmlformats.org/presentationml/2006/main">
  <p:tag name="KSO_WM_DIAGRAM_VIRTUALLY_FRAME" val="{&quot;height&quot;:313.1999212598425,&quot;left&quot;:39.6,&quot;top&quot;:82.8,&quot;width&quot;:885.6}"/>
</p:tagLst>
</file>

<file path=ppt/tags/tag9.xml><?xml version="1.0" encoding="utf-8"?>
<p:tagLst xmlns:p="http://schemas.openxmlformats.org/presentationml/2006/main">
  <p:tag name="KSO_WM_DIAGRAM_VIRTUALLY_FRAME" val="{&quot;height&quot;:313.1999212598425,&quot;left&quot;:39.6,&quot;top&quot;:82.8,&quot;width&quot;:885.6}"/>
</p:tagLst>
</file>

<file path=ppt/tags/tag10.xml><?xml version="1.0" encoding="utf-8"?>
<p:tagLst xmlns:p="http://schemas.openxmlformats.org/presentationml/2006/main">
  <p:tag name="KSO_WM_DIAGRAM_VIRTUALLY_FRAME" val="{&quot;height&quot;:313.1999212598425,&quot;left&quot;:39.6,&quot;top&quot;:82.8,&quot;width&quot;:885.6}"/>
</p:tagLst>
</file>

<file path=ppt/tags/tag11.xml><?xml version="1.0" encoding="utf-8"?>
<p:tagLst xmlns:p="http://schemas.openxmlformats.org/presentationml/2006/main">
  <p:tag name="KSO_WM_DIAGRAM_VIRTUALLY_FRAME" val="{&quot;height&quot;:313.1999212598425,&quot;left&quot;:39.6,&quot;top&quot;:82.8,&quot;width&quot;:885.6}"/>
</p:tagLst>
</file>

<file path=ppt/tags/tag12.xml><?xml version="1.0" encoding="utf-8"?>
<p:tagLst xmlns:p="http://schemas.openxmlformats.org/presentationml/2006/main">
  <p:tag name="KSO_WM_DIAGRAM_VIRTUALLY_FRAME" val="{&quot;height&quot;:313.1999212598425,&quot;left&quot;:39.6,&quot;top&quot;:82.8,&quot;width&quot;:885.6}"/>
</p:tagLst>
</file>

<file path=ppt/tags/tag13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14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15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16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17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18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19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20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21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22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23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24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25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26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27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28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29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30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31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32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33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34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35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ags/tag36.xml><?xml version="1.0" encoding="utf-8"?>
<p:tagLst xmlns:p="http://schemas.openxmlformats.org/presentationml/2006/main">
  <p:tag name="KSO_WM_DIAGRAM_VIRTUALLY_FRAME" val="{&quot;height&quot;:273.6,&quot;left&quot;:36,&quot;top&quot;:100.8,&quot;width&quot;:72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9251</Words>
  <Application>WPS 演示</Application>
  <PresentationFormat>On-screen Show (4:3)</PresentationFormat>
  <Paragraphs>1142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施胜非</cp:lastModifiedBy>
  <cp:revision>6</cp:revision>
  <dcterms:created xsi:type="dcterms:W3CDTF">2013-01-27T09:14:00Z</dcterms:created>
  <dcterms:modified xsi:type="dcterms:W3CDTF">2026-08-05T06:50:37Z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92D1149D88D44F66890CCCCB03BA7199_13</vt:lpwstr>
  </property>
  <property fmtid="{D5CDD505-2E9C-101B-9397-08002B2CF9AE}" pid="3" name="KSOProductBuildVer">
    <vt:lpwstr>2052-12.1.0.28043</vt:lpwstr>
  </property>
</Properties>
</file>