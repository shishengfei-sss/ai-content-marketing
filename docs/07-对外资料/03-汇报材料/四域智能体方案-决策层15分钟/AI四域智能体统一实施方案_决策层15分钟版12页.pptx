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presProps" Target="presProps.xml" /><Relationship Id="rId1" Type="http://schemas.openxmlformats.org/officeDocument/2006/relationships/slide" Target="slides/slide1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3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533400" y="1600200"/>
            <a:ext cx="533400" cy="28575"/>
          </a:xfrm>
          <a:prstGeom prst="rect">
            <a:avLst/>
          </a:prstGeom>
          <a:solidFill>
            <a:srgbClr val="C4A052"/>
          </a:soli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33400" y="1895475"/>
            <a:ext cx="33147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8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营销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销售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服务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财税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33400" y="2990850"/>
            <a:ext cx="33147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8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四域智能体统一实施方案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33400" y="4162425"/>
            <a:ext cx="3314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A052"/>
                </a:solidFill>
                <a:latin typeface="Microsoft YaHei"/>
                <a:ea typeface="Microsoft YaHei"/>
              </a:rPr>
              <a:t>决策层</a:t>
            </a:r>
            <a:r>
              <a:rPr lang="en-US" sz="1500" b="1">
                <a:solidFill>
                  <a:srgbClr val="C4A052"/>
                </a:solidFill>
                <a:latin typeface="Microsoft YaHei"/>
                <a:ea typeface="Microsoft YaHei"/>
              </a:rPr>
              <a:t> · 15 </a:t>
            </a:r>
            <a:r>
              <a:rPr lang="zh-CN" sz="1500" b="1">
                <a:solidFill>
                  <a:srgbClr val="C4A052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33400" y="4391025"/>
            <a:ext cx="533400" cy="9525"/>
          </a:xfrm>
          <a:prstGeom prst="rect">
            <a:avLst/>
          </a:prstGeom>
          <a:solidFill>
            <a:srgbClr val="C4A052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33400" y="4400550"/>
            <a:ext cx="3314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从公域获客到财税合规闭环</a:t>
            </a:r>
            <a:r>
              <a:rPr lang="en-US" sz="11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私有化可落地</a:t>
            </a:r>
            <a:r>
              <a:rPr lang="en-US" sz="11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 · AI </a:t>
            </a:r>
            <a:r>
              <a:rPr lang="zh-CN" sz="11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建议·人拍板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33400" y="5105400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12 </a:t>
            </a:r>
            <a:r>
              <a:rPr lang="zh-CN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页</a:t>
            </a:r>
            <a:r>
              <a:rPr lang="en-US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 · 15 </a:t>
            </a:r>
            <a:r>
              <a:rPr lang="zh-CN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分钟决策层汇报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4381500" y="0"/>
            <a:ext cx="78105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943475" y="495300"/>
            <a:ext cx="6743700" cy="419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914900" y="495300"/>
            <a:ext cx="6772275" cy="419100"/>
          </a:xfrm>
          <a:custGeom>
            <a:pathLst>
              <a:path w="711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C4A052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095875" y="60960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744"/>
                </a:solidFill>
                <a:latin typeface="Microsoft YaHei"/>
                <a:ea typeface="Microsoft YaHei"/>
              </a:rPr>
              <a:t>营销智能体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238875" y="6286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获客与线索转化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4943475" y="1047750"/>
            <a:ext cx="6743700" cy="419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4914900" y="1047750"/>
            <a:ext cx="6772275" cy="419100"/>
          </a:xfrm>
          <a:custGeom>
            <a:pathLst>
              <a:path w="711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C4A052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095875" y="11620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744"/>
                </a:solidFill>
                <a:latin typeface="Microsoft YaHei"/>
                <a:ea typeface="Microsoft YaHei"/>
              </a:rPr>
              <a:t>销售智能体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238875" y="11811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商机成交与回款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943475" y="1600200"/>
            <a:ext cx="6743700" cy="419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4914900" y="1600200"/>
            <a:ext cx="6772275" cy="419100"/>
          </a:xfrm>
          <a:custGeom>
            <a:pathLst>
              <a:path w="711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C4A052"/>
          </a:solidFill>
          <a:ln/>
        </p:spPr>
        <p:txBody>
          <a:bodyPr/>
          <a:p>
            <a:pPr/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095875" y="171450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744"/>
                </a:solidFill>
                <a:latin typeface="Microsoft YaHei"/>
                <a:ea typeface="Microsoft YaHei"/>
              </a:rPr>
              <a:t>服务智能体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238875" y="17335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交付服务与续约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943475" y="2152650"/>
            <a:ext cx="6743700" cy="419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4914900" y="2152650"/>
            <a:ext cx="6772275" cy="419100"/>
          </a:xfrm>
          <a:custGeom>
            <a:pathLst>
              <a:path w="711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C4A052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095875" y="22669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744"/>
                </a:solidFill>
                <a:latin typeface="Microsoft YaHei"/>
                <a:ea typeface="Microsoft YaHei"/>
              </a:rPr>
              <a:t>财税智能体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238875" y="22860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财务合规与经营分析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914900" y="6067425"/>
            <a:ext cx="6743700" cy="314325"/>
          </a:xfrm>
          <a:custGeom>
            <a:pathLst>
              <a:path w="708" h="33">
                <a:moveTo>
                  <a:pt x="0" y="0"/>
                </a:moveTo>
                <a:lnTo>
                  <a:pt x="708" y="0"/>
                </a:lnTo>
                <a:lnTo>
                  <a:pt x="708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914900" y="6219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249025" y="6219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01 / 12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1428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内容框架</a:t>
            </a: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 · 15 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12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页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先看见价值，再讲差异化与私有化落地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2133600"/>
            <a:ext cx="10972800" cy="8953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9050" dir="5400000">
              <a:srgbClr val="0F2744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2133600"/>
            <a:ext cx="685800" cy="895350"/>
          </a:xfrm>
          <a:custGeom>
            <a:pathLst>
              <a:path w="72" h="94">
                <a:moveTo>
                  <a:pt x="72" y="94"/>
                </a:moveTo>
                <a:lnTo>
                  <a:pt x="4" y="94"/>
                </a:lnTo>
                <a:cubicBezTo>
                  <a:pt x="2" y="94"/>
                  <a:pt x="0" y="92"/>
                  <a:pt x="0" y="9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72" y="0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09625" y="244792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4A052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485900" y="22860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痛点与价值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628900" y="23431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A052"/>
                </a:solidFill>
                <a:latin typeface="Microsoft YaHei"/>
                <a:ea typeface="Microsoft YaHei"/>
              </a:rPr>
              <a:t>P3–P4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485900" y="2619375"/>
            <a:ext cx="990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业务闭环全景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四域痛点代价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销售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参谋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Demo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（老板问得出、方案拍得了板）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09600" y="3181350"/>
            <a:ext cx="10972800" cy="8953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9050" dir="5400000">
              <a:srgbClr val="0F2744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3181350"/>
            <a:ext cx="685800" cy="895350"/>
          </a:xfrm>
          <a:custGeom>
            <a:pathLst>
              <a:path w="72" h="94">
                <a:moveTo>
                  <a:pt x="72" y="94"/>
                </a:moveTo>
                <a:lnTo>
                  <a:pt x="4" y="94"/>
                </a:lnTo>
                <a:cubicBezTo>
                  <a:pt x="2" y="94"/>
                  <a:pt x="0" y="92"/>
                  <a:pt x="0" y="9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72" y="0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09625" y="349567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4A052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485900" y="33337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方案与差异化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2838450" y="3390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A052"/>
                </a:solidFill>
                <a:latin typeface="Microsoft YaHei"/>
                <a:ea typeface="Microsoft YaHei"/>
              </a:rPr>
              <a:t>P5–P7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485900" y="3667125"/>
            <a:ext cx="990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系统架构总览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四域智能体职责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竞品四空缺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三条护城河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4229100"/>
            <a:ext cx="10972800" cy="8953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9050" dir="5400000">
              <a:srgbClr val="0F2744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4229100"/>
            <a:ext cx="685800" cy="895350"/>
          </a:xfrm>
          <a:custGeom>
            <a:pathLst>
              <a:path w="72" h="94">
                <a:moveTo>
                  <a:pt x="72" y="94"/>
                </a:moveTo>
                <a:lnTo>
                  <a:pt x="4" y="94"/>
                </a:lnTo>
                <a:cubicBezTo>
                  <a:pt x="2" y="94"/>
                  <a:pt x="0" y="92"/>
                  <a:pt x="0" y="9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72" y="0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09625" y="454342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4A052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485900" y="43815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私有化与落地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838450" y="4438650"/>
            <a:ext cx="466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A052"/>
                </a:solidFill>
                <a:latin typeface="Microsoft YaHei"/>
                <a:ea typeface="Microsoft YaHei"/>
              </a:rPr>
              <a:t>P8–P12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485900" y="4714875"/>
            <a:ext cx="990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部署三方案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大模型选型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成本三档位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路线验收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→ GTM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启动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0" y="6457950"/>
            <a:ext cx="12192000" cy="400050"/>
          </a:xfrm>
          <a:custGeom>
            <a:pathLst>
              <a:path w="1280" h="42">
                <a:moveTo>
                  <a:pt x="0" y="0"/>
                </a:moveTo>
                <a:lnTo>
                  <a:pt x="1280" y="0"/>
                </a:lnTo>
                <a:lnTo>
                  <a:pt x="128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6600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172825" y="6600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1428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业务闭环与四域智能体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绿标全自动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红标人拍板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四域各解决什么问题、做什么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457200" y="923925"/>
            <a:ext cx="1743075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57200" y="923925"/>
            <a:ext cx="1743075" cy="552450"/>
          </a:xfrm>
          <a:custGeom>
            <a:pathLst>
              <a:path w="183" h="58">
                <a:moveTo>
                  <a:pt x="179" y="0"/>
                </a:moveTo>
                <a:cubicBezTo>
                  <a:pt x="181" y="0"/>
                  <a:pt x="183" y="2"/>
                  <a:pt x="183" y="4"/>
                </a:cubicBezTo>
                <a:cubicBezTo>
                  <a:pt x="183" y="3"/>
                  <a:pt x="182" y="3"/>
                  <a:pt x="18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79" y="0"/>
                </a:lnTo>
                <a:close/>
              </a:path>
            </a:pathLst>
          </a:cu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219200" y="9810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获客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1200150" y="1152525"/>
            <a:ext cx="266700" cy="123825"/>
          </a:xfrm>
          <a:prstGeom prst="roundRect">
            <a:avLst>
              <a:gd name="adj" fmla="val 30769"/>
            </a:avLst>
          </a:pr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247775" y="1162050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营销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219200" y="1295400"/>
            <a:ext cx="2286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00" b="1">
                <a:solidFill>
                  <a:srgbClr val="0F2744"/>
                </a:solidFill>
                <a:latin typeface="Microsoft YaHei"/>
                <a:ea typeface="Microsoft YaHei"/>
              </a:rPr>
              <a:t>全自动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2200275" y="1104900"/>
            <a:ext cx="133350" cy="142875"/>
          </a:xfrm>
          <a:prstGeom prst="rect"/>
        </p:spPr>
        <p:txBody>
          <a:bodyPr wrap="none" lIns="7144" tIns="0" rIns="7144" bIns="0"/>
          <a:p>
            <a:pPr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2333625" y="923925"/>
            <a:ext cx="17526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2333625" y="923925"/>
            <a:ext cx="1752600" cy="552450"/>
          </a:xfrm>
          <a:custGeom>
            <a:pathLst>
              <a:path w="184" h="58">
                <a:moveTo>
                  <a:pt x="180" y="0"/>
                </a:moveTo>
                <a:cubicBezTo>
                  <a:pt x="182" y="0"/>
                  <a:pt x="184" y="2"/>
                  <a:pt x="184" y="4"/>
                </a:cubicBezTo>
                <a:cubicBezTo>
                  <a:pt x="184" y="3"/>
                  <a:pt x="183" y="3"/>
                  <a:pt x="183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80" y="0"/>
                </a:lnTo>
                <a:close/>
              </a:path>
            </a:pathLst>
          </a:cu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3095625" y="9810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培育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3076575" y="1152525"/>
            <a:ext cx="266700" cy="123825"/>
          </a:xfrm>
          <a:prstGeom prst="roundRect">
            <a:avLst>
              <a:gd name="adj" fmla="val 30769"/>
            </a:avLst>
          </a:pr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124200" y="1162050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营销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3095625" y="1295400"/>
            <a:ext cx="2286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00" b="1">
                <a:solidFill>
                  <a:srgbClr val="0F2744"/>
                </a:solidFill>
                <a:latin typeface="Microsoft YaHei"/>
                <a:ea typeface="Microsoft YaHei"/>
              </a:rPr>
              <a:t>全自动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086225" y="1104900"/>
            <a:ext cx="133350" cy="142875"/>
          </a:xfrm>
          <a:prstGeom prst="rect"/>
        </p:spPr>
        <p:txBody>
          <a:bodyPr wrap="none" lIns="7144" tIns="0" rIns="7144" bIns="0"/>
          <a:p>
            <a:pPr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4219575" y="923925"/>
            <a:ext cx="1743075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4219575" y="923925"/>
            <a:ext cx="1743075" cy="552450"/>
          </a:xfrm>
          <a:custGeom>
            <a:pathLst>
              <a:path w="183" h="58">
                <a:moveTo>
                  <a:pt x="179" y="0"/>
                </a:moveTo>
                <a:cubicBezTo>
                  <a:pt x="181" y="0"/>
                  <a:pt x="183" y="2"/>
                  <a:pt x="183" y="4"/>
                </a:cubicBezTo>
                <a:cubicBezTo>
                  <a:pt x="183" y="3"/>
                  <a:pt x="182" y="3"/>
                  <a:pt x="18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79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981575" y="9810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成交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4962525" y="1152525"/>
            <a:ext cx="266700" cy="123825"/>
          </a:xfrm>
          <a:prstGeom prst="roundRect">
            <a:avLst>
              <a:gd name="adj" fmla="val 30769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010150" y="1162050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销售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981575" y="1295400"/>
            <a:ext cx="2286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00" b="1">
                <a:solidFill>
                  <a:srgbClr val="991B1B"/>
                </a:solidFill>
                <a:latin typeface="Microsoft YaHei"/>
                <a:ea typeface="Microsoft YaHei"/>
              </a:rPr>
              <a:t>人拍板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962650" y="1104900"/>
            <a:ext cx="133350" cy="142875"/>
          </a:xfrm>
          <a:prstGeom prst="rect"/>
        </p:spPr>
        <p:txBody>
          <a:bodyPr wrap="none" lIns="7144" tIns="0" rIns="7144" bIns="0"/>
          <a:p>
            <a:pPr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096000" y="923925"/>
            <a:ext cx="1743075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0" y="923925"/>
            <a:ext cx="1743075" cy="552450"/>
          </a:xfrm>
          <a:custGeom>
            <a:pathLst>
              <a:path w="183" h="58">
                <a:moveTo>
                  <a:pt x="179" y="0"/>
                </a:moveTo>
                <a:cubicBezTo>
                  <a:pt x="181" y="0"/>
                  <a:pt x="183" y="2"/>
                  <a:pt x="183" y="4"/>
                </a:cubicBezTo>
                <a:cubicBezTo>
                  <a:pt x="183" y="3"/>
                  <a:pt x="182" y="3"/>
                  <a:pt x="18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79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858000" y="9810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交付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838950" y="1152525"/>
            <a:ext cx="266700" cy="123825"/>
          </a:xfrm>
          <a:prstGeom prst="roundRect">
            <a:avLst>
              <a:gd name="adj" fmla="val 30769"/>
            </a:avLst>
          </a:pr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886575" y="1162050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858000" y="1295400"/>
            <a:ext cx="2286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00" b="1">
                <a:solidFill>
                  <a:srgbClr val="991B1B"/>
                </a:solidFill>
                <a:latin typeface="Microsoft YaHei"/>
                <a:ea typeface="Microsoft YaHei"/>
              </a:rPr>
              <a:t>人拍板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839075" y="1104900"/>
            <a:ext cx="133350" cy="142875"/>
          </a:xfrm>
          <a:prstGeom prst="rect"/>
        </p:spPr>
        <p:txBody>
          <a:bodyPr wrap="none" lIns="7144" tIns="0" rIns="7144" bIns="0"/>
          <a:p>
            <a:pPr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7972425" y="923925"/>
            <a:ext cx="1752600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7972425" y="923925"/>
            <a:ext cx="1752600" cy="552450"/>
          </a:xfrm>
          <a:custGeom>
            <a:pathLst>
              <a:path w="184" h="58">
                <a:moveTo>
                  <a:pt x="180" y="0"/>
                </a:moveTo>
                <a:cubicBezTo>
                  <a:pt x="182" y="0"/>
                  <a:pt x="184" y="2"/>
                  <a:pt x="184" y="4"/>
                </a:cubicBezTo>
                <a:cubicBezTo>
                  <a:pt x="184" y="3"/>
                  <a:pt x="183" y="3"/>
                  <a:pt x="183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8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734425" y="9810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收款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8715375" y="1152525"/>
            <a:ext cx="266700" cy="123825"/>
          </a:xfrm>
          <a:prstGeom prst="roundRect">
            <a:avLst>
              <a:gd name="adj" fmla="val 30769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763000" y="1162050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财税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734425" y="1295400"/>
            <a:ext cx="2286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00" b="1">
                <a:solidFill>
                  <a:srgbClr val="991B1B"/>
                </a:solidFill>
                <a:latin typeface="Microsoft YaHei"/>
                <a:ea typeface="Microsoft YaHei"/>
              </a:rPr>
              <a:t>人拍板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725025" y="1104900"/>
            <a:ext cx="133350" cy="142875"/>
          </a:xfrm>
          <a:prstGeom prst="rect"/>
        </p:spPr>
        <p:txBody>
          <a:bodyPr wrap="none" lIns="7144" tIns="0" rIns="7144" bIns="0"/>
          <a:p>
            <a:pPr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9858375" y="923925"/>
            <a:ext cx="1876425" cy="552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9858375" y="923925"/>
            <a:ext cx="1876425" cy="552450"/>
          </a:xfrm>
          <a:custGeom>
            <a:pathLst>
              <a:path w="197" h="58">
                <a:moveTo>
                  <a:pt x="193" y="0"/>
                </a:moveTo>
                <a:cubicBezTo>
                  <a:pt x="195" y="0"/>
                  <a:pt x="197" y="2"/>
                  <a:pt x="197" y="4"/>
                </a:cubicBezTo>
                <a:cubicBezTo>
                  <a:pt x="197" y="3"/>
                  <a:pt x="196" y="3"/>
                  <a:pt x="19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93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0687050" y="9810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续约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10668000" y="1152525"/>
            <a:ext cx="266700" cy="123825"/>
          </a:xfrm>
          <a:prstGeom prst="roundRect">
            <a:avLst>
              <a:gd name="adj" fmla="val 30769"/>
            </a:avLst>
          </a:pr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0715625" y="1162050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0687050" y="1295400"/>
            <a:ext cx="2286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00" b="1">
                <a:solidFill>
                  <a:srgbClr val="991B1B"/>
                </a:solidFill>
                <a:latin typeface="Microsoft YaHei"/>
                <a:ea typeface="Microsoft YaHei"/>
              </a:rPr>
              <a:t>人拍板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457200" y="1562100"/>
            <a:ext cx="2762250" cy="440055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457200" y="1562100"/>
            <a:ext cx="2762250" cy="4400550"/>
          </a:xfrm>
          <a:custGeom>
            <a:pathLst>
              <a:path w="290" h="462">
                <a:moveTo>
                  <a:pt x="286" y="0"/>
                </a:moveTo>
                <a:cubicBezTo>
                  <a:pt x="288" y="0"/>
                  <a:pt x="290" y="2"/>
                  <a:pt x="29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86" y="0"/>
                </a:lnTo>
                <a:close/>
              </a:path>
            </a:pathLst>
          </a:cu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52450" y="1657350"/>
            <a:ext cx="257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B6914"/>
                </a:solidFill>
                <a:latin typeface="Microsoft YaHei"/>
                <a:ea typeface="Microsoft YaHei"/>
              </a:rPr>
              <a:t>营销智能体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552450" y="1895475"/>
            <a:ext cx="2571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991B1B"/>
                </a:solidFill>
                <a:latin typeface="Microsoft YaHei"/>
                <a:ea typeface="Microsoft YaHei"/>
              </a:rPr>
              <a:t>解决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52450" y="2057400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线索响应慢</a:t>
            </a:r>
            <a:r>
              <a:rPr lang="en-US" sz="825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内容靠人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52450" y="2305050"/>
            <a:ext cx="2571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2744"/>
                </a:solidFill>
                <a:latin typeface="Microsoft YaHei"/>
                <a:ea typeface="Microsoft YaHei"/>
              </a:rPr>
              <a:t>功能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52450" y="2466975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内容生成</a:t>
            </a:r>
            <a:r>
              <a:rPr lang="en-US" sz="825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线索评分培育</a:t>
            </a:r>
            <a:r>
              <a:rPr lang="en-US" sz="825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投放分析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3295650" y="1562100"/>
            <a:ext cx="2762250" cy="440055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3295650" y="1562100"/>
            <a:ext cx="2762250" cy="4400550"/>
          </a:xfrm>
          <a:custGeom>
            <a:pathLst>
              <a:path w="290" h="462">
                <a:moveTo>
                  <a:pt x="286" y="0"/>
                </a:moveTo>
                <a:cubicBezTo>
                  <a:pt x="288" y="0"/>
                  <a:pt x="290" y="2"/>
                  <a:pt x="29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86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390900" y="1657350"/>
            <a:ext cx="257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3A5F"/>
                </a:solidFill>
                <a:latin typeface="Microsoft YaHei"/>
                <a:ea typeface="Microsoft YaHei"/>
              </a:rPr>
              <a:t>销售智能体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390900" y="1895475"/>
            <a:ext cx="2571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991B1B"/>
                </a:solidFill>
                <a:latin typeface="Microsoft YaHei"/>
                <a:ea typeface="Microsoft YaHei"/>
              </a:rPr>
              <a:t>解决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390900" y="2057400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赢单率低</a:t>
            </a:r>
            <a:r>
              <a:rPr lang="en-US" sz="825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管线看不清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3390900" y="2305050"/>
            <a:ext cx="2571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2744"/>
                </a:solidFill>
                <a:latin typeface="Microsoft YaHei"/>
                <a:ea typeface="Microsoft YaHei"/>
              </a:rPr>
              <a:t>功能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390900" y="2466975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诊断倒推</a:t>
            </a:r>
            <a:r>
              <a:rPr lang="en-US" sz="825">
                <a:solidFill>
                  <a:srgbClr val="4B5563"/>
                </a:solidFill>
                <a:latin typeface="Microsoft YaHei"/>
                <a:ea typeface="Microsoft YaHei"/>
              </a:rPr>
              <a:t> / CPQ</a:t>
            </a: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报价</a:t>
            </a:r>
            <a:r>
              <a:rPr lang="en-US" sz="825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回款预警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134100" y="1562100"/>
            <a:ext cx="2762250" cy="440055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134100" y="1562100"/>
            <a:ext cx="2762250" cy="4400550"/>
          </a:xfrm>
          <a:custGeom>
            <a:pathLst>
              <a:path w="290" h="462">
                <a:moveTo>
                  <a:pt x="286" y="0"/>
                </a:moveTo>
                <a:cubicBezTo>
                  <a:pt x="288" y="0"/>
                  <a:pt x="290" y="2"/>
                  <a:pt x="29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86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229350" y="1657350"/>
            <a:ext cx="257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A5568"/>
                </a:solidFill>
                <a:latin typeface="Microsoft YaHei"/>
                <a:ea typeface="Microsoft YaHei"/>
              </a:rPr>
              <a:t>服务智能体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229350" y="1895475"/>
            <a:ext cx="2571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991B1B"/>
                </a:solidFill>
                <a:latin typeface="Microsoft YaHei"/>
                <a:ea typeface="Microsoft YaHei"/>
              </a:rPr>
              <a:t>解决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229350" y="2057400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交付乱</a:t>
            </a:r>
            <a:r>
              <a:rPr lang="en-US" sz="825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流失难预警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229350" y="2305050"/>
            <a:ext cx="2571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2744"/>
                </a:solidFill>
                <a:latin typeface="Microsoft YaHei"/>
                <a:ea typeface="Microsoft YaHei"/>
              </a:rPr>
              <a:t>功能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229350" y="2466975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工单协同</a:t>
            </a:r>
            <a:r>
              <a:rPr lang="en-US" sz="825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健康度</a:t>
            </a:r>
            <a:r>
              <a:rPr lang="en-US" sz="825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续约建议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8972550" y="1562100"/>
            <a:ext cx="2762250" cy="440055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8972550" y="1562100"/>
            <a:ext cx="2762250" cy="4400550"/>
          </a:xfrm>
          <a:custGeom>
            <a:pathLst>
              <a:path w="290" h="462">
                <a:moveTo>
                  <a:pt x="286" y="0"/>
                </a:moveTo>
                <a:cubicBezTo>
                  <a:pt x="288" y="0"/>
                  <a:pt x="290" y="2"/>
                  <a:pt x="29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86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9067800" y="1657350"/>
            <a:ext cx="257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3A5F"/>
                </a:solidFill>
                <a:latin typeface="Microsoft YaHei"/>
                <a:ea typeface="Microsoft YaHei"/>
              </a:rPr>
              <a:t>财税智能体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067800" y="1895475"/>
            <a:ext cx="2571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991B1B"/>
                </a:solidFill>
                <a:latin typeface="Microsoft YaHei"/>
                <a:ea typeface="Microsoft YaHei"/>
              </a:rPr>
              <a:t>解决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067800" y="2057400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开票繁琐</a:t>
            </a:r>
            <a:r>
              <a:rPr lang="en-US" sz="825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核算易错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9067800" y="2305050"/>
            <a:ext cx="2571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2744"/>
                </a:solidFill>
                <a:latin typeface="Microsoft YaHei"/>
                <a:ea typeface="Microsoft YaHei"/>
              </a:rPr>
              <a:t>功能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9067800" y="2466975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开票验真</a:t>
            </a:r>
            <a:r>
              <a:rPr lang="en-US" sz="825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价税合规</a:t>
            </a:r>
            <a:r>
              <a:rPr lang="en-US" sz="825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4B5563"/>
                </a:solidFill>
                <a:latin typeface="Microsoft YaHei"/>
                <a:ea typeface="Microsoft YaHei"/>
              </a:rPr>
              <a:t>经营分析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457200" y="6000750"/>
            <a:ext cx="11277600" cy="381000"/>
          </a:xfrm>
          <a:prstGeom prst="roundRect">
            <a:avLst>
              <a:gd name="adj" fmla="val 10000"/>
            </a:avLst>
          </a:prstGeom>
          <a:solidFill>
            <a:srgbClr val="991B1B"/>
          </a:solidFill>
          <a:ln/>
        </p:spPr>
        <p:txBody>
          <a:bodyPr/>
          <a:p>
            <a:pPr/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90550" y="6124575"/>
            <a:ext cx="461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凡动钱、动合同必「</a:t>
            </a: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建议·人拍板」——</a:t>
            </a: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四域智能体接管重复与判断类工作，保证敢用。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0" y="6457950"/>
            <a:ext cx="12192000" cy="400050"/>
          </a:xfrm>
          <a:custGeom>
            <a:pathLst>
              <a:path w="1280" h="42">
                <a:moveTo>
                  <a:pt x="0" y="0"/>
                </a:moveTo>
                <a:lnTo>
                  <a:pt x="1280" y="0"/>
                </a:lnTo>
                <a:lnTo>
                  <a:pt x="128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6600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1172825" y="6600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1428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销售</a:t>
            </a: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参谋</a:t>
            </a: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诊断</a:t>
            </a: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老板目标倒推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不是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BI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图表——带金额、原因、已备好动作，等人拍板（示意数据）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09600" y="914400"/>
            <a:ext cx="2686050" cy="5429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724025" y="9906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管线总盘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619250" y="1152525"/>
            <a:ext cx="66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3A5F"/>
                </a:solidFill>
                <a:latin typeface="Microsoft YaHei"/>
                <a:ea typeface="Microsoft YaHei"/>
              </a:rPr>
              <a:t>¥380</a:t>
            </a:r>
            <a:r>
              <a:rPr lang="zh-CN" sz="1500" b="1">
                <a:solidFill>
                  <a:srgbClr val="1E3A5F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3371850" y="914400"/>
            <a:ext cx="2686050" cy="5429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543425" y="9906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可成单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381500" y="1152525"/>
            <a:ext cx="66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3A5F"/>
                </a:solidFill>
                <a:latin typeface="Microsoft YaHei"/>
                <a:ea typeface="Microsoft YaHei"/>
              </a:rPr>
              <a:t>¥200</a:t>
            </a:r>
            <a:r>
              <a:rPr lang="zh-CN" sz="1500" b="1">
                <a:solidFill>
                  <a:srgbClr val="1E3A5F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134100" y="914400"/>
            <a:ext cx="2686050" cy="5429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115175" y="990600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停滞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&amp;gt;30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143750" y="1152525"/>
            <a:ext cx="66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991B1B"/>
                </a:solidFill>
                <a:latin typeface="Microsoft YaHei"/>
                <a:ea typeface="Microsoft YaHei"/>
              </a:rPr>
              <a:t>¥120</a:t>
            </a:r>
            <a:r>
              <a:rPr lang="zh-CN" sz="1500" b="1">
                <a:solidFill>
                  <a:srgbClr val="991B1B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8896350" y="914400"/>
            <a:ext cx="2686050" cy="5429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0010775" y="9906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回款缺口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963150" y="1152525"/>
            <a:ext cx="552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991B1B"/>
                </a:solidFill>
                <a:latin typeface="Microsoft YaHei"/>
                <a:ea typeface="Microsoft YaHei"/>
              </a:rPr>
              <a:t>¥40</a:t>
            </a:r>
            <a:r>
              <a:rPr lang="zh-CN" sz="1500" b="1">
                <a:solidFill>
                  <a:srgbClr val="991B1B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1533525"/>
            <a:ext cx="543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B7280"/>
                </a:solidFill>
                <a:latin typeface="Microsoft YaHei"/>
                <a:ea typeface="Microsoft YaHei"/>
              </a:rPr>
              <a:t>① </a:t>
            </a:r>
            <a:r>
              <a:rPr lang="zh-CN" sz="975" b="1">
                <a:solidFill>
                  <a:srgbClr val="6B7280"/>
                </a:solidFill>
                <a:latin typeface="Microsoft YaHei"/>
                <a:ea typeface="Microsoft YaHei"/>
              </a:rPr>
              <a:t>分析诊断</a:t>
            </a:r>
            <a:r>
              <a:rPr lang="en-US" sz="975" b="1">
                <a:solidFill>
                  <a:srgbClr val="6B7280"/>
                </a:solidFill>
                <a:latin typeface="Microsoft YaHei"/>
                <a:ea typeface="Microsoft YaHei"/>
              </a:rPr>
              <a:t> · AI </a:t>
            </a:r>
            <a:r>
              <a:rPr lang="zh-CN" sz="975" b="1">
                <a:solidFill>
                  <a:srgbClr val="6B7280"/>
                </a:solidFill>
                <a:latin typeface="Microsoft YaHei"/>
                <a:ea typeface="Microsoft YaHei"/>
              </a:rPr>
              <a:t>发现</a:t>
            </a:r>
            <a:r>
              <a:rPr lang="en-US" sz="975" b="1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975" b="1">
                <a:solidFill>
                  <a:srgbClr val="6B7280"/>
                </a:solidFill>
                <a:latin typeface="Microsoft YaHei"/>
                <a:ea typeface="Microsoft YaHei"/>
              </a:rPr>
              <a:t>备好动作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47700" y="1743075"/>
            <a:ext cx="5438775" cy="5429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647700" y="1743075"/>
            <a:ext cx="5438775" cy="542925"/>
          </a:xfrm>
          <a:custGeom>
            <a:pathLst>
              <a:path w="571" h="57">
                <a:moveTo>
                  <a:pt x="4" y="57"/>
                </a:moveTo>
                <a:cubicBezTo>
                  <a:pt x="2" y="57"/>
                  <a:pt x="0" y="55"/>
                  <a:pt x="0" y="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7"/>
                </a:lnTo>
                <a:close/>
              </a:path>
            </a:pathLst>
          </a:custGeom>
          <a:solidFill>
            <a:srgbClr val="991B1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62000" y="1819275"/>
            <a:ext cx="51720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8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商机停滞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¥120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万，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个对手已介入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62000" y="2066925"/>
            <a:ext cx="5172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E3A5F"/>
                </a:solidFill>
                <a:latin typeface="Microsoft YaHei"/>
                <a:ea typeface="Microsoft YaHei"/>
              </a:rPr>
              <a:t>草拟跟进话术并分配销售</a:t>
            </a:r>
            <a:r>
              <a:rPr lang="en-US" sz="900">
                <a:solidFill>
                  <a:srgbClr val="1E3A5F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991B1B"/>
                </a:solidFill>
                <a:latin typeface="Microsoft YaHei"/>
                <a:ea typeface="Microsoft YaHei"/>
              </a:rPr>
              <a:t>销售点发送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47700" y="2343150"/>
            <a:ext cx="5438775" cy="5429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47700" y="2343150"/>
            <a:ext cx="5438775" cy="542925"/>
          </a:xfrm>
          <a:custGeom>
            <a:pathLst>
              <a:path w="571" h="57">
                <a:moveTo>
                  <a:pt x="4" y="57"/>
                </a:moveTo>
                <a:cubicBezTo>
                  <a:pt x="2" y="57"/>
                  <a:pt x="0" y="55"/>
                  <a:pt x="0" y="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7"/>
                </a:lnTo>
                <a:close/>
              </a:path>
            </a:pathLst>
          </a:custGeom>
          <a:solidFill>
            <a:srgbClr val="991B1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62000" y="2419350"/>
            <a:ext cx="51720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报价已读未回超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7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天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¥46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762000" y="2667000"/>
            <a:ext cx="5172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E3A5F"/>
                </a:solidFill>
                <a:latin typeface="Microsoft YaHei"/>
                <a:ea typeface="Microsoft YaHei"/>
              </a:rPr>
              <a:t>催单话术</a:t>
            </a:r>
            <a:r>
              <a:rPr lang="en-US" sz="900">
                <a:solidFill>
                  <a:srgbClr val="1E3A5F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1E3A5F"/>
                </a:solidFill>
                <a:latin typeface="Microsoft YaHei"/>
                <a:ea typeface="Microsoft YaHei"/>
              </a:rPr>
              <a:t>让步空间建议</a:t>
            </a:r>
            <a:r>
              <a:rPr lang="en-US" sz="900">
                <a:solidFill>
                  <a:srgbClr val="1E3A5F"/>
                </a:solidFill>
                <a:latin typeface="Microsoft YaHei"/>
                <a:ea typeface="Microsoft YaHei"/>
              </a:rPr>
              <a:t> · </a:t>
            </a:r>
            <a:r>
              <a:rPr lang="zh-CN" sz="900" b="1">
                <a:solidFill>
                  <a:srgbClr val="991B1B"/>
                </a:solidFill>
                <a:latin typeface="Microsoft YaHei"/>
                <a:ea typeface="Microsoft YaHei"/>
              </a:rPr>
              <a:t>销售确认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143625" y="1533525"/>
            <a:ext cx="543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B7280"/>
                </a:solidFill>
                <a:latin typeface="Microsoft YaHei"/>
                <a:ea typeface="Microsoft YaHei"/>
              </a:rPr>
              <a:t>② </a:t>
            </a:r>
            <a:r>
              <a:rPr lang="zh-CN" sz="975" b="1">
                <a:solidFill>
                  <a:srgbClr val="6B7280"/>
                </a:solidFill>
                <a:latin typeface="Microsoft YaHei"/>
                <a:ea typeface="Microsoft YaHei"/>
              </a:rPr>
              <a:t>老板目标倒推</a:t>
            </a:r>
            <a:r>
              <a:rPr lang="en-US" sz="975" b="1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6B7280"/>
                </a:solidFill>
                <a:latin typeface="Microsoft YaHei"/>
                <a:ea typeface="Microsoft YaHei"/>
              </a:rPr>
              <a:t>「本月业绩</a:t>
            </a:r>
            <a:r>
              <a:rPr lang="en-US" sz="975" b="1">
                <a:solidFill>
                  <a:srgbClr val="6B7280"/>
                </a:solidFill>
                <a:latin typeface="Microsoft YaHei"/>
                <a:ea typeface="Microsoft YaHei"/>
              </a:rPr>
              <a:t> +20%</a:t>
            </a:r>
            <a:r>
              <a:rPr lang="zh-CN" sz="975" b="1">
                <a:solidFill>
                  <a:srgbClr val="6B7280"/>
                </a:solidFill>
                <a:latin typeface="Microsoft YaHei"/>
                <a:ea typeface="Microsoft YaHei"/>
              </a:rPr>
              <a:t>」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143625" y="1743075"/>
            <a:ext cx="5438775" cy="295275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257925" y="1819275"/>
            <a:ext cx="5210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8A29E"/>
                </a:solidFill>
                <a:latin typeface="Microsoft YaHei"/>
                <a:ea typeface="Microsoft YaHei"/>
              </a:rPr>
              <a:t>目标</a:t>
            </a:r>
            <a:r>
              <a:rPr lang="en-US" sz="900">
                <a:solidFill>
                  <a:srgbClr val="A8A29E"/>
                </a:solidFill>
                <a:latin typeface="Microsoft YaHei"/>
                <a:ea typeface="Microsoft YaHei"/>
              </a:rPr>
              <a:t> ¥240</a:t>
            </a:r>
            <a:r>
              <a:rPr lang="zh-CN" sz="900">
                <a:solidFill>
                  <a:srgbClr val="A8A29E"/>
                </a:solidFill>
                <a:latin typeface="Microsoft YaHei"/>
                <a:ea typeface="Microsoft YaHei"/>
              </a:rPr>
              <a:t>万</a:t>
            </a:r>
            <a:r>
              <a:rPr lang="en-US" sz="900">
                <a:solidFill>
                  <a:srgbClr val="A8A29E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A8A29E"/>
                </a:solidFill>
                <a:latin typeface="Microsoft YaHei"/>
                <a:ea typeface="Microsoft YaHei"/>
              </a:rPr>
              <a:t>当前</a:t>
            </a:r>
            <a:r>
              <a:rPr lang="en-US" sz="900">
                <a:solidFill>
                  <a:srgbClr val="A8A29E"/>
                </a:solidFill>
                <a:latin typeface="Microsoft YaHei"/>
                <a:ea typeface="Microsoft YaHei"/>
              </a:rPr>
              <a:t> ¥200</a:t>
            </a:r>
            <a:r>
              <a:rPr lang="zh-CN" sz="900">
                <a:solidFill>
                  <a:srgbClr val="A8A29E"/>
                </a:solidFill>
                <a:latin typeface="Microsoft YaHei"/>
                <a:ea typeface="Microsoft YaHei"/>
              </a:rPr>
              <a:t>万</a:t>
            </a:r>
            <a:r>
              <a:rPr lang="en-US" sz="900">
                <a:solidFill>
                  <a:srgbClr val="A8A29E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A8A29E"/>
                </a:solidFill>
                <a:latin typeface="Microsoft YaHei"/>
                <a:ea typeface="Microsoft YaHei"/>
              </a:rPr>
              <a:t>缺口</a:t>
            </a:r>
            <a:r>
              <a:rPr lang="en-US" sz="900">
                <a:solidFill>
                  <a:srgbClr val="A8A29E"/>
                </a:solidFill>
                <a:latin typeface="Microsoft YaHei"/>
                <a:ea typeface="Microsoft YaHei"/>
              </a:rPr>
              <a:t> </a:t>
            </a:r>
            <a:r>
              <a:rPr lang="en-US" sz="900" b="1">
                <a:solidFill>
                  <a:srgbClr val="991B1B"/>
                </a:solidFill>
                <a:latin typeface="Microsoft YaHei"/>
                <a:ea typeface="Microsoft YaHei"/>
              </a:rPr>
              <a:t>¥40</a:t>
            </a:r>
            <a:r>
              <a:rPr lang="zh-CN" sz="900" b="1">
                <a:solidFill>
                  <a:srgbClr val="991B1B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143625" y="2095500"/>
            <a:ext cx="5438775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238875" y="21621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3A5F"/>
                </a:solidFill>
                <a:latin typeface="Microsoft YaHei"/>
                <a:ea typeface="Microsoft YaHei"/>
              </a:rPr>
              <a:t>¥25</a:t>
            </a:r>
            <a:r>
              <a:rPr lang="zh-CN" sz="900" b="1">
                <a:solidFill>
                  <a:srgbClr val="1E3A5F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772275" y="2152650"/>
            <a:ext cx="4219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催熟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3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个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80%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临门商机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1068050" y="21621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991B1B"/>
                </a:solidFill>
                <a:latin typeface="Microsoft YaHei"/>
                <a:ea typeface="Microsoft YaHei"/>
              </a:rPr>
              <a:t>销售执行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143625" y="2419350"/>
            <a:ext cx="5438775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238875" y="24860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3A5F"/>
                </a:solidFill>
                <a:latin typeface="Microsoft YaHei"/>
                <a:ea typeface="Microsoft YaHei"/>
              </a:rPr>
              <a:t>¥10</a:t>
            </a:r>
            <a:r>
              <a:rPr lang="zh-CN" sz="900" b="1">
                <a:solidFill>
                  <a:srgbClr val="1E3A5F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772275" y="2476500"/>
            <a:ext cx="4219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激活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2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个停滞商机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068050" y="248602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991B1B"/>
                </a:solidFill>
                <a:latin typeface="Microsoft YaHei"/>
                <a:ea typeface="Microsoft YaHei"/>
              </a:rPr>
              <a:t>销售确认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143625" y="2743200"/>
            <a:ext cx="5438775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238875" y="28098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E3A5F"/>
                </a:solidFill>
                <a:latin typeface="Microsoft YaHei"/>
                <a:ea typeface="Microsoft YaHei"/>
              </a:rPr>
              <a:t>¥8</a:t>
            </a:r>
            <a:r>
              <a:rPr lang="zh-CN" sz="900" b="1">
                <a:solidFill>
                  <a:srgbClr val="1E3A5F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772275" y="2800350"/>
            <a:ext cx="4010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2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老客户提前续约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0858500" y="28098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991B1B"/>
                </a:solidFill>
                <a:latin typeface="Microsoft YaHei"/>
                <a:ea typeface="Microsoft YaHei"/>
              </a:rPr>
              <a:t>老板拍板优惠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181725" y="3067050"/>
            <a:ext cx="5438775" cy="257175"/>
          </a:xfrm>
          <a:prstGeom prst="roundRect">
            <a:avLst>
              <a:gd name="adj" fmla="val 14815"/>
            </a:avLst>
          </a:prstGeom>
          <a:solidFill>
            <a:srgbClr val="1E3A5F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181725" y="3067050"/>
            <a:ext cx="5438775" cy="257175"/>
          </a:xfrm>
          <a:custGeom>
            <a:pathLst>
              <a:path w="571" h="27">
                <a:moveTo>
                  <a:pt x="4" y="27"/>
                </a:moveTo>
                <a:cubicBezTo>
                  <a:pt x="2" y="27"/>
                  <a:pt x="0" y="25"/>
                  <a:pt x="0" y="2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7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296025" y="3124200"/>
            <a:ext cx="5172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E3A5F"/>
                </a:solidFill>
                <a:latin typeface="Microsoft YaHei"/>
                <a:ea typeface="Microsoft YaHei"/>
              </a:rPr>
              <a:t>凑不齐就说实话</a:t>
            </a:r>
            <a:r>
              <a:rPr lang="zh-CN" sz="900">
                <a:solidFill>
                  <a:srgbClr val="1E3A5F"/>
                </a:solidFill>
                <a:latin typeface="Microsoft YaHei"/>
                <a:ea typeface="Microsoft YaHei"/>
              </a:rPr>
              <a:t>——存量只够</a:t>
            </a:r>
            <a:r>
              <a:rPr lang="en-US" sz="900">
                <a:solidFill>
                  <a:srgbClr val="1E3A5F"/>
                </a:solidFill>
                <a:latin typeface="Microsoft YaHei"/>
                <a:ea typeface="Microsoft YaHei"/>
              </a:rPr>
              <a:t> ¥28</a:t>
            </a:r>
            <a:r>
              <a:rPr lang="zh-CN" sz="900">
                <a:solidFill>
                  <a:srgbClr val="1E3A5F"/>
                </a:solidFill>
                <a:latin typeface="Microsoft YaHei"/>
                <a:ea typeface="Microsoft YaHei"/>
              </a:rPr>
              <a:t>万，缺口需新增线索，自然引出营销扩容。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0" y="6457950"/>
            <a:ext cx="12192000" cy="400050"/>
          </a:xfrm>
          <a:custGeom>
            <a:pathLst>
              <a:path w="1280" h="42">
                <a:moveTo>
                  <a:pt x="0" y="0"/>
                </a:moveTo>
                <a:lnTo>
                  <a:pt x="1280" y="0"/>
                </a:lnTo>
                <a:lnTo>
                  <a:pt x="128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6600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172825" y="6600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09600" y="1428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系统解决方案总览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四域智能体分守闭环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销售段展开见下图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写操作必经人拍板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57200" y="923925"/>
            <a:ext cx="1819275" cy="44767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57200" y="923925"/>
            <a:ext cx="1819275" cy="447675"/>
          </a:xfrm>
          <a:custGeom>
            <a:pathLst>
              <a:path w="191" h="47">
                <a:moveTo>
                  <a:pt x="187" y="0"/>
                </a:moveTo>
                <a:cubicBezTo>
                  <a:pt x="189" y="0"/>
                  <a:pt x="191" y="2"/>
                  <a:pt x="191" y="4"/>
                </a:cubicBezTo>
                <a:cubicBezTo>
                  <a:pt x="191" y="3"/>
                  <a:pt x="190" y="3"/>
                  <a:pt x="19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87" y="0"/>
                </a:lnTo>
                <a:close/>
              </a:path>
            </a:pathLst>
          </a:cu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143000" y="9810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公域获客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1228725" y="1162050"/>
            <a:ext cx="285750" cy="123825"/>
          </a:xfrm>
          <a:prstGeom prst="roundRect">
            <a:avLst>
              <a:gd name="adj" fmla="val 30769"/>
            </a:avLst>
          </a:pr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285875" y="1171575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营销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2352675" y="923925"/>
            <a:ext cx="1809750" cy="44767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2352675" y="923925"/>
            <a:ext cx="1809750" cy="447675"/>
          </a:xfrm>
          <a:custGeom>
            <a:pathLst>
              <a:path w="190" h="47">
                <a:moveTo>
                  <a:pt x="186" y="0"/>
                </a:moveTo>
                <a:cubicBezTo>
                  <a:pt x="188" y="0"/>
                  <a:pt x="190" y="2"/>
                  <a:pt x="190" y="4"/>
                </a:cubicBezTo>
                <a:cubicBezTo>
                  <a:pt x="190" y="3"/>
                  <a:pt x="189" y="3"/>
                  <a:pt x="18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86" y="0"/>
                </a:lnTo>
                <a:close/>
              </a:path>
            </a:pathLst>
          </a:cu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3028950" y="9810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线索转化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3114675" y="1162050"/>
            <a:ext cx="285750" cy="123825"/>
          </a:xfrm>
          <a:prstGeom prst="roundRect">
            <a:avLst>
              <a:gd name="adj" fmla="val 30769"/>
            </a:avLst>
          </a:pr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3171825" y="1171575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营销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4238625" y="923925"/>
            <a:ext cx="1819275" cy="44767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4238625" y="923925"/>
            <a:ext cx="1819275" cy="447675"/>
          </a:xfrm>
          <a:custGeom>
            <a:pathLst>
              <a:path w="191" h="47">
                <a:moveTo>
                  <a:pt x="187" y="0"/>
                </a:moveTo>
                <a:cubicBezTo>
                  <a:pt x="189" y="0"/>
                  <a:pt x="191" y="2"/>
                  <a:pt x="191" y="4"/>
                </a:cubicBezTo>
                <a:cubicBezTo>
                  <a:pt x="191" y="3"/>
                  <a:pt x="190" y="3"/>
                  <a:pt x="19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87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924425" y="9810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商机成交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5010150" y="1162050"/>
            <a:ext cx="285750" cy="123825"/>
          </a:xfrm>
          <a:prstGeom prst="roundRect">
            <a:avLst>
              <a:gd name="adj" fmla="val 30769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067300" y="1171575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销售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134100" y="923925"/>
            <a:ext cx="1819275" cy="44767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134100" y="923925"/>
            <a:ext cx="1819275" cy="447675"/>
          </a:xfrm>
          <a:custGeom>
            <a:pathLst>
              <a:path w="191" h="47">
                <a:moveTo>
                  <a:pt x="187" y="0"/>
                </a:moveTo>
                <a:cubicBezTo>
                  <a:pt x="189" y="0"/>
                  <a:pt x="191" y="2"/>
                  <a:pt x="191" y="4"/>
                </a:cubicBezTo>
                <a:cubicBezTo>
                  <a:pt x="191" y="3"/>
                  <a:pt x="190" y="3"/>
                  <a:pt x="19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87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934200" y="9810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交付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905625" y="1162050"/>
            <a:ext cx="285750" cy="123825"/>
          </a:xfrm>
          <a:prstGeom prst="roundRect">
            <a:avLst>
              <a:gd name="adj" fmla="val 30769"/>
            </a:avLst>
          </a:pr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962775" y="1171575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8029575" y="923925"/>
            <a:ext cx="1809750" cy="44767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8029575" y="923925"/>
            <a:ext cx="1809750" cy="447675"/>
          </a:xfrm>
          <a:custGeom>
            <a:pathLst>
              <a:path w="190" h="47">
                <a:moveTo>
                  <a:pt x="186" y="0"/>
                </a:moveTo>
                <a:cubicBezTo>
                  <a:pt x="188" y="0"/>
                  <a:pt x="190" y="2"/>
                  <a:pt x="190" y="4"/>
                </a:cubicBezTo>
                <a:cubicBezTo>
                  <a:pt x="190" y="3"/>
                  <a:pt x="189" y="3"/>
                  <a:pt x="18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86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820150" y="9810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收款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8791575" y="1162050"/>
            <a:ext cx="285750" cy="123825"/>
          </a:xfrm>
          <a:prstGeom prst="roundRect">
            <a:avLst>
              <a:gd name="adj" fmla="val 30769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848725" y="1171575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财税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9915525" y="923925"/>
            <a:ext cx="1819275" cy="44767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9915525" y="923925"/>
            <a:ext cx="1819275" cy="447675"/>
          </a:xfrm>
          <a:custGeom>
            <a:pathLst>
              <a:path w="191" h="47">
                <a:moveTo>
                  <a:pt x="187" y="0"/>
                </a:moveTo>
                <a:cubicBezTo>
                  <a:pt x="189" y="0"/>
                  <a:pt x="191" y="2"/>
                  <a:pt x="191" y="4"/>
                </a:cubicBezTo>
                <a:cubicBezTo>
                  <a:pt x="191" y="3"/>
                  <a:pt x="190" y="3"/>
                  <a:pt x="19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87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0715625" y="9810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续约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10687050" y="1162050"/>
            <a:ext cx="285750" cy="123825"/>
          </a:xfrm>
          <a:prstGeom prst="roundRect">
            <a:avLst>
              <a:gd name="adj" fmla="val 30769"/>
            </a:avLst>
          </a:pr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0744200" y="1171575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FFFFF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57200" y="1419225"/>
            <a:ext cx="11277600" cy="4981575"/>
          </a:xfrm>
          <a:prstGeom prst="roundRect">
            <a:avLst>
              <a:gd name="adj" fmla="val 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457200" y="1419225"/>
            <a:ext cx="11277600" cy="2667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533900" y="1476375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销售智能体怎么工作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读数据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分析决策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人拍板执行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552450" y="1790700"/>
            <a:ext cx="3267075" cy="4343400"/>
          </a:xfrm>
          <a:prstGeom prst="roundRect">
            <a:avLst>
              <a:gd name="adj" fmla="val 1166"/>
            </a:avLst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552450" y="1790700"/>
            <a:ext cx="3267075" cy="4343400"/>
          </a:xfrm>
          <a:custGeom>
            <a:pathLst>
              <a:path w="343" h="456">
                <a:moveTo>
                  <a:pt x="339" y="0"/>
                </a:moveTo>
                <a:cubicBezTo>
                  <a:pt x="341" y="0"/>
                  <a:pt x="343" y="2"/>
                  <a:pt x="343" y="4"/>
                </a:cubicBezTo>
                <a:cubicBezTo>
                  <a:pt x="343" y="3"/>
                  <a:pt x="342" y="3"/>
                  <a:pt x="34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39" y="0"/>
                </a:lnTo>
                <a:close/>
              </a:path>
            </a:pathLst>
          </a:custGeom>
          <a:solidFill>
            <a:srgbClr val="C4A052"/>
          </a:solidFill>
          <a:ln/>
        </p:spPr>
        <p:txBody>
          <a:bodyPr/>
          <a:p>
            <a:pPr/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47700" y="1866900"/>
            <a:ext cx="3076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2744"/>
                </a:solidFill>
                <a:latin typeface="Microsoft YaHei"/>
                <a:ea typeface="Microsoft YaHei"/>
              </a:rPr>
              <a:t>数据来源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47700" y="2066925"/>
            <a:ext cx="3076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E3A5F"/>
                </a:solidFill>
                <a:latin typeface="Microsoft YaHei"/>
                <a:ea typeface="Microsoft YaHei"/>
              </a:rPr>
              <a:t>CRM Adapter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47700" y="2238375"/>
            <a:ext cx="1514475" cy="295275"/>
          </a:xfrm>
          <a:prstGeom prst="roundRect">
            <a:avLst>
              <a:gd name="adj" fmla="val 12903"/>
            </a:avLst>
          </a:prstGeom>
          <a:solidFill>
            <a:srgbClr val="C4A052">
              <a:alpha val="15000"/>
            </a:srgbClr>
          </a:solidFill>
          <a:ln w="12700">
            <a:solidFill>
              <a:srgbClr val="C4A05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181100" y="2276475"/>
            <a:ext cx="447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F2744"/>
                </a:solidFill>
                <a:latin typeface="Microsoft YaHei"/>
                <a:ea typeface="Microsoft YaHei"/>
              </a:rPr>
              <a:t>智营</a:t>
            </a:r>
            <a:r>
              <a:rPr lang="en-US" sz="750" b="1">
                <a:solidFill>
                  <a:srgbClr val="0F2744"/>
                </a:solidFill>
                <a:latin typeface="Microsoft YaHei"/>
                <a:ea typeface="Microsoft YaHei"/>
              </a:rPr>
              <a:t> CRM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323975" y="2390775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C4A052"/>
                </a:solidFill>
                <a:latin typeface="Microsoft YaHei"/>
                <a:ea typeface="Microsoft YaHei"/>
              </a:rPr>
              <a:t>默认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2219325" y="2238375"/>
            <a:ext cx="1504950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2752725" y="2276475"/>
            <a:ext cx="447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1E3A5F"/>
                </a:solidFill>
                <a:latin typeface="Microsoft YaHei"/>
                <a:ea typeface="Microsoft YaHei"/>
              </a:rPr>
              <a:t>客户</a:t>
            </a:r>
            <a:r>
              <a:rPr lang="en-US" sz="750" b="1">
                <a:solidFill>
                  <a:srgbClr val="1E3A5F"/>
                </a:solidFill>
                <a:latin typeface="Microsoft YaHei"/>
                <a:ea typeface="Microsoft YaHei"/>
              </a:rPr>
              <a:t> CRM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47700" y="2609850"/>
            <a:ext cx="307657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50">
                <a:solidFill>
                  <a:srgbClr val="4B5563"/>
                </a:solidFill>
                <a:latin typeface="Microsoft YaHei"/>
                <a:ea typeface="Microsoft YaHei"/>
              </a:rPr>
              <a:t>线索</a:t>
            </a:r>
            <a:r>
              <a:rPr lang="en-US" sz="750">
                <a:solidFill>
                  <a:srgbClr val="4B5563"/>
                </a:solidFill>
                <a:latin typeface="Microsoft YaHei"/>
                <a:ea typeface="Microsoft YaHei"/>
              </a:rPr>
              <a:t> · </a:t>
            </a:r>
            <a:r>
              <a:rPr lang="zh-CN" sz="750">
                <a:solidFill>
                  <a:srgbClr val="4B5563"/>
                </a:solidFill>
                <a:latin typeface="Microsoft YaHei"/>
                <a:ea typeface="Microsoft YaHei"/>
              </a:rPr>
              <a:t>商机</a:t>
            </a:r>
            <a:r>
              <a:rPr lang="en-US" sz="750">
                <a:solidFill>
                  <a:srgbClr val="4B5563"/>
                </a:solidFill>
                <a:latin typeface="Microsoft YaHei"/>
                <a:ea typeface="Microsoft YaHei"/>
              </a:rPr>
              <a:t> · </a:t>
            </a:r>
            <a:r>
              <a:rPr lang="zh-CN" sz="750">
                <a:solidFill>
                  <a:srgbClr val="4B5563"/>
                </a:solidFill>
                <a:latin typeface="Microsoft YaHei"/>
                <a:ea typeface="Microsoft YaHei"/>
              </a:rPr>
              <a:t>客户</a:t>
            </a:r>
            <a:endParaRPr/>
          </a:p>
          <a:p>
            <a:pPr>
              <a:lnSpc>
                <a:spcPct val="140000"/>
              </a:lnSpc>
            </a:pPr>
            <a:r>
              <a:rPr lang="zh-CN" sz="750">
                <a:solidFill>
                  <a:srgbClr val="4B5563"/>
                </a:solidFill>
                <a:latin typeface="Microsoft YaHei"/>
                <a:ea typeface="Microsoft YaHei"/>
              </a:rPr>
              <a:t>产品</a:t>
            </a:r>
            <a:r>
              <a:rPr lang="en-US" sz="750">
                <a:solidFill>
                  <a:srgbClr val="4B5563"/>
                </a:solidFill>
                <a:latin typeface="Microsoft YaHei"/>
                <a:ea typeface="Microsoft YaHei"/>
              </a:rPr>
              <a:t> · </a:t>
            </a:r>
            <a:r>
              <a:rPr lang="zh-CN" sz="750">
                <a:solidFill>
                  <a:srgbClr val="4B5563"/>
                </a:solidFill>
                <a:latin typeface="Microsoft YaHei"/>
                <a:ea typeface="Microsoft YaHei"/>
              </a:rPr>
              <a:t>合同</a:t>
            </a:r>
            <a:r>
              <a:rPr lang="en-US" sz="750">
                <a:solidFill>
                  <a:srgbClr val="4B5563"/>
                </a:solidFill>
                <a:latin typeface="Microsoft YaHei"/>
                <a:ea typeface="Microsoft YaHei"/>
              </a:rPr>
              <a:t> · </a:t>
            </a:r>
            <a:r>
              <a:rPr lang="zh-CN" sz="750">
                <a:solidFill>
                  <a:srgbClr val="4B5563"/>
                </a:solidFill>
                <a:latin typeface="Microsoft YaHei"/>
                <a:ea typeface="Microsoft YaHei"/>
              </a:rPr>
              <a:t>回款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47700" y="5857875"/>
            <a:ext cx="3076575" cy="171450"/>
          </a:xfrm>
          <a:prstGeom prst="rect"/>
        </p:spPr>
        <p:txBody>
          <a:bodyPr wrap="none" lIns="0" tIns="42863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只读聚合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914775" y="38576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4143375" y="1762125"/>
            <a:ext cx="3914775" cy="4343400"/>
          </a:xfrm>
          <a:prstGeom prst="roundRect">
            <a:avLst>
              <a:gd name="adj" fmla="val 973"/>
            </a:avLst>
          </a:prstGeom>
          <a:solidFill>
            <a:srgbClr val="1E3A5F">
              <a:alpha val="6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238625" y="1838325"/>
            <a:ext cx="37242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1E3A5F"/>
                </a:solidFill>
                <a:latin typeface="Microsoft YaHei"/>
                <a:ea typeface="Microsoft YaHei"/>
              </a:rPr>
              <a:t>销售</a:t>
            </a:r>
            <a:r>
              <a:rPr lang="en-US" sz="900" b="1">
                <a:solidFill>
                  <a:srgbClr val="1E3A5F"/>
                </a:solidFill>
                <a:latin typeface="Microsoft YaHei"/>
                <a:ea typeface="Microsoft YaHei"/>
              </a:rPr>
              <a:t> Manager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4238625" y="2038350"/>
            <a:ext cx="3724275" cy="1905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419725" y="2076450"/>
            <a:ext cx="1362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分析官</a:t>
            </a: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商机官</a:t>
            </a: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 · CPQ · </a:t>
            </a: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回款官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238625" y="2305050"/>
            <a:ext cx="37242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50">
                <a:solidFill>
                  <a:srgbClr val="6B7280"/>
                </a:solidFill>
                <a:latin typeface="Microsoft YaHei"/>
                <a:ea typeface="Microsoft YaHei"/>
              </a:rPr>
              <a:t>↑ RAG </a:t>
            </a: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检索</a:t>
            </a:r>
            <a:r>
              <a:rPr lang="en-US" sz="750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溯源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4238625" y="2457450"/>
            <a:ext cx="1219200" cy="180975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4724400" y="2495550"/>
            <a:ext cx="2571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b="1">
                <a:solidFill>
                  <a:srgbClr val="1E3A5F"/>
                </a:solidFill>
                <a:latin typeface="Microsoft YaHei"/>
                <a:ea typeface="Microsoft YaHei"/>
              </a:rPr>
              <a:t>线索库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5495925" y="2457450"/>
            <a:ext cx="1209675" cy="180975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019800" y="2495550"/>
            <a:ext cx="171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 b="1">
                <a:solidFill>
                  <a:srgbClr val="1E3A5F"/>
                </a:solidFill>
                <a:latin typeface="Microsoft YaHei"/>
                <a:ea typeface="Microsoft YaHei"/>
              </a:rPr>
              <a:t>价库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743700" y="2457450"/>
            <a:ext cx="1219200" cy="180975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258050" y="2495550"/>
            <a:ext cx="190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1E3A5F"/>
                </a:solidFill>
                <a:latin typeface="Microsoft YaHei"/>
                <a:ea typeface="Microsoft YaHei"/>
              </a:rPr>
              <a:t>CPQ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238625" y="2695575"/>
            <a:ext cx="37242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销售三库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153400" y="38576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8382000" y="1790700"/>
            <a:ext cx="3257550" cy="4343400"/>
          </a:xfrm>
          <a:prstGeom prst="roundRect">
            <a:avLst>
              <a:gd name="adj" fmla="val 1170"/>
            </a:avLst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8382000" y="1790700"/>
            <a:ext cx="3257550" cy="4343400"/>
          </a:xfrm>
          <a:custGeom>
            <a:pathLst>
              <a:path w="342" h="456">
                <a:moveTo>
                  <a:pt x="338" y="0"/>
                </a:moveTo>
                <a:cubicBezTo>
                  <a:pt x="340" y="0"/>
                  <a:pt x="342" y="2"/>
                  <a:pt x="342" y="4"/>
                </a:cubicBezTo>
                <a:cubicBezTo>
                  <a:pt x="342" y="3"/>
                  <a:pt x="341" y="3"/>
                  <a:pt x="34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38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477250" y="1866900"/>
            <a:ext cx="3067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2744"/>
                </a:solidFill>
                <a:latin typeface="Microsoft YaHei"/>
                <a:ea typeface="Microsoft YaHei"/>
              </a:rPr>
              <a:t>输出给人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477250" y="206692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50">
                <a:solidFill>
                  <a:srgbClr val="111827"/>
                </a:solidFill>
                <a:latin typeface="Microsoft YaHei"/>
                <a:ea typeface="Microsoft YaHei"/>
              </a:rPr>
              <a:t>· </a:t>
            </a:r>
            <a:r>
              <a:rPr lang="zh-CN" sz="750">
                <a:solidFill>
                  <a:srgbClr val="111827"/>
                </a:solidFill>
                <a:latin typeface="Microsoft YaHei"/>
                <a:ea typeface="Microsoft YaHei"/>
              </a:rPr>
              <a:t>管线诊断</a:t>
            </a:r>
            <a:r>
              <a:rPr lang="en-US" sz="75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750">
                <a:solidFill>
                  <a:srgbClr val="111827"/>
                </a:solidFill>
                <a:latin typeface="Microsoft YaHei"/>
                <a:ea typeface="Microsoft YaHei"/>
              </a:rPr>
              <a:t>杠杆方案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477250" y="2266950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50">
                <a:solidFill>
                  <a:srgbClr val="111827"/>
                </a:solidFill>
                <a:latin typeface="Microsoft YaHei"/>
                <a:ea typeface="Microsoft YaHei"/>
              </a:rPr>
              <a:t>· </a:t>
            </a:r>
            <a:r>
              <a:rPr lang="zh-CN" sz="750">
                <a:solidFill>
                  <a:srgbClr val="111827"/>
                </a:solidFill>
                <a:latin typeface="Microsoft YaHei"/>
                <a:ea typeface="Microsoft YaHei"/>
              </a:rPr>
              <a:t>跟进话术</a:t>
            </a:r>
            <a:r>
              <a:rPr lang="en-US" sz="75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750">
                <a:solidFill>
                  <a:srgbClr val="111827"/>
                </a:solidFill>
                <a:latin typeface="Microsoft YaHei"/>
                <a:ea typeface="Microsoft YaHei"/>
              </a:rPr>
              <a:t>报价草稿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477250" y="2505075"/>
            <a:ext cx="30670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8477250" y="2686050"/>
            <a:ext cx="3067050" cy="209550"/>
          </a:xfrm>
          <a:prstGeom prst="roundRect">
            <a:avLst>
              <a:gd name="adj" fmla="val 18182"/>
            </a:avLst>
          </a:prstGeom>
          <a:solidFill>
            <a:srgbClr val="991B1B"/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9753600" y="2733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Confirm </a:t>
            </a: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闸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477250" y="2952750"/>
            <a:ext cx="3067050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 b="1">
                <a:solidFill>
                  <a:srgbClr val="991B1B"/>
                </a:solidFill>
                <a:latin typeface="Microsoft YaHei"/>
                <a:ea typeface="Microsoft YaHei"/>
              </a:rPr>
              <a:t>人拍板</a:t>
            </a:r>
            <a:r>
              <a:rPr lang="en-US" sz="750" b="1">
                <a:solidFill>
                  <a:srgbClr val="991B1B"/>
                </a:solidFill>
                <a:latin typeface="Microsoft YaHei"/>
                <a:ea typeface="Microsoft YaHei"/>
              </a:rPr>
              <a:t> → </a:t>
            </a:r>
            <a:r>
              <a:rPr lang="zh-CN" sz="750" b="1">
                <a:solidFill>
                  <a:srgbClr val="991B1B"/>
                </a:solidFill>
                <a:latin typeface="Microsoft YaHei"/>
                <a:ea typeface="Microsoft YaHei"/>
              </a:rPr>
              <a:t>写回</a:t>
            </a:r>
            <a:r>
              <a:rPr lang="en-US" sz="750" b="1">
                <a:solidFill>
                  <a:srgbClr val="991B1B"/>
                </a:solidFill>
                <a:latin typeface="Microsoft YaHei"/>
                <a:ea typeface="Microsoft YaHei"/>
              </a:rPr>
              <a:t> CRM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457200" y="6191250"/>
            <a:ext cx="11277600" cy="219075"/>
          </a:xfrm>
          <a:custGeom>
            <a:pathLst>
              <a:path w="1184" h="23">
                <a:moveTo>
                  <a:pt x="1184" y="18"/>
                </a:moveTo>
                <a:cubicBezTo>
                  <a:pt x="1184" y="20"/>
                  <a:pt x="1182" y="22"/>
                  <a:pt x="1180" y="22"/>
                </a:cubicBezTo>
                <a:lnTo>
                  <a:pt x="4" y="22"/>
                </a:lnTo>
                <a:cubicBezTo>
                  <a:pt x="2" y="22"/>
                  <a:pt x="0" y="20"/>
                  <a:pt x="0" y="18"/>
                </a:cubicBezTo>
                <a:lnTo>
                  <a:pt x="0" y="0"/>
                </a:lnTo>
                <a:lnTo>
                  <a:pt x="1184" y="0"/>
                </a:lnTo>
                <a:close/>
              </a:path>
            </a:pathLst>
          </a:custGeom>
          <a:solidFill>
            <a:srgbClr val="0F274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457200" y="6181725"/>
            <a:ext cx="11277600" cy="228600"/>
          </a:xfrm>
          <a:custGeom>
            <a:pathLst>
              <a:path w="1184" h="24">
                <a:moveTo>
                  <a:pt x="0" y="0"/>
                </a:moveTo>
                <a:lnTo>
                  <a:pt x="1184" y="0"/>
                </a:lnTo>
                <a:lnTo>
                  <a:pt x="118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571500" y="6238875"/>
            <a:ext cx="11049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F2744"/>
                </a:solidFill>
                <a:latin typeface="Microsoft YaHei"/>
                <a:ea typeface="Microsoft YaHei"/>
              </a:rPr>
              <a:t>读</a:t>
            </a:r>
            <a:r>
              <a:rPr lang="en-US" sz="750" b="1">
                <a:solidFill>
                  <a:srgbClr val="0F2744"/>
                </a:solidFill>
                <a:latin typeface="Microsoft YaHei"/>
                <a:ea typeface="Microsoft YaHei"/>
              </a:rPr>
              <a:t> = </a:t>
            </a:r>
            <a:r>
              <a:rPr lang="zh-CN" sz="750" b="1">
                <a:solidFill>
                  <a:srgbClr val="0F2744"/>
                </a:solidFill>
                <a:latin typeface="Microsoft YaHei"/>
                <a:ea typeface="Microsoft YaHei"/>
              </a:rPr>
              <a:t>实时聚合</a:t>
            </a:r>
            <a:r>
              <a:rPr lang="en-US" sz="750" b="1">
                <a:solidFill>
                  <a:srgbClr val="0F2744"/>
                </a:solidFill>
                <a:latin typeface="Microsoft YaHei"/>
                <a:ea typeface="Microsoft YaHei"/>
              </a:rPr>
              <a:t> · </a:t>
            </a:r>
            <a:r>
              <a:rPr lang="zh-CN" sz="750" b="1">
                <a:solidFill>
                  <a:srgbClr val="0F2744"/>
                </a:solidFill>
                <a:latin typeface="Microsoft YaHei"/>
                <a:ea typeface="Microsoft YaHei"/>
              </a:rPr>
              <a:t>写</a:t>
            </a:r>
            <a:r>
              <a:rPr lang="en-US" sz="750" b="1">
                <a:solidFill>
                  <a:srgbClr val="0F2744"/>
                </a:solidFill>
                <a:latin typeface="Microsoft YaHei"/>
                <a:ea typeface="Microsoft YaHei"/>
              </a:rPr>
              <a:t> = </a:t>
            </a:r>
            <a:r>
              <a:rPr lang="zh-CN" sz="750" b="1">
                <a:solidFill>
                  <a:srgbClr val="0F2744"/>
                </a:solidFill>
                <a:latin typeface="Microsoft YaHei"/>
                <a:ea typeface="Microsoft YaHei"/>
              </a:rPr>
              <a:t>必经</a:t>
            </a:r>
            <a:r>
              <a:rPr lang="en-US" sz="750" b="1">
                <a:solidFill>
                  <a:srgbClr val="0F2744"/>
                </a:solidFill>
                <a:latin typeface="Microsoft YaHei"/>
                <a:ea typeface="Microsoft YaHei"/>
              </a:rPr>
              <a:t> Confirm · </a:t>
            </a:r>
            <a:r>
              <a:rPr lang="zh-CN" sz="750" b="1">
                <a:solidFill>
                  <a:srgbClr val="0F2744"/>
                </a:solidFill>
                <a:latin typeface="Microsoft YaHei"/>
                <a:ea typeface="Microsoft YaHei"/>
              </a:rPr>
              <a:t>不编造数据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0" y="6457950"/>
            <a:ext cx="12192000" cy="400050"/>
          </a:xfrm>
          <a:custGeom>
            <a:pathLst>
              <a:path w="1280" h="42">
                <a:moveTo>
                  <a:pt x="0" y="0"/>
                </a:moveTo>
                <a:lnTo>
                  <a:pt x="1280" y="0"/>
                </a:lnTo>
                <a:lnTo>
                  <a:pt x="128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6600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1172825" y="6600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09600" y="1428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四域智能体职责一览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同一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Runtime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实例化四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Manager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首单从销售切入，四域闭环挂为路线图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09600" y="1019175"/>
            <a:ext cx="2657475" cy="480060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609600" y="1019175"/>
            <a:ext cx="2657475" cy="4800600"/>
          </a:xfrm>
          <a:custGeom>
            <a:pathLst>
              <a:path w="279" h="504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279" y="5"/>
                </a:lnTo>
                <a:lnTo>
                  <a:pt x="0" y="5"/>
                </a:lnTo>
                <a:cubicBezTo>
                  <a:pt x="0" y="4"/>
                  <a:pt x="0" y="3"/>
                  <a:pt x="1" y="2"/>
                </a:cubicBezTo>
                <a:cubicBezTo>
                  <a:pt x="1" y="1"/>
                  <a:pt x="2" y="0"/>
                  <a:pt x="4" y="0"/>
                </a:cubicBezTo>
                <a:lnTo>
                  <a:pt x="4" y="0"/>
                </a:lnTo>
                <a:lnTo>
                  <a:pt x="4" y="0"/>
                </a:lnTo>
                <a:lnTo>
                  <a:pt x="275" y="0"/>
                </a:lnTo>
                <a:close/>
              </a:path>
            </a:pathLst>
          </a:cu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723900" y="1133475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8B6914"/>
                </a:solidFill>
                <a:latin typeface="Microsoft YaHei"/>
                <a:ea typeface="Microsoft YaHei"/>
              </a:rPr>
              <a:t>营销智能体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23900" y="1362075"/>
            <a:ext cx="2428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盘踞：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获客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转化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23900" y="159067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子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Agent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：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内容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投放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线索培育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23900" y="18478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资料库：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6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库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23900" y="5514975"/>
            <a:ext cx="2428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8B6914"/>
                </a:solidFill>
                <a:latin typeface="Microsoft YaHei"/>
                <a:ea typeface="Microsoft YaHei"/>
              </a:rPr>
              <a:t>输出高质量</a:t>
            </a:r>
            <a:r>
              <a:rPr lang="en-US" sz="900" b="1">
                <a:solidFill>
                  <a:srgbClr val="8B6914"/>
                </a:solidFill>
                <a:latin typeface="Microsoft YaHei"/>
                <a:ea typeface="Microsoft YaHei"/>
              </a:rPr>
              <a:t> MQL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3381375" y="1019175"/>
            <a:ext cx="2657475" cy="480060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3381375" y="1019175"/>
            <a:ext cx="2657475" cy="4800600"/>
          </a:xfrm>
          <a:custGeom>
            <a:pathLst>
              <a:path w="279" h="504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279" y="5"/>
                </a:lnTo>
                <a:lnTo>
                  <a:pt x="0" y="5"/>
                </a:lnTo>
                <a:cubicBezTo>
                  <a:pt x="0" y="4"/>
                  <a:pt x="0" y="3"/>
                  <a:pt x="1" y="2"/>
                </a:cubicBezTo>
                <a:cubicBezTo>
                  <a:pt x="1" y="1"/>
                  <a:pt x="2" y="0"/>
                  <a:pt x="4" y="0"/>
                </a:cubicBezTo>
                <a:lnTo>
                  <a:pt x="4" y="0"/>
                </a:lnTo>
                <a:lnTo>
                  <a:pt x="4" y="0"/>
                </a:lnTo>
                <a:lnTo>
                  <a:pt x="275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3495675" y="1133475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5F"/>
                </a:solidFill>
                <a:latin typeface="Microsoft YaHei"/>
                <a:ea typeface="Microsoft YaHei"/>
              </a:rPr>
              <a:t>销售智能体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3495675" y="1362075"/>
            <a:ext cx="2428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盘踞：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转化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成交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回款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3495675" y="159067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子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Agent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：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分析官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商机官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/ CPQ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3495675" y="18478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资料库：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3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库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495675" y="5514975"/>
            <a:ext cx="2428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E3A5F"/>
                </a:solidFill>
                <a:latin typeface="Microsoft YaHei"/>
                <a:ea typeface="Microsoft YaHei"/>
              </a:rPr>
              <a:t>首单优先变现切口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153150" y="1019175"/>
            <a:ext cx="2657475" cy="480060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153150" y="1019175"/>
            <a:ext cx="2657475" cy="4800600"/>
          </a:xfrm>
          <a:custGeom>
            <a:pathLst>
              <a:path w="279" h="504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279" y="5"/>
                </a:lnTo>
                <a:lnTo>
                  <a:pt x="0" y="5"/>
                </a:lnTo>
                <a:cubicBezTo>
                  <a:pt x="0" y="4"/>
                  <a:pt x="0" y="3"/>
                  <a:pt x="1" y="2"/>
                </a:cubicBezTo>
                <a:cubicBezTo>
                  <a:pt x="1" y="1"/>
                  <a:pt x="2" y="0"/>
                  <a:pt x="4" y="0"/>
                </a:cubicBezTo>
                <a:lnTo>
                  <a:pt x="4" y="0"/>
                </a:lnTo>
                <a:lnTo>
                  <a:pt x="4" y="0"/>
                </a:lnTo>
                <a:lnTo>
                  <a:pt x="275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267450" y="1133475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服务智能体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267450" y="1362075"/>
            <a:ext cx="2428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盘踞：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交付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续约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267450" y="159067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子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Agent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：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工单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续约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267450" y="18478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资料库：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6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库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267450" y="5514975"/>
            <a:ext cx="2428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A5568"/>
                </a:solidFill>
                <a:latin typeface="Microsoft YaHei"/>
                <a:ea typeface="Microsoft YaHei"/>
              </a:rPr>
              <a:t>健康度·口碑回流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8924925" y="1019175"/>
            <a:ext cx="2657475" cy="4800600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8924925" y="1019175"/>
            <a:ext cx="2657475" cy="4800600"/>
          </a:xfrm>
          <a:custGeom>
            <a:pathLst>
              <a:path w="279" h="504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279" y="5"/>
                </a:lnTo>
                <a:lnTo>
                  <a:pt x="0" y="5"/>
                </a:lnTo>
                <a:cubicBezTo>
                  <a:pt x="0" y="4"/>
                  <a:pt x="0" y="3"/>
                  <a:pt x="1" y="2"/>
                </a:cubicBezTo>
                <a:cubicBezTo>
                  <a:pt x="1" y="1"/>
                  <a:pt x="2" y="0"/>
                  <a:pt x="4" y="0"/>
                </a:cubicBezTo>
                <a:lnTo>
                  <a:pt x="4" y="0"/>
                </a:lnTo>
                <a:lnTo>
                  <a:pt x="4" y="0"/>
                </a:lnTo>
                <a:lnTo>
                  <a:pt x="275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9039225" y="1133475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5F"/>
                </a:solidFill>
                <a:latin typeface="Microsoft YaHei"/>
                <a:ea typeface="Microsoft YaHei"/>
              </a:rPr>
              <a:t>财税智能体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9039225" y="1362075"/>
            <a:ext cx="2428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盘踞：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收款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经营分析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9039225" y="159067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子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Agent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：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合规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票据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9039225" y="18478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资料库：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6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库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9039225" y="5514975"/>
            <a:ext cx="2428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E3A5F"/>
                </a:solidFill>
                <a:latin typeface="Microsoft YaHei"/>
                <a:ea typeface="Microsoft YaHei"/>
              </a:rPr>
              <a:t>对接客户</a:t>
            </a:r>
            <a:r>
              <a:rPr lang="en-US" sz="900" b="1">
                <a:solidFill>
                  <a:srgbClr val="1E3A5F"/>
                </a:solidFill>
                <a:latin typeface="Microsoft YaHei"/>
                <a:ea typeface="Microsoft YaHei"/>
              </a:rPr>
              <a:t> ERP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647700" y="5867400"/>
            <a:ext cx="10972800" cy="419100"/>
          </a:xfrm>
          <a:prstGeom prst="roundRect">
            <a:avLst>
              <a:gd name="adj" fmla="val 9091"/>
            </a:avLst>
          </a:prstGeom>
          <a:solidFill>
            <a:srgbClr val="0F274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47700" y="5867400"/>
            <a:ext cx="10972800" cy="419100"/>
          </a:xfrm>
          <a:custGeom>
            <a:pathLst>
              <a:path w="1152" h="44">
                <a:moveTo>
                  <a:pt x="4" y="44"/>
                </a:moveTo>
                <a:cubicBezTo>
                  <a:pt x="2" y="44"/>
                  <a:pt x="0" y="42"/>
                  <a:pt x="0" y="4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4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781050" y="6000750"/>
            <a:ext cx="5962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2744"/>
                </a:solidFill>
                <a:latin typeface="Microsoft YaHei"/>
                <a:ea typeface="Microsoft YaHei"/>
              </a:rPr>
              <a:t>卖法：不卖「全能</a:t>
            </a:r>
            <a:r>
              <a:rPr lang="en-US" sz="975" b="1">
                <a:solidFill>
                  <a:srgbClr val="0F2744"/>
                </a:solidFill>
                <a:latin typeface="Microsoft YaHei"/>
                <a:ea typeface="Microsoft YaHei"/>
              </a:rPr>
              <a:t> AI </a:t>
            </a:r>
            <a:r>
              <a:rPr lang="zh-CN" sz="975" b="1">
                <a:solidFill>
                  <a:srgbClr val="0F2744"/>
                </a:solidFill>
                <a:latin typeface="Microsoft YaHei"/>
                <a:ea typeface="Microsoft YaHei"/>
              </a:rPr>
              <a:t>管理层」——</a:t>
            </a:r>
            <a:r>
              <a:rPr lang="en-US" sz="975" b="1">
                <a:solidFill>
                  <a:srgbClr val="0F2744"/>
                </a:solidFill>
                <a:latin typeface="Microsoft YaHei"/>
                <a:ea typeface="Microsoft YaHei"/>
              </a:rPr>
              <a:t> </a:t>
            </a:r>
            <a:r>
              <a:rPr lang="zh-CN" sz="975" b="1">
                <a:solidFill>
                  <a:srgbClr val="0F2744"/>
                </a:solidFill>
                <a:latin typeface="Microsoft YaHei"/>
                <a:ea typeface="Microsoft YaHei"/>
              </a:rPr>
              <a:t>卖「私有化经营系统里、会看数会推商机、不敢擅自动的四域智能体」。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0" y="6457950"/>
            <a:ext cx="12192000" cy="400050"/>
          </a:xfrm>
          <a:custGeom>
            <a:pathLst>
              <a:path w="1280" h="42">
                <a:moveTo>
                  <a:pt x="0" y="0"/>
                </a:moveTo>
                <a:lnTo>
                  <a:pt x="1280" y="0"/>
                </a:lnTo>
                <a:lnTo>
                  <a:pt x="128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09600" y="6600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1172825" y="6600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4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09600" y="1428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竞品四空缺</a:t>
            </a: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三条护城河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不在通用大模型与垂直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SaaS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主战场硬拼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用「窄切口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可控闭环」建壁垒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09600" y="962025"/>
            <a:ext cx="2686050" cy="67627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09600" y="962025"/>
            <a:ext cx="2686050" cy="676275"/>
          </a:xfrm>
          <a:custGeom>
            <a:pathLst>
              <a:path w="282" h="71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cubicBezTo>
                  <a:pt x="282" y="3"/>
                  <a:pt x="281" y="3"/>
                  <a:pt x="28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p>
            <a:pPr/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704850" y="103822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11827"/>
                </a:solidFill>
                <a:latin typeface="Microsoft YaHei"/>
                <a:ea typeface="Microsoft YaHei"/>
              </a:rPr>
              <a:t>收入智能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04850" y="1190625"/>
            <a:ext cx="2495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7280"/>
                </a:solidFill>
                <a:latin typeface="Microsoft YaHei"/>
                <a:ea typeface="Microsoft YaHei"/>
              </a:rPr>
              <a:t>Clari/Gong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704850" y="1362075"/>
            <a:ext cx="24955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预测强但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 $200+/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人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月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纯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 SaaS 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无私有化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无中文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3371850" y="962025"/>
            <a:ext cx="2686050" cy="67627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3371850" y="962025"/>
            <a:ext cx="2686050" cy="676275"/>
          </a:xfrm>
          <a:custGeom>
            <a:pathLst>
              <a:path w="282" h="71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cubicBezTo>
                  <a:pt x="282" y="3"/>
                  <a:pt x="281" y="3"/>
                  <a:pt x="28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p>
            <a:pPr/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467100" y="103822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11827"/>
                </a:solidFill>
                <a:latin typeface="Microsoft YaHei"/>
                <a:ea typeface="Microsoft YaHei"/>
              </a:rPr>
              <a:t>国内</a:t>
            </a:r>
            <a:r>
              <a:rPr lang="en-US" sz="975" b="1">
                <a:solidFill>
                  <a:srgbClr val="111827"/>
                </a:solidFill>
                <a:latin typeface="Microsoft YaHei"/>
                <a:ea typeface="Microsoft YaHei"/>
              </a:rPr>
              <a:t> CRM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467100" y="1190625"/>
            <a:ext cx="2495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纷享</a:t>
            </a:r>
            <a:r>
              <a:rPr lang="en-US" sz="750">
                <a:solidFill>
                  <a:srgbClr val="6B728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销售易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3467100" y="1362075"/>
            <a:ext cx="24955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大中客户导向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闭环锁自家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 CRM · 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私有化大模型缺位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134100" y="962025"/>
            <a:ext cx="2686050" cy="67627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134100" y="962025"/>
            <a:ext cx="2686050" cy="676275"/>
          </a:xfrm>
          <a:custGeom>
            <a:pathLst>
              <a:path w="282" h="71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cubicBezTo>
                  <a:pt x="282" y="3"/>
                  <a:pt x="281" y="3"/>
                  <a:pt x="28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229350" y="103822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11827"/>
                </a:solidFill>
                <a:latin typeface="Microsoft YaHei"/>
                <a:ea typeface="Microsoft YaHei"/>
              </a:rPr>
              <a:t>通用大模型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229350" y="1190625"/>
            <a:ext cx="2495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豆包</a:t>
            </a:r>
            <a:r>
              <a:rPr lang="en-US" sz="750">
                <a:solidFill>
                  <a:srgbClr val="6B728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文心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229350" y="1362075"/>
            <a:ext cx="24955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不懂业务闭环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无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 CRM 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沉淀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不做私有化细活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8896350" y="962025"/>
            <a:ext cx="2686050" cy="67627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8896350" y="962025"/>
            <a:ext cx="2686050" cy="676275"/>
          </a:xfrm>
          <a:custGeom>
            <a:pathLst>
              <a:path w="282" h="71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cubicBezTo>
                  <a:pt x="282" y="3"/>
                  <a:pt x="281" y="3"/>
                  <a:pt x="28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p>
            <a:pPr/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991600" y="103822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11827"/>
                </a:solidFill>
                <a:latin typeface="Microsoft YaHei"/>
                <a:ea typeface="Microsoft YaHei"/>
              </a:rPr>
              <a:t>RPA/</a:t>
            </a:r>
            <a:r>
              <a:rPr lang="zh-CN" sz="975" b="1">
                <a:solidFill>
                  <a:srgbClr val="111827"/>
                </a:solidFill>
                <a:latin typeface="Microsoft YaHei"/>
                <a:ea typeface="Microsoft YaHei"/>
              </a:rPr>
              <a:t>内容工具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991600" y="1190625"/>
            <a:ext cx="2495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流程</a:t>
            </a:r>
            <a:r>
              <a:rPr lang="en-US" sz="750">
                <a:solidFill>
                  <a:srgbClr val="6B728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模板类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991600" y="1362075"/>
            <a:ext cx="24955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无智能判断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诊断与执行割裂</a:t>
            </a:r>
            <a:r>
              <a:rPr lang="en-US" sz="825">
                <a:solidFill>
                  <a:srgbClr val="991B1B"/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991B1B"/>
                </a:solidFill>
                <a:latin typeface="Microsoft YaHei"/>
                <a:ea typeface="Microsoft YaHei"/>
              </a:rPr>
              <a:t>无人拍板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09600" y="1704975"/>
            <a:ext cx="2686050" cy="409575"/>
          </a:xfrm>
          <a:prstGeom prst="roundRect">
            <a:avLst>
              <a:gd name="adj" fmla="val 9302"/>
            </a:avLst>
          </a:prstGeom>
          <a:solidFill>
            <a:srgbClr val="0F2744">
              <a:alpha val="6000"/>
            </a:srgbClr>
          </a:solidFill>
          <a:ln w="12700">
            <a:solidFill>
              <a:srgbClr val="0F274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04850" y="1762125"/>
            <a:ext cx="2495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2744"/>
                </a:solidFill>
                <a:latin typeface="Microsoft YaHei"/>
                <a:ea typeface="Microsoft YaHei"/>
              </a:rPr>
              <a:t>老板问得出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04850" y="19240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中文对话式目标倒推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3371850" y="1704975"/>
            <a:ext cx="2686050" cy="409575"/>
          </a:xfrm>
          <a:prstGeom prst="roundRect">
            <a:avLst>
              <a:gd name="adj" fmla="val 9302"/>
            </a:avLst>
          </a:prstGeom>
          <a:solidFill>
            <a:srgbClr val="0F2744">
              <a:alpha val="6000"/>
            </a:srgbClr>
          </a:solidFill>
          <a:ln w="12700">
            <a:solidFill>
              <a:srgbClr val="0F274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3467100" y="1762125"/>
            <a:ext cx="2495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2744"/>
                </a:solidFill>
                <a:latin typeface="Microsoft YaHei"/>
                <a:ea typeface="Microsoft YaHei"/>
              </a:rPr>
              <a:t>方案拍得了板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3467100" y="19240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诊断→人拍板→执行闭环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6134100" y="1704975"/>
            <a:ext cx="2686050" cy="409575"/>
          </a:xfrm>
          <a:prstGeom prst="roundRect">
            <a:avLst>
              <a:gd name="adj" fmla="val 9302"/>
            </a:avLst>
          </a:prstGeom>
          <a:solidFill>
            <a:srgbClr val="0F2744">
              <a:alpha val="6000"/>
            </a:srgbClr>
          </a:solidFill>
          <a:ln w="12700">
            <a:solidFill>
              <a:srgbClr val="0F274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229350" y="1762125"/>
            <a:ext cx="2495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2744"/>
                </a:solidFill>
                <a:latin typeface="Microsoft YaHei"/>
                <a:ea typeface="Microsoft YaHei"/>
              </a:rPr>
              <a:t>数据不出门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229350" y="19240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私有化部署全赛道空白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8896350" y="1704975"/>
            <a:ext cx="2686050" cy="409575"/>
          </a:xfrm>
          <a:prstGeom prst="roundRect">
            <a:avLst>
              <a:gd name="adj" fmla="val 9302"/>
            </a:avLst>
          </a:prstGeom>
          <a:solidFill>
            <a:srgbClr val="0F2744">
              <a:alpha val="6000"/>
            </a:srgbClr>
          </a:solidFill>
          <a:ln w="12700">
            <a:solidFill>
              <a:srgbClr val="0F274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991600" y="1762125"/>
            <a:ext cx="2495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2744"/>
                </a:solidFill>
                <a:latin typeface="Microsoft YaHei"/>
                <a:ea typeface="Microsoft YaHei"/>
              </a:rPr>
              <a:t>装完就能用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8991600" y="19240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111827"/>
                </a:solidFill>
                <a:latin typeface="Microsoft YaHei"/>
                <a:ea typeface="Microsoft YaHei"/>
              </a:rPr>
              <a:t>轻数据启动，第一周见产出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09600" y="2247900"/>
            <a:ext cx="3590925" cy="3714750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2247900"/>
            <a:ext cx="3590925" cy="3714750"/>
          </a:xfrm>
          <a:custGeom>
            <a:pathLst>
              <a:path w="377" h="390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23900" y="2343150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3A5F"/>
                </a:solidFill>
                <a:latin typeface="Microsoft YaHei"/>
                <a:ea typeface="Microsoft YaHei"/>
              </a:rPr>
              <a:t>私有化</a:t>
            </a:r>
            <a:r>
              <a:rPr lang="en-US" sz="1050" b="1">
                <a:solidFill>
                  <a:srgbClr val="1E3A5F"/>
                </a:solidFill>
                <a:latin typeface="Microsoft YaHei"/>
                <a:ea typeface="Microsoft YaHei"/>
              </a:rPr>
              <a:t> + </a:t>
            </a:r>
            <a:r>
              <a:rPr lang="zh-CN" sz="1050" b="1">
                <a:solidFill>
                  <a:srgbClr val="1E3A5F"/>
                </a:solidFill>
                <a:latin typeface="Microsoft YaHei"/>
                <a:ea typeface="Microsoft YaHei"/>
              </a:rPr>
              <a:t>人拍板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23900" y="2562225"/>
            <a:ext cx="3362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数据不出域、写操作必人确认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4295775" y="2247900"/>
            <a:ext cx="3600450" cy="3714750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4295775" y="2247900"/>
            <a:ext cx="3600450" cy="3714750"/>
          </a:xfrm>
          <a:custGeom>
            <a:pathLst>
              <a:path w="378" h="390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4410075" y="23431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A5568"/>
                </a:solidFill>
                <a:latin typeface="Microsoft YaHei"/>
                <a:ea typeface="Microsoft YaHei"/>
              </a:rPr>
              <a:t>CRM </a:t>
            </a:r>
            <a:r>
              <a:rPr lang="zh-CN" sz="1050" b="1">
                <a:solidFill>
                  <a:srgbClr val="4A5568"/>
                </a:solidFill>
                <a:latin typeface="Microsoft YaHei"/>
                <a:ea typeface="Microsoft YaHei"/>
              </a:rPr>
              <a:t>经营闭环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4410075" y="2562225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获客→成交→回款→续约贯通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7991475" y="2247900"/>
            <a:ext cx="3590925" cy="3714750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7991475" y="2247900"/>
            <a:ext cx="3590925" cy="3714750"/>
          </a:xfrm>
          <a:custGeom>
            <a:pathLst>
              <a:path w="377" h="390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8105775" y="2343150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3A5F"/>
                </a:solidFill>
                <a:latin typeface="Microsoft YaHei"/>
                <a:ea typeface="Microsoft YaHei"/>
              </a:rPr>
              <a:t>行业</a:t>
            </a:r>
            <a:r>
              <a:rPr lang="en-US" sz="1050" b="1">
                <a:solidFill>
                  <a:srgbClr val="1E3A5F"/>
                </a:solidFill>
                <a:latin typeface="Microsoft YaHei"/>
                <a:ea typeface="Microsoft YaHei"/>
              </a:rPr>
              <a:t> CPQ </a:t>
            </a:r>
            <a:r>
              <a:rPr lang="zh-CN" sz="1050" b="1">
                <a:solidFill>
                  <a:srgbClr val="1E3A5F"/>
                </a:solidFill>
                <a:latin typeface="Microsoft YaHei"/>
                <a:ea typeface="Microsoft YaHei"/>
              </a:rPr>
              <a:t>价税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105775" y="2562225"/>
            <a:ext cx="3362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报价可解释、价税复用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09600" y="6019800"/>
            <a:ext cx="10972800" cy="304800"/>
          </a:xfrm>
          <a:prstGeom prst="roundRect">
            <a:avLst>
              <a:gd name="adj" fmla="val 12500"/>
            </a:avLst>
          </a:prstGeom>
          <a:solidFill>
            <a:srgbClr val="991B1B">
              <a:alpha val="5000"/>
            </a:srgbClr>
          </a:solidFill>
          <a:ln w="12700">
            <a:solidFill>
              <a:srgbClr val="991B1B">
                <a:alpha val="2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742950" y="60960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991B1B"/>
                </a:solidFill>
                <a:latin typeface="Microsoft YaHei"/>
                <a:ea typeface="Microsoft YaHei"/>
              </a:rPr>
              <a:t>错位切口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333500" y="6096000"/>
            <a:ext cx="3533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制造业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B2B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经销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报价复杂要私有化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央企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军工配套数据不出域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0" y="6457950"/>
            <a:ext cx="12192000" cy="400050"/>
          </a:xfrm>
          <a:custGeom>
            <a:pathLst>
              <a:path w="1280" h="42">
                <a:moveTo>
                  <a:pt x="0" y="0"/>
                </a:moveTo>
                <a:lnTo>
                  <a:pt x="1280" y="0"/>
                </a:lnTo>
                <a:lnTo>
                  <a:pt x="128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09600" y="6600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11172825" y="6600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09600" y="1428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私有化部署三档位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与下页成本档位同名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本页讲怎么部署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下页讲花多少钱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默认推荐经济档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09600" y="2238375"/>
            <a:ext cx="3581400" cy="1781175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609600" y="2238375"/>
            <a:ext cx="3581400" cy="1781175"/>
          </a:xfrm>
          <a:custGeom>
            <a:pathLst>
              <a:path w="376" h="187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23900" y="2333625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2744"/>
                </a:solidFill>
                <a:latin typeface="Microsoft YaHei"/>
                <a:ea typeface="Microsoft YaHei"/>
              </a:rPr>
              <a:t>经济档</a:t>
            </a:r>
            <a:r>
              <a:rPr lang="en-US" sz="1125" b="1">
                <a:solidFill>
                  <a:srgbClr val="0F2744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0F2744"/>
                </a:solidFill>
                <a:latin typeface="Microsoft YaHei"/>
                <a:ea typeface="Microsoft YaHei"/>
              </a:rPr>
              <a:t>混合云部署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2076450" y="2352675"/>
            <a:ext cx="533400" cy="133350"/>
          </a:xfrm>
          <a:prstGeom prst="roundRect">
            <a:avLst>
              <a:gd name="adj" fmla="val 28571"/>
            </a:avLst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2152650" y="236220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默认推荐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23900" y="2543175"/>
            <a:ext cx="335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系统私有化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对话走企业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723900" y="27432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系统部署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314450" y="27432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客户服务器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同云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VPC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，数据与资料不出门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723900" y="29718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模型调用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314450" y="29718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百炼等企业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API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（客户自有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Key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723900" y="32004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优点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314450" y="32004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装完即用、能力最强、成本最低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723900" y="34290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约束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314450" y="34290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对话文本经企业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API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（协议不训练）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723900" y="36576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适用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314450" y="36576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制造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经销等多数客户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4305300" y="2238375"/>
            <a:ext cx="3581400" cy="1781175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4305300" y="2238375"/>
            <a:ext cx="3581400" cy="1781175"/>
          </a:xfrm>
          <a:custGeom>
            <a:pathLst>
              <a:path w="376" h="187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419600" y="2333625"/>
            <a:ext cx="115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A5568"/>
                </a:solidFill>
                <a:latin typeface="Microsoft YaHei"/>
                <a:ea typeface="Microsoft YaHei"/>
              </a:rPr>
              <a:t>高敏档</a:t>
            </a:r>
            <a:r>
              <a:rPr lang="en-US" sz="1125" b="1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4A5568"/>
                </a:solidFill>
                <a:latin typeface="Microsoft YaHei"/>
                <a:ea typeface="Microsoft YaHei"/>
              </a:rPr>
              <a:t>本地入库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5629275" y="2352675"/>
            <a:ext cx="533400" cy="133350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705475" y="236220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高敏加购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4419600" y="2543175"/>
            <a:ext cx="335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敏感附件本地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交互仍走云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419600" y="27432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系统部署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5010150" y="27432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同经济档，私有化在客户环境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4419600" y="29718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模型调用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5010150" y="29718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入库摘要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附件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本地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7B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；对话仍走百炼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4419600" y="32004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优点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5010150" y="32004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高敏资料零出域，能力不打折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4419600" y="34290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约束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5010150" y="34290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+1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张消费级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GPU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工作站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4419600" y="36576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适用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5010150" y="36576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合同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图纸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报价单高敏场景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8001000" y="2238375"/>
            <a:ext cx="3581400" cy="1781175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8001000" y="2238375"/>
            <a:ext cx="3581400" cy="1781175"/>
          </a:xfrm>
          <a:custGeom>
            <a:pathLst>
              <a:path w="376" h="187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991B1B"/>
          </a:solidFill>
          <a:ln/>
        </p:spPr>
        <p:txBody>
          <a:bodyPr/>
          <a:p>
            <a:pPr/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115300" y="2333625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91B1B"/>
                </a:solidFill>
                <a:latin typeface="Microsoft YaHei"/>
                <a:ea typeface="Microsoft YaHei"/>
              </a:rPr>
              <a:t>全本地档</a:t>
            </a:r>
            <a:r>
              <a:rPr lang="en-US" sz="1125" b="1">
                <a:solidFill>
                  <a:srgbClr val="991B1B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991B1B"/>
                </a:solidFill>
                <a:latin typeface="Microsoft YaHei"/>
                <a:ea typeface="Microsoft YaHei"/>
              </a:rPr>
              <a:t>离线一体机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9610725" y="2352675"/>
            <a:ext cx="628650" cy="133350"/>
          </a:xfrm>
          <a:prstGeom prst="roundRect">
            <a:avLst>
              <a:gd name="adj" fmla="val 28571"/>
            </a:avLst>
          </a:prstGeom>
          <a:solidFill>
            <a:srgbClr val="991B1B"/>
          </a:solidFill>
          <a:ln/>
        </p:spPr>
        <p:txBody>
          <a:bodyPr/>
          <a:p>
            <a:pPr/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9686925" y="2362200"/>
            <a:ext cx="476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不推荐首期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8115300" y="2543175"/>
            <a:ext cx="335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全量模型本地，可断网运行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115300" y="27432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系统部署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705850" y="27432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On-Prem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推理一体机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私有集群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115300" y="29718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模型调用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705850" y="29718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70B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级全本地，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API ¥0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115300" y="32004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优点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8705850" y="32004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数据零出域、可完全断网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115300" y="34290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约束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705850" y="34290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多卡集群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专职运维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效果弱于云端旗舰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8115300" y="36576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适用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705850" y="36576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军工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金融强制断网场景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609600" y="4076700"/>
            <a:ext cx="10972800" cy="981075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04850" y="4152900"/>
            <a:ext cx="1078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11827"/>
                </a:solidFill>
                <a:latin typeface="Microsoft YaHei"/>
                <a:ea typeface="Microsoft YaHei"/>
              </a:rPr>
              <a:t>对比矩阵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704850" y="4343400"/>
            <a:ext cx="2095500" cy="638175"/>
          </a:xfrm>
          <a:prstGeom prst="roundRect">
            <a:avLst>
              <a:gd name="adj" fmla="val 5970"/>
            </a:avLst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81050" y="4400550"/>
            <a:ext cx="1943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数据出域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781050" y="4562475"/>
            <a:ext cx="194310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经济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协议可控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高敏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附件零出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全本地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零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2876550" y="4343400"/>
            <a:ext cx="2095500" cy="638175"/>
          </a:xfrm>
          <a:prstGeom prst="roundRect">
            <a:avLst>
              <a:gd name="adj" fmla="val 5970"/>
            </a:avLst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2952750" y="4400550"/>
            <a:ext cx="1943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运维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2952750" y="4562475"/>
            <a:ext cx="194310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经济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轻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高敏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+GPU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维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全本地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专职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5048250" y="4343400"/>
            <a:ext cx="2095500" cy="638175"/>
          </a:xfrm>
          <a:prstGeom prst="roundRect">
            <a:avLst>
              <a:gd name="adj" fmla="val 5970"/>
            </a:avLst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5124450" y="4400550"/>
            <a:ext cx="1943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首年成本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5124450" y="4562475"/>
            <a:ext cx="19431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经济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低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高敏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中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全本地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7219950" y="4343400"/>
            <a:ext cx="2095500" cy="638175"/>
          </a:xfrm>
          <a:prstGeom prst="roundRect">
            <a:avLst>
              <a:gd name="adj" fmla="val 5970"/>
            </a:avLst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7296150" y="4400550"/>
            <a:ext cx="1943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能力上限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7296150" y="4562475"/>
            <a:ext cx="194310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经济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云端旗舰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高敏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同左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全本地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受算力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9391650" y="4343400"/>
            <a:ext cx="2095500" cy="638175"/>
          </a:xfrm>
          <a:prstGeom prst="roundRect">
            <a:avLst>
              <a:gd name="adj" fmla="val 5970"/>
            </a:avLst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9467850" y="4400550"/>
            <a:ext cx="1943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B5563"/>
                </a:solidFill>
                <a:latin typeface="Microsoft YaHei"/>
                <a:ea typeface="Microsoft YaHei"/>
              </a:rPr>
              <a:t>适用客群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9467850" y="4562475"/>
            <a:ext cx="19431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多数客户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高敏附件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强制断网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0" y="6457950"/>
            <a:ext cx="12192000" cy="400050"/>
          </a:xfrm>
          <a:custGeom>
            <a:pathLst>
              <a:path w="1280" h="42">
                <a:moveTo>
                  <a:pt x="0" y="0"/>
                </a:moveTo>
                <a:lnTo>
                  <a:pt x="1280" y="0"/>
                </a:lnTo>
                <a:lnTo>
                  <a:pt x="128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09600" y="6600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1172825" y="6600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09600" y="1428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私有化大模型选型：国产优先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不依赖美国大模型服务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Provider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架构不绑死一家，商务上只换「默认推荐」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609600" y="1800225"/>
            <a:ext cx="10972800" cy="5429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609600" y="1800225"/>
            <a:ext cx="838200" cy="542925"/>
          </a:xfrm>
          <a:custGeom>
            <a:pathLst>
              <a:path w="88" h="57">
                <a:moveTo>
                  <a:pt x="88" y="57"/>
                </a:moveTo>
                <a:lnTo>
                  <a:pt x="4" y="57"/>
                </a:lnTo>
                <a:cubicBezTo>
                  <a:pt x="2" y="57"/>
                  <a:pt x="0" y="55"/>
                  <a:pt x="0" y="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88" y="0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00100" y="2000250"/>
            <a:ext cx="457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默认首选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562100" y="18764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阿里云百炼（通义系）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2990850" y="1885950"/>
            <a:ext cx="1724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适用：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国内制造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经销私有化客户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1562100" y="2066925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公开承诺企业调用数据不用于训练；国内合规、开票、专线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同云好落地；中文场景稳定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09600" y="2400300"/>
            <a:ext cx="10972800" cy="5429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09600" y="2400300"/>
            <a:ext cx="838200" cy="542925"/>
          </a:xfrm>
          <a:custGeom>
            <a:pathLst>
              <a:path w="88" h="57">
                <a:moveTo>
                  <a:pt x="88" y="57"/>
                </a:moveTo>
                <a:lnTo>
                  <a:pt x="4" y="57"/>
                </a:lnTo>
                <a:cubicBezTo>
                  <a:pt x="2" y="57"/>
                  <a:pt x="0" y="55"/>
                  <a:pt x="0" y="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88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42950" y="2600325"/>
            <a:ext cx="5715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云生态备选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1562100" y="2476500"/>
            <a:ext cx="1704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火山方舟（豆包）</a:t>
            </a:r>
            <a:r>
              <a:rPr lang="en-US" sz="1050" b="1">
                <a:solidFill>
                  <a:srgbClr val="111827"/>
                </a:solidFill>
                <a:latin typeface="Microsoft YaHei"/>
                <a:ea typeface="Microsoft YaHei"/>
              </a:rPr>
              <a:t>/ </a:t>
            </a: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腾讯混元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3362325" y="2486025"/>
            <a:ext cx="1724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适用：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客户已在字节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腾讯云生态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562100" y="2667000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同一套多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Provider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直接切换；签约时须书面确认「调用数据不训练」再进默认清单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09600" y="3000375"/>
            <a:ext cx="10972800" cy="5429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609600" y="3000375"/>
            <a:ext cx="838200" cy="542925"/>
          </a:xfrm>
          <a:custGeom>
            <a:pathLst>
              <a:path w="88" h="57">
                <a:moveTo>
                  <a:pt x="88" y="57"/>
                </a:moveTo>
                <a:lnTo>
                  <a:pt x="4" y="57"/>
                </a:lnTo>
                <a:cubicBezTo>
                  <a:pt x="2" y="57"/>
                  <a:pt x="0" y="55"/>
                  <a:pt x="0" y="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88" y="0"/>
                </a:lnTo>
                <a:close/>
              </a:path>
            </a:pathLst>
          </a:cu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57225" y="3200400"/>
            <a:ext cx="7429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效果</a:t>
            </a: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成本备胎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562100" y="3076575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11827"/>
                </a:solidFill>
                <a:latin typeface="Microsoft YaHei"/>
                <a:ea typeface="Microsoft YaHei"/>
              </a:rPr>
              <a:t>DeepSeek / </a:t>
            </a: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智谱</a:t>
            </a:r>
            <a:r>
              <a:rPr lang="en-US" sz="1050" b="1">
                <a:solidFill>
                  <a:srgbClr val="111827"/>
                </a:solidFill>
                <a:latin typeface="Microsoft YaHei"/>
                <a:ea typeface="Microsoft YaHei"/>
              </a:rPr>
              <a:t> GLM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3086100" y="3086100"/>
            <a:ext cx="1943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适用：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内部评测、低敏场景、客户指定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562100" y="3267075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性价比常有优势；正式交付需补企业书面「不训练」条款，不作唯一合规门面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09600" y="3600450"/>
            <a:ext cx="10972800" cy="54292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09600" y="3600450"/>
            <a:ext cx="838200" cy="542925"/>
          </a:xfrm>
          <a:custGeom>
            <a:pathLst>
              <a:path w="88" h="57">
                <a:moveTo>
                  <a:pt x="88" y="57"/>
                </a:moveTo>
                <a:lnTo>
                  <a:pt x="4" y="57"/>
                </a:lnTo>
                <a:cubicBezTo>
                  <a:pt x="2" y="57"/>
                  <a:pt x="0" y="55"/>
                  <a:pt x="0" y="5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88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800100" y="3800475"/>
            <a:ext cx="457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高敏兜底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562100" y="3676650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本地</a:t>
            </a:r>
            <a:r>
              <a:rPr lang="en-US" sz="1050" b="1">
                <a:solidFill>
                  <a:srgbClr val="111827"/>
                </a:solidFill>
                <a:latin typeface="Microsoft YaHei"/>
                <a:ea typeface="Microsoft YaHei"/>
              </a:rPr>
              <a:t> Qwen2.5-7B + bge-m3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3495675" y="3686175"/>
            <a:ext cx="1600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适用：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高敏附件入库、断网环境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562100" y="3867150"/>
            <a:ext cx="9906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入库摘要与向量全本地，与云厂商解耦；一张消费级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GPU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即可承载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609600" y="4238625"/>
            <a:ext cx="5934075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23900" y="4314825"/>
            <a:ext cx="570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11827"/>
                </a:solidFill>
                <a:latin typeface="Microsoft YaHei"/>
                <a:ea typeface="Microsoft YaHei"/>
              </a:rPr>
              <a:t>产品默认配置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723900" y="4505325"/>
            <a:ext cx="57054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对话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/ AI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销售参谋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0F2744"/>
                </a:solidFill>
                <a:latin typeface="Microsoft YaHei"/>
                <a:ea typeface="Microsoft YaHei"/>
              </a:rPr>
              <a:t>百炼（客户企业</a:t>
            </a: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 Key</a:t>
            </a:r>
            <a:r>
              <a:rPr lang="zh-CN" sz="900" b="1">
                <a:solidFill>
                  <a:srgbClr val="0F2744"/>
                </a:solidFill>
                <a:latin typeface="Microsoft YaHei"/>
                <a:ea typeface="Microsoft YaHei"/>
              </a:rPr>
              <a:t>）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入库摘要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4A5568"/>
                </a:solidFill>
                <a:latin typeface="Microsoft YaHei"/>
                <a:ea typeface="Microsoft YaHei"/>
              </a:rPr>
              <a:t>本地</a:t>
            </a: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 Qwen2.5-7B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或百炼小规格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向量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4A5568"/>
                </a:solidFill>
                <a:latin typeface="Microsoft YaHei"/>
                <a:ea typeface="Microsoft YaHei"/>
              </a:rPr>
              <a:t>本地</a:t>
            </a: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 bge-m3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638925" y="4238625"/>
            <a:ext cx="4943475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6753225" y="4314825"/>
            <a:ext cx="471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11827"/>
                </a:solidFill>
                <a:latin typeface="Microsoft YaHei"/>
                <a:ea typeface="Microsoft YaHei"/>
              </a:rPr>
              <a:t>Key </a:t>
            </a:r>
            <a:r>
              <a:rPr lang="zh-CN" sz="975" b="1">
                <a:solidFill>
                  <a:srgbClr val="111827"/>
                </a:solidFill>
                <a:latin typeface="Microsoft YaHei"/>
                <a:ea typeface="Microsoft YaHei"/>
              </a:rPr>
              <a:t>与责任归属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6753225" y="4505325"/>
            <a:ext cx="47148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优先客户自己的企业账号（责任清晰，可代采加价）；签约前复核最新服务协议——政策会变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47700" y="5095875"/>
            <a:ext cx="10972800" cy="371475"/>
          </a:xfrm>
          <a:prstGeom prst="roundRect">
            <a:avLst>
              <a:gd name="adj" fmla="val 10256"/>
            </a:avLst>
          </a:prstGeom>
          <a:solidFill>
            <a:srgbClr val="0F274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647700" y="5095875"/>
            <a:ext cx="10972800" cy="371475"/>
          </a:xfrm>
          <a:custGeom>
            <a:pathLst>
              <a:path w="1152" h="39">
                <a:moveTo>
                  <a:pt x="4" y="39"/>
                </a:moveTo>
                <a:cubicBezTo>
                  <a:pt x="2" y="39"/>
                  <a:pt x="0" y="37"/>
                  <a:pt x="0" y="3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9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781050" y="5172075"/>
            <a:ext cx="10668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 b="1">
                <a:solidFill>
                  <a:srgbClr val="0F2744"/>
                </a:solidFill>
                <a:latin typeface="Microsoft YaHei"/>
                <a:ea typeface="Microsoft YaHei"/>
              </a:rPr>
              <a:t>对客户一句话：默认对接国内云厂商企业大模型（优先阿里云百炼），业务调用数据按企业协议不用于训练；系统与资料私有化部署在贵司环境，不依赖美国大模型服务。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0" y="6457950"/>
            <a:ext cx="12192000" cy="400050"/>
          </a:xfrm>
          <a:custGeom>
            <a:pathLst>
              <a:path w="1280" h="42">
                <a:moveTo>
                  <a:pt x="0" y="0"/>
                </a:moveTo>
                <a:lnTo>
                  <a:pt x="1280" y="0"/>
                </a:lnTo>
                <a:lnTo>
                  <a:pt x="128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09600" y="6600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11172825" y="6600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1428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私有化成本三档位</a:t>
            </a: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 · TCO 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与模型费用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30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席示例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与上页三档位同名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默认推荐经济档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模型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API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占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TCO &lt; 5%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09600" y="2228850"/>
            <a:ext cx="3590925" cy="1114425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9600" y="2228850"/>
            <a:ext cx="3590925" cy="1114425"/>
          </a:xfrm>
          <a:custGeom>
            <a:pathLst>
              <a:path w="377" h="117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42950" y="2343150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744"/>
                </a:solidFill>
                <a:latin typeface="Microsoft YaHei"/>
                <a:ea typeface="Microsoft YaHei"/>
              </a:rPr>
              <a:t>经济档</a:t>
            </a:r>
            <a:r>
              <a:rPr lang="en-US" sz="1200" b="1">
                <a:solidFill>
                  <a:srgbClr val="0F2744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0F2744"/>
                </a:solidFill>
                <a:latin typeface="Microsoft YaHei"/>
                <a:ea typeface="Microsoft YaHei"/>
              </a:rPr>
              <a:t>混合云部署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2200275" y="2371725"/>
            <a:ext cx="533400" cy="133350"/>
          </a:xfrm>
          <a:prstGeom prst="roundRect">
            <a:avLst>
              <a:gd name="adj" fmla="val 28571"/>
            </a:avLst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2276475" y="23812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默认推荐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42950" y="2533650"/>
            <a:ext cx="3324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2744"/>
                </a:solidFill>
                <a:latin typeface="Microsoft YaHei"/>
                <a:ea typeface="Microsoft YaHei"/>
              </a:rPr>
              <a:t>首年</a:t>
            </a:r>
            <a:r>
              <a:rPr lang="en-US" sz="1650" b="1">
                <a:solidFill>
                  <a:srgbClr val="0F2744"/>
                </a:solidFill>
                <a:latin typeface="Microsoft YaHei"/>
                <a:ea typeface="Microsoft YaHei"/>
              </a:rPr>
              <a:t> ≈ ¥3–7 </a:t>
            </a:r>
            <a:r>
              <a:rPr lang="zh-CN" sz="1650" b="1">
                <a:solidFill>
                  <a:srgbClr val="0F2744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42950" y="2790825"/>
            <a:ext cx="33242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系统私有化部署在客户环境；对话走百炼企业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API ¥170–620/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月；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1–2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周实施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295775" y="2228850"/>
            <a:ext cx="3600450" cy="1114425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4295775" y="2228850"/>
            <a:ext cx="3600450" cy="1114425"/>
          </a:xfrm>
          <a:custGeom>
            <a:pathLst>
              <a:path w="378" h="117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429125" y="2343150"/>
            <a:ext cx="1228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高敏档</a:t>
            </a:r>
            <a:r>
              <a:rPr lang="en-US" sz="1200" b="1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本地入库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34050" y="2371725"/>
            <a:ext cx="533400" cy="133350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810250" y="23812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高敏加购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429125" y="2533650"/>
            <a:ext cx="333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4A5568"/>
                </a:solidFill>
                <a:latin typeface="Microsoft YaHei"/>
                <a:ea typeface="Microsoft YaHei"/>
              </a:rPr>
              <a:t>首年</a:t>
            </a:r>
            <a:r>
              <a:rPr lang="en-US" sz="1650" b="1">
                <a:solidFill>
                  <a:srgbClr val="4A5568"/>
                </a:solidFill>
                <a:latin typeface="Microsoft YaHei"/>
                <a:ea typeface="Microsoft YaHei"/>
              </a:rPr>
              <a:t> ≈ ¥7–12 </a:t>
            </a:r>
            <a:r>
              <a:rPr lang="zh-CN" sz="1650" b="1">
                <a:solidFill>
                  <a:srgbClr val="4A5568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429125" y="2790825"/>
            <a:ext cx="33337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同经济档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+ 1× 4090/5090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工作站；高敏附件本地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7B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；对话仍走云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API ≈¥620/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991475" y="2228850"/>
            <a:ext cx="3590925" cy="1114425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7991475" y="2228850"/>
            <a:ext cx="3590925" cy="1114425"/>
          </a:xfrm>
          <a:custGeom>
            <a:pathLst>
              <a:path w="377" h="117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991B1B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124825" y="2343150"/>
            <a:ext cx="1533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91B1B"/>
                </a:solidFill>
                <a:latin typeface="Microsoft YaHei"/>
                <a:ea typeface="Microsoft YaHei"/>
              </a:rPr>
              <a:t>全本地档</a:t>
            </a:r>
            <a:r>
              <a:rPr lang="en-US" sz="1200" b="1">
                <a:solidFill>
                  <a:srgbClr val="991B1B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991B1B"/>
                </a:solidFill>
                <a:latin typeface="Microsoft YaHei"/>
                <a:ea typeface="Microsoft YaHei"/>
              </a:rPr>
              <a:t>离线一体机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9734550" y="2371725"/>
            <a:ext cx="628650" cy="133350"/>
          </a:xfrm>
          <a:prstGeom prst="roundRect">
            <a:avLst>
              <a:gd name="adj" fmla="val 28571"/>
            </a:avLst>
          </a:prstGeom>
          <a:solidFill>
            <a:srgbClr val="991B1B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810750" y="2381250"/>
            <a:ext cx="476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不推荐首期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124825" y="2533650"/>
            <a:ext cx="3324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991B1B"/>
                </a:solidFill>
                <a:latin typeface="Microsoft YaHei"/>
                <a:ea typeface="Microsoft YaHei"/>
              </a:rPr>
              <a:t>首年</a:t>
            </a:r>
            <a:r>
              <a:rPr lang="en-US" sz="1650" b="1">
                <a:solidFill>
                  <a:srgbClr val="991B1B"/>
                </a:solidFill>
                <a:latin typeface="Microsoft YaHei"/>
                <a:ea typeface="Microsoft YaHei"/>
              </a:rPr>
              <a:t> ≈ ¥100–250 </a:t>
            </a:r>
            <a:r>
              <a:rPr lang="zh-CN" sz="1650" b="1">
                <a:solidFill>
                  <a:srgbClr val="991B1B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124825" y="2790825"/>
            <a:ext cx="33242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4–8× A100/H20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集群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专职运维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 ¥15–30 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万</a:t>
            </a:r>
            <a:r>
              <a:rPr lang="en-US" sz="900">
                <a:solidFill>
                  <a:srgbClr val="4B5563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B5563"/>
                </a:solidFill>
                <a:latin typeface="Microsoft YaHei"/>
                <a:ea typeface="Microsoft YaHei"/>
              </a:rPr>
              <a:t>年；仅强制断网场景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09600" y="3400425"/>
            <a:ext cx="5438775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2950" y="3495675"/>
            <a:ext cx="5172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模型</a:t>
            </a:r>
            <a:r>
              <a:rPr lang="en-US" sz="1050" b="1">
                <a:solidFill>
                  <a:srgbClr val="111827"/>
                </a:solidFill>
                <a:latin typeface="Microsoft YaHei"/>
                <a:ea typeface="Microsoft YaHei"/>
              </a:rPr>
              <a:t> API </a:t>
            </a: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费用（</a:t>
            </a:r>
            <a:r>
              <a:rPr lang="en-US" sz="1050" b="1">
                <a:solidFill>
                  <a:srgbClr val="111827"/>
                </a:solidFill>
                <a:latin typeface="Microsoft YaHei"/>
                <a:ea typeface="Microsoft YaHei"/>
              </a:rPr>
              <a:t>30 </a:t>
            </a: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席）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42950" y="3714750"/>
            <a:ext cx="51720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plus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月约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¥170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/ max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月约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¥620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年费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¥7,400–23,000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单席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¥6–64/</a:t>
            </a:r>
            <a:r>
              <a:rPr lang="zh-CN" sz="975" b="1">
                <a:solidFill>
                  <a:srgbClr val="1E3A5F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143625" y="3400425"/>
            <a:ext cx="5438775" cy="63817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276975" y="3495675"/>
            <a:ext cx="5172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成本结构（经济档首年）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276975" y="3714750"/>
            <a:ext cx="51720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实施培训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991B1B"/>
                </a:solidFill>
                <a:latin typeface="Microsoft YaHei"/>
                <a:ea typeface="Microsoft YaHei"/>
              </a:rPr>
              <a:t>60–70%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硬件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云主机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15–25% ·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大模型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API </a:t>
            </a:r>
            <a:r>
              <a:rPr lang="en-US" sz="975" b="1">
                <a:solidFill>
                  <a:srgbClr val="0F2744"/>
                </a:solidFill>
                <a:latin typeface="Microsoft YaHei"/>
                <a:ea typeface="Microsoft YaHei"/>
              </a:rPr>
              <a:t>&lt; 5%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47700" y="4133850"/>
            <a:ext cx="10972800" cy="657225"/>
          </a:xfrm>
          <a:prstGeom prst="roundRect">
            <a:avLst>
              <a:gd name="adj" fmla="val 5797"/>
            </a:avLst>
          </a:prstGeom>
          <a:solidFill>
            <a:srgbClr val="0F274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47700" y="4133850"/>
            <a:ext cx="10972800" cy="657225"/>
          </a:xfrm>
          <a:custGeom>
            <a:pathLst>
              <a:path w="1152" h="69">
                <a:moveTo>
                  <a:pt x="4" y="69"/>
                </a:moveTo>
                <a:cubicBezTo>
                  <a:pt x="2" y="69"/>
                  <a:pt x="0" y="67"/>
                  <a:pt x="0" y="6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9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81050" y="4229100"/>
            <a:ext cx="106680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0F2744"/>
                </a:solidFill>
                <a:latin typeface="Microsoft YaHei"/>
                <a:ea typeface="Microsoft YaHei"/>
              </a:rPr>
              <a:t>对客户一句话：</a:t>
            </a:r>
            <a:r>
              <a:rPr lang="en-US" sz="1050" b="1">
                <a:solidFill>
                  <a:srgbClr val="0F2744"/>
                </a:solidFill>
                <a:latin typeface="Microsoft YaHei"/>
                <a:ea typeface="Microsoft YaHei"/>
              </a:rPr>
              <a:t>30 </a:t>
            </a:r>
            <a:r>
              <a:rPr lang="zh-CN" sz="1050" b="1">
                <a:solidFill>
                  <a:srgbClr val="0F2744"/>
                </a:solidFill>
                <a:latin typeface="Microsoft YaHei"/>
                <a:ea typeface="Microsoft YaHei"/>
              </a:rPr>
              <a:t>个销售一年模型费保守不到一万元（高采用亦</a:t>
            </a:r>
            <a:r>
              <a:rPr lang="en-US" sz="1050" b="1">
                <a:solidFill>
                  <a:srgbClr val="0F2744"/>
                </a:solidFill>
                <a:latin typeface="Microsoft YaHei"/>
                <a:ea typeface="Microsoft YaHei"/>
              </a:rPr>
              <a:t> &lt; ¥2.3 </a:t>
            </a:r>
            <a:r>
              <a:rPr lang="zh-CN" sz="1050" b="1">
                <a:solidFill>
                  <a:srgbClr val="0F2744"/>
                </a:solidFill>
                <a:latin typeface="Microsoft YaHei"/>
                <a:ea typeface="Microsoft YaHei"/>
              </a:rPr>
              <a:t>万）；真正投入是把系统装进贵司、教会团队用起来——一次实施，数据永远不出门。商务可打包首年模型额度全送。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4886325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*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按百炼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2026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牌价估算（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qwen-plus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入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¥0.8/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出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¥2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，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qwen-max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入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¥2.4/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出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¥9.6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，每百万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tokens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）；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30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席月用量约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1.6–5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亿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tokens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（保守×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3 ~ 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高采用×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4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）。不含软件许可报价；第二年起年维保合同价</a:t>
            </a: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 15–20%</a:t>
            </a:r>
            <a:r>
              <a:rPr lang="zh-CN" sz="825">
                <a:solidFill>
                  <a:srgbClr val="6B728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0" y="6457950"/>
            <a:ext cx="12192000" cy="400050"/>
          </a:xfrm>
          <a:custGeom>
            <a:pathLst>
              <a:path w="1280" h="42">
                <a:moveTo>
                  <a:pt x="0" y="0"/>
                </a:moveTo>
                <a:lnTo>
                  <a:pt x="1280" y="0"/>
                </a:lnTo>
                <a:lnTo>
                  <a:pt x="128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6600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172825" y="6600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1428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实施路线</a:t>
            </a: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验收红线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首单聚焦销售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参谋闭环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4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个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Demo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验收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红线保证敢用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962025"/>
            <a:ext cx="1628775" cy="6477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09600" y="962025"/>
            <a:ext cx="1628775" cy="647700"/>
          </a:xfrm>
          <a:custGeom>
            <a:pathLst>
              <a:path w="171" h="68">
                <a:moveTo>
                  <a:pt x="167" y="0"/>
                </a:moveTo>
                <a:cubicBezTo>
                  <a:pt x="169" y="0"/>
                  <a:pt x="171" y="2"/>
                  <a:pt x="171" y="4"/>
                </a:cubicBezTo>
                <a:cubicBezTo>
                  <a:pt x="171" y="3"/>
                  <a:pt x="170" y="3"/>
                  <a:pt x="17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67" y="0"/>
                </a:lnTo>
                <a:close/>
              </a:path>
            </a:pathLst>
          </a:custGeom>
          <a:solidFill>
            <a:srgbClr val="4B5563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352550" y="1038225"/>
            <a:ext cx="14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4B5563"/>
                </a:solidFill>
                <a:latin typeface="Microsoft YaHei"/>
                <a:ea typeface="Microsoft YaHei"/>
              </a:rPr>
              <a:t>P0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314450" y="12096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准备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333500" y="1390650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蓝图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2238375" y="11811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2447925" y="962025"/>
            <a:ext cx="1638300" cy="6477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2447925" y="962025"/>
            <a:ext cx="1638300" cy="647700"/>
          </a:xfrm>
          <a:custGeom>
            <a:pathLst>
              <a:path w="172" h="68">
                <a:moveTo>
                  <a:pt x="168" y="0"/>
                </a:moveTo>
                <a:cubicBezTo>
                  <a:pt x="170" y="0"/>
                  <a:pt x="172" y="2"/>
                  <a:pt x="172" y="4"/>
                </a:cubicBezTo>
                <a:cubicBezTo>
                  <a:pt x="172" y="3"/>
                  <a:pt x="171" y="3"/>
                  <a:pt x="17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68" y="0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200400" y="1038225"/>
            <a:ext cx="14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2744"/>
                </a:solidFill>
                <a:latin typeface="Microsoft YaHei"/>
                <a:ea typeface="Microsoft YaHei"/>
              </a:rPr>
              <a:t>P1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095625" y="12096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资料库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076575" y="13906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销售三库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086225" y="11811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295775" y="962025"/>
            <a:ext cx="1628775" cy="6477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295775" y="962025"/>
            <a:ext cx="1628775" cy="647700"/>
          </a:xfrm>
          <a:custGeom>
            <a:pathLst>
              <a:path w="171" h="68">
                <a:moveTo>
                  <a:pt x="167" y="0"/>
                </a:moveTo>
                <a:cubicBezTo>
                  <a:pt x="169" y="0"/>
                  <a:pt x="171" y="2"/>
                  <a:pt x="171" y="4"/>
                </a:cubicBezTo>
                <a:cubicBezTo>
                  <a:pt x="171" y="3"/>
                  <a:pt x="170" y="3"/>
                  <a:pt x="17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67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038725" y="1038225"/>
            <a:ext cx="14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E3A5F"/>
                </a:solidFill>
                <a:latin typeface="Microsoft YaHei"/>
                <a:ea typeface="Microsoft YaHei"/>
              </a:rPr>
              <a:t>P2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886325" y="12096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销售参谋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924425" y="13906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老板看板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924550" y="11811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134100" y="962025"/>
            <a:ext cx="1628775" cy="6477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134100" y="962025"/>
            <a:ext cx="1628775" cy="647700"/>
          </a:xfrm>
          <a:custGeom>
            <a:pathLst>
              <a:path w="171" h="68">
                <a:moveTo>
                  <a:pt x="167" y="0"/>
                </a:moveTo>
                <a:cubicBezTo>
                  <a:pt x="169" y="0"/>
                  <a:pt x="171" y="2"/>
                  <a:pt x="171" y="4"/>
                </a:cubicBezTo>
                <a:cubicBezTo>
                  <a:pt x="171" y="3"/>
                  <a:pt x="170" y="3"/>
                  <a:pt x="17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67" y="0"/>
                </a:lnTo>
                <a:close/>
              </a:path>
            </a:pathLst>
          </a:cu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877050" y="1038225"/>
            <a:ext cx="14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8B6914"/>
                </a:solidFill>
                <a:latin typeface="Microsoft YaHei"/>
                <a:ea typeface="Microsoft YaHei"/>
              </a:rPr>
              <a:t>P3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838950" y="12096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营销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762750" y="13906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获客提效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762875" y="11811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972425" y="962025"/>
            <a:ext cx="1638300" cy="6477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7972425" y="962025"/>
            <a:ext cx="1638300" cy="647700"/>
          </a:xfrm>
          <a:custGeom>
            <a:pathLst>
              <a:path w="172" h="68">
                <a:moveTo>
                  <a:pt x="168" y="0"/>
                </a:moveTo>
                <a:cubicBezTo>
                  <a:pt x="170" y="0"/>
                  <a:pt x="172" y="2"/>
                  <a:pt x="172" y="4"/>
                </a:cubicBezTo>
                <a:cubicBezTo>
                  <a:pt x="172" y="3"/>
                  <a:pt x="171" y="3"/>
                  <a:pt x="17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68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724900" y="1038225"/>
            <a:ext cx="14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4A5568"/>
                </a:solidFill>
                <a:latin typeface="Microsoft YaHei"/>
                <a:ea typeface="Microsoft YaHei"/>
              </a:rPr>
              <a:t>P4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562975" y="12096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服务财税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601075" y="13906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全链闭环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610725" y="11811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6B72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9820275" y="962025"/>
            <a:ext cx="1762125" cy="6477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9820275" y="962025"/>
            <a:ext cx="1762125" cy="647700"/>
          </a:xfrm>
          <a:custGeom>
            <a:pathLst>
              <a:path w="185" h="68">
                <a:moveTo>
                  <a:pt x="181" y="0"/>
                </a:moveTo>
                <a:cubicBezTo>
                  <a:pt x="183" y="0"/>
                  <a:pt x="185" y="2"/>
                  <a:pt x="185" y="4"/>
                </a:cubicBezTo>
                <a:cubicBezTo>
                  <a:pt x="185" y="3"/>
                  <a:pt x="184" y="3"/>
                  <a:pt x="184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0629900" y="1038225"/>
            <a:ext cx="14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E3A5F"/>
                </a:solidFill>
                <a:latin typeface="Microsoft YaHei"/>
                <a:ea typeface="Microsoft YaHei"/>
              </a:rPr>
              <a:t>P5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0534650" y="12096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规模化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0563225" y="13906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6B7280"/>
                </a:solidFill>
                <a:latin typeface="Microsoft YaHei"/>
                <a:ea typeface="Microsoft YaHei"/>
              </a:rPr>
              <a:t>多租户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47700" y="1676400"/>
            <a:ext cx="2676525" cy="420052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47700" y="1676400"/>
            <a:ext cx="2676525" cy="4200525"/>
          </a:xfrm>
          <a:custGeom>
            <a:pathLst>
              <a:path w="281" h="441">
                <a:moveTo>
                  <a:pt x="4" y="441"/>
                </a:moveTo>
                <a:cubicBezTo>
                  <a:pt x="2" y="441"/>
                  <a:pt x="0" y="439"/>
                  <a:pt x="0" y="43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41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62000" y="1771650"/>
            <a:ext cx="2409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Demo1 </a:t>
            </a:r>
            <a:r>
              <a:rPr lang="zh-CN" sz="975" b="1">
                <a:solidFill>
                  <a:srgbClr val="1E3A5F"/>
                </a:solidFill>
                <a:latin typeface="Microsoft YaHei"/>
                <a:ea typeface="Microsoft YaHei"/>
              </a:rPr>
              <a:t>老板目标倒推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62000" y="1981200"/>
            <a:ext cx="24098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输入「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+20%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」→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拆缺口杠杆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逐条拍板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3419475" y="1676400"/>
            <a:ext cx="2667000" cy="4200525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3419475" y="1676400"/>
            <a:ext cx="2667000" cy="4200525"/>
          </a:xfrm>
          <a:custGeom>
            <a:pathLst>
              <a:path w="280" h="441">
                <a:moveTo>
                  <a:pt x="4" y="441"/>
                </a:moveTo>
                <a:cubicBezTo>
                  <a:pt x="2" y="441"/>
                  <a:pt x="0" y="439"/>
                  <a:pt x="0" y="43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41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533775" y="177165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Demo2 </a:t>
            </a:r>
            <a:r>
              <a:rPr lang="zh-CN" sz="975" b="1">
                <a:solidFill>
                  <a:srgbClr val="1E3A5F"/>
                </a:solidFill>
                <a:latin typeface="Microsoft YaHei"/>
                <a:ea typeface="Microsoft YaHei"/>
              </a:rPr>
              <a:t>停滞商机挽回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533775" y="1981200"/>
            <a:ext cx="2400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诊断停滞商机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备好方案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人拍板发送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181725" y="1676400"/>
            <a:ext cx="2676525" cy="420052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181725" y="1676400"/>
            <a:ext cx="2676525" cy="4200525"/>
          </a:xfrm>
          <a:custGeom>
            <a:pathLst>
              <a:path w="281" h="441">
                <a:moveTo>
                  <a:pt x="4" y="441"/>
                </a:moveTo>
                <a:cubicBezTo>
                  <a:pt x="2" y="441"/>
                  <a:pt x="0" y="439"/>
                  <a:pt x="0" y="43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41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296025" y="1771650"/>
            <a:ext cx="2409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Demo3 CPQ </a:t>
            </a:r>
            <a:r>
              <a:rPr lang="zh-CN" sz="975" b="1">
                <a:solidFill>
                  <a:srgbClr val="1E3A5F"/>
                </a:solidFill>
                <a:latin typeface="Microsoft YaHei"/>
                <a:ea typeface="Microsoft YaHei"/>
              </a:rPr>
              <a:t>报价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296025" y="1981200"/>
            <a:ext cx="24098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可解释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溯源价库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必弹确认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8953500" y="1676400"/>
            <a:ext cx="2667000" cy="4200525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8953500" y="1676400"/>
            <a:ext cx="2667000" cy="4200525"/>
          </a:xfrm>
          <a:custGeom>
            <a:pathLst>
              <a:path w="280" h="441">
                <a:moveTo>
                  <a:pt x="4" y="441"/>
                </a:moveTo>
                <a:cubicBezTo>
                  <a:pt x="2" y="441"/>
                  <a:pt x="0" y="439"/>
                  <a:pt x="0" y="43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41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067800" y="177165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Demo4 </a:t>
            </a:r>
            <a:r>
              <a:rPr lang="zh-CN" sz="975" b="1">
                <a:solidFill>
                  <a:srgbClr val="1E3A5F"/>
                </a:solidFill>
                <a:latin typeface="Microsoft YaHei"/>
                <a:ea typeface="Microsoft YaHei"/>
              </a:rPr>
              <a:t>线索评分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067800" y="1981200"/>
            <a:ext cx="2400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依据可解释</a:t>
            </a:r>
            <a:r>
              <a:rPr lang="en-US" sz="900">
                <a:solidFill>
                  <a:srgbClr val="111827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111827"/>
                </a:solidFill>
                <a:latin typeface="Microsoft YaHei"/>
                <a:ea typeface="Microsoft YaHei"/>
              </a:rPr>
              <a:t>不编造数据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09600" y="5972175"/>
            <a:ext cx="10972800" cy="352425"/>
          </a:xfrm>
          <a:prstGeom prst="roundRect">
            <a:avLst>
              <a:gd name="adj" fmla="val 10811"/>
            </a:avLst>
          </a:prstGeom>
          <a:solidFill>
            <a:srgbClr val="991B1B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62000" y="6067425"/>
            <a:ext cx="5857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统一红线：预测可解释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卡点给相似案例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报价必弹确认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不编造数据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任一不满足即不交付。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0" y="6457950"/>
            <a:ext cx="12192000" cy="400050"/>
          </a:xfrm>
          <a:custGeom>
            <a:pathLst>
              <a:path w="1280" h="42">
                <a:moveTo>
                  <a:pt x="0" y="0"/>
                </a:moveTo>
                <a:lnTo>
                  <a:pt x="1280" y="0"/>
                </a:lnTo>
                <a:lnTo>
                  <a:pt x="128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6600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172825" y="6600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1428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GTM 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货架</a:t>
            </a: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启动建议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三档货架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参谋版敲门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销售经理版关单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C4A052"/>
                </a:solidFill>
                <a:latin typeface="Microsoft YaHei"/>
                <a:ea typeface="Microsoft YaHei"/>
              </a:rPr>
              <a:t>旗舰版放大</a:t>
            </a:r>
            <a:r>
              <a:rPr lang="en-US" sz="1050">
                <a:solidFill>
                  <a:srgbClr val="C4A052"/>
                </a:solidFill>
                <a:latin typeface="Microsoft YaHei"/>
                <a:ea typeface="Microsoft YaHei"/>
              </a:rPr>
              <a:t> LTV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2400300"/>
            <a:ext cx="3581400" cy="733425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09600" y="2400300"/>
            <a:ext cx="3581400" cy="733425"/>
          </a:xfrm>
          <a:custGeom>
            <a:pathLst>
              <a:path w="376" h="77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2950" y="2514600"/>
            <a:ext cx="962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B6914"/>
                </a:solidFill>
                <a:latin typeface="Microsoft YaHei"/>
                <a:ea typeface="Microsoft YaHei"/>
              </a:rPr>
              <a:t>销售</a:t>
            </a:r>
            <a:r>
              <a:rPr lang="en-US" sz="1125" b="1">
                <a:solidFill>
                  <a:srgbClr val="8B6914"/>
                </a:solidFill>
                <a:latin typeface="Microsoft YaHei"/>
                <a:ea typeface="Microsoft YaHei"/>
              </a:rPr>
              <a:t> AI </a:t>
            </a:r>
            <a:r>
              <a:rPr lang="zh-CN" sz="1125" b="1">
                <a:solidFill>
                  <a:srgbClr val="8B6914"/>
                </a:solidFill>
                <a:latin typeface="Microsoft YaHei"/>
                <a:ea typeface="Microsoft YaHei"/>
              </a:rPr>
              <a:t>参谋版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590925" y="2514600"/>
            <a:ext cx="466725" cy="171450"/>
          </a:xfrm>
          <a:prstGeom prst="roundRect">
            <a:avLst>
              <a:gd name="adj" fmla="val 22222"/>
            </a:avLst>
          </a:prstGeom>
          <a:solidFill>
            <a:srgbClr val="8B6914"/>
          </a:solidFill>
          <a:ln/>
        </p:spPr>
        <p:txBody>
          <a:bodyPr/>
          <a:p>
            <a:pPr/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667125" y="253365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敲门砖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42950" y="2762250"/>
            <a:ext cx="33147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诊断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目标倒推，低价快装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4305300" y="2400300"/>
            <a:ext cx="3581400" cy="733425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4305300" y="2400300"/>
            <a:ext cx="3581400" cy="733425"/>
          </a:xfrm>
          <a:custGeom>
            <a:pathLst>
              <a:path w="376" h="77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438650" y="251460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3A5F"/>
                </a:solidFill>
                <a:latin typeface="Microsoft YaHei"/>
                <a:ea typeface="Microsoft YaHei"/>
              </a:rPr>
              <a:t>AI </a:t>
            </a:r>
            <a:r>
              <a:rPr lang="zh-CN" sz="1125" b="1">
                <a:solidFill>
                  <a:srgbClr val="1E3A5F"/>
                </a:solidFill>
                <a:latin typeface="Microsoft YaHei"/>
                <a:ea typeface="Microsoft YaHei"/>
              </a:rPr>
              <a:t>销售经理版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7391400" y="2514600"/>
            <a:ext cx="361950" cy="17145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467600" y="253365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主推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438650" y="2762250"/>
            <a:ext cx="33147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参谋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+ CPQ 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全套，私有化可落地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001000" y="2400300"/>
            <a:ext cx="3581400" cy="733425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8001000" y="2400300"/>
            <a:ext cx="3581400" cy="733425"/>
          </a:xfrm>
          <a:custGeom>
            <a:pathLst>
              <a:path w="376" h="77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134350" y="25146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5F"/>
                </a:solidFill>
                <a:latin typeface="Microsoft YaHei"/>
                <a:ea typeface="Microsoft YaHei"/>
              </a:rPr>
              <a:t>行业旗舰版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11087100" y="2514600"/>
            <a:ext cx="361950" cy="17145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163300" y="253365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增值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134350" y="2762250"/>
            <a:ext cx="33147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挂</a:t>
            </a:r>
            <a:r>
              <a:rPr lang="en-US" sz="975">
                <a:solidFill>
                  <a:srgbClr val="111827"/>
                </a:solidFill>
                <a:latin typeface="Microsoft YaHei"/>
                <a:ea typeface="Microsoft YaHei"/>
              </a:rPr>
              <a:t> CRM·ERP·</a:t>
            </a:r>
            <a:r>
              <a:rPr lang="zh-CN" sz="975">
                <a:solidFill>
                  <a:srgbClr val="111827"/>
                </a:solidFill>
                <a:latin typeface="Microsoft YaHei"/>
                <a:ea typeface="Microsoft YaHei"/>
              </a:rPr>
              <a:t>四域闭环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3238500"/>
            <a:ext cx="2676525" cy="561975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3238500"/>
            <a:ext cx="2676525" cy="561975"/>
          </a:xfrm>
          <a:custGeom>
            <a:pathLst>
              <a:path w="281" h="59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cubicBezTo>
                  <a:pt x="281" y="3"/>
                  <a:pt x="280" y="3"/>
                  <a:pt x="28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819275" y="33337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2744"/>
                </a:solidFill>
                <a:latin typeface="Microsoft YaHei"/>
                <a:ea typeface="Microsoft YaHei"/>
              </a:rPr>
              <a:t>诊断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552575" y="3533775"/>
            <a:ext cx="8001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四域痛点与代价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3381375" y="3238500"/>
            <a:ext cx="2667000" cy="561975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3381375" y="3238500"/>
            <a:ext cx="2667000" cy="561975"/>
          </a:xfrm>
          <a:custGeom>
            <a:pathLst>
              <a:path w="280" h="59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581525" y="33337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2744"/>
                </a:solidFill>
                <a:latin typeface="Microsoft YaHei"/>
                <a:ea typeface="Microsoft YaHei"/>
              </a:rPr>
              <a:t>方案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181475" y="3533775"/>
            <a:ext cx="10763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资料库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143625" y="3238500"/>
            <a:ext cx="2676525" cy="561975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143625" y="3238500"/>
            <a:ext cx="2676525" cy="561975"/>
          </a:xfrm>
          <a:custGeom>
            <a:pathLst>
              <a:path w="281" h="59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cubicBezTo>
                  <a:pt x="281" y="3"/>
                  <a:pt x="280" y="3"/>
                  <a:pt x="28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286625" y="3333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2744"/>
                </a:solidFill>
                <a:latin typeface="Microsoft YaHei"/>
                <a:ea typeface="Microsoft YaHei"/>
              </a:rPr>
              <a:t>私有化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991350" y="3533775"/>
            <a:ext cx="9906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部署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选型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+ TCO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8915400" y="3238500"/>
            <a:ext cx="2667000" cy="561975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915400" y="3238500"/>
            <a:ext cx="2667000" cy="561975"/>
          </a:xfrm>
          <a:custGeom>
            <a:pathLst>
              <a:path w="280" h="59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0086975" y="3333750"/>
            <a:ext cx="32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2744"/>
                </a:solidFill>
                <a:latin typeface="Microsoft YaHei"/>
                <a:ea typeface="Microsoft YaHei"/>
              </a:rPr>
              <a:t>GTM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829800" y="3533775"/>
            <a:ext cx="8477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三档货架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三刀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3886200"/>
            <a:ext cx="10972800" cy="1019175"/>
          </a:xfrm>
          <a:prstGeom prst="roundRect">
            <a:avLst>
              <a:gd name="adj" fmla="val 3738"/>
            </a:avLst>
          </a:prstGeom>
          <a:solidFill>
            <a:srgbClr val="0F2744">
              <a:alpha val="6000"/>
            </a:srgbClr>
          </a:solidFill>
          <a:ln w="12700">
            <a:solidFill>
              <a:srgbClr val="0F2744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81050" y="40195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744"/>
                </a:solidFill>
                <a:latin typeface="Microsoft YaHei"/>
                <a:ea typeface="Microsoft YaHei"/>
              </a:rPr>
              <a:t>启动建议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81050" y="4267200"/>
            <a:ext cx="1062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首单从「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销售经理版」切入（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3–6 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月关单）→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同客增购营销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服务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旗舰版挂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 CRM·ERP 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放大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 LTV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。统一卖点：「私有化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 + AI 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建议·人拍板」。找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 1–2 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家制造业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 B2B 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付费试点，首演脚本：停滞商机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 ¥120 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万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老板拍板</a:t>
            </a:r>
            <a:r>
              <a:rPr lang="en-US" sz="1050">
                <a:solidFill>
                  <a:srgbClr val="111827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111827"/>
                </a:solidFill>
                <a:latin typeface="Microsoft YaHei"/>
                <a:ea typeface="Microsoft YaHei"/>
              </a:rPr>
              <a:t>挽回签单。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0" y="6457950"/>
            <a:ext cx="12192000" cy="400050"/>
          </a:xfrm>
          <a:custGeom>
            <a:pathLst>
              <a:path w="1280" h="42">
                <a:moveTo>
                  <a:pt x="0" y="0"/>
                </a:moveTo>
                <a:lnTo>
                  <a:pt x="1280" y="0"/>
                </a:lnTo>
                <a:lnTo>
                  <a:pt x="1280" y="2"/>
                </a:lnTo>
                <a:lnTo>
                  <a:pt x="0" y="2"/>
                </a:lnTo>
                <a:close/>
              </a:path>
            </a:pathLst>
          </a:custGeom>
          <a:solidFill>
            <a:srgbClr val="0F2744"/>
          </a:solidFill>
          <a:ln/>
        </p:spPr>
        <p:txBody>
          <a:bodyPr/>
          <a:p>
            <a:pPr/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6600825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四域智能体统一实施方案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决策层</a:t>
            </a: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分钟版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172825" y="6600825"/>
            <a:ext cx="40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2744"/>
                </a:solidFill>
                <a:latin typeface="Microsoft YaHei"/>
                <a:ea typeface="Microsoft YaHei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2026-08-04T17:49:14Z</dcterms:created>
  <dcterms:modified xsi:type="dcterms:W3CDTF">2026-08-04T17:49:14Z</dcterms:modified>
</cp:coreProperties>
</file>